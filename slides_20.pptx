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70" r:id="rId3"/>
    <p:sldId id="258" r:id="rId4"/>
    <p:sldId id="259" r:id="rId5"/>
    <p:sldId id="260" r:id="rId6"/>
    <p:sldId id="261" r:id="rId7"/>
    <p:sldId id="262" r:id="rId8"/>
    <p:sldId id="263" r:id="rId9"/>
    <p:sldId id="264" r:id="rId10"/>
    <p:sldId id="269" r:id="rId11"/>
    <p:sldId id="268" r:id="rId12"/>
    <p:sldId id="275" r:id="rId13"/>
    <p:sldId id="257" r:id="rId14"/>
    <p:sldId id="272" r:id="rId15"/>
    <p:sldId id="273" r:id="rId16"/>
    <p:sldId id="274" r:id="rId17"/>
    <p:sldId id="282" r:id="rId18"/>
    <p:sldId id="277" r:id="rId19"/>
    <p:sldId id="278" r:id="rId20"/>
    <p:sldId id="279" r:id="rId21"/>
    <p:sldId id="280" r:id="rId22"/>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D24A071-2482-75C3-9696-DEA15241FE29}">
          <p14:sldIdLst>
            <p14:sldId id="256"/>
            <p14:sldId id="270"/>
          </p14:sldIdLst>
        </p14:section>
        <p14:section name="Task 1" id="{0C936867-B92E-6AD0-078A-78B2A96FBC45}">
          <p14:sldIdLst>
            <p14:sldId id="258"/>
            <p14:sldId id="259"/>
            <p14:sldId id="260"/>
            <p14:sldId id="261"/>
            <p14:sldId id="262"/>
            <p14:sldId id="263"/>
            <p14:sldId id="264"/>
            <p14:sldId id="269"/>
            <p14:sldId id="268"/>
            <p14:sldId id="275"/>
            <p14:sldId id="257"/>
            <p14:sldId id="272"/>
            <p14:sldId id="273"/>
            <p14:sldId id="274"/>
            <p14:sldId id="282"/>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520"/>
    <p:restoredTop sz="94632"/>
  </p:normalViewPr>
  <p:slideViewPr>
    <p:cSldViewPr snapToGrid="0" snapToObjects="1">
      <p:cViewPr varScale="1">
        <p:scale>
          <a:sx n="173" d="100"/>
          <a:sy n="173" d="100"/>
        </p:scale>
        <p:origin x="21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1725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253936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98813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7466824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081028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4355361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6545690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5082780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1394959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ER (task_03/schema_diagram.png), feito no dbdiagram.io.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698722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Conteúdo retirado do design_justification.pdf.</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8540366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1971787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24 vem da query 6.4 do profiling (task_01/exploratory_queries.sql).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43714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ID_TITLE">
    <p:bg>
      <p:bgPr>
        <a:solidFill>
          <a:srgbClr val="00A4D8"/>
        </a:solidFill>
        <a:effectLst/>
      </p:bgPr>
    </p:bg>
    <p:spTree>
      <p:nvGrpSpPr>
        <p:cNvPr id="1" name=""/>
        <p:cNvGrpSpPr/>
        <p:nvPr/>
      </p:nvGrpSpPr>
      <p:grpSpPr>
        <a:xfrm>
          <a:off x="0" y="0"/>
          <a:ext cx="0" cy="0"/>
          <a:chOff x="0" y="0"/>
          <a:chExt cx="0" cy="0"/>
        </a:xfrm>
      </p:grpSpPr>
      <p:pic>
        <p:nvPicPr>
          <p:cNvPr id="2" name="Image 0" descr="logo_white.png"/>
          <p:cNvPicPr>
            <a:picLocks noChangeAspect="1"/>
          </p:cNvPicPr>
          <p:nvPr/>
        </p:nvPicPr>
        <p:blipFill>
          <a:blip r:embed="rId2"/>
          <a:stretch>
            <a:fillRect/>
          </a:stretch>
        </p:blipFill>
        <p:spPr>
          <a:xfrm>
            <a:off x="548640" y="914400"/>
            <a:ext cx="2194560" cy="850392"/>
          </a:xfrm>
          <a:prstGeom prst="rect">
            <a:avLst/>
          </a:prstGeom>
        </p:spPr>
      </p:pic>
      <p:sp>
        <p:nvSpPr>
          <p:cNvPr id="3" name="Text 0"/>
          <p:cNvSpPr>
            <a:spLocks noGrp="1"/>
          </p:cNvSpPr>
          <p:nvPr>
            <p:ph type="title" idx="101" hasCustomPrompt="1"/>
          </p:nvPr>
        </p:nvSpPr>
        <p:spPr>
          <a:xfrm>
            <a:off x="548640" y="2743200"/>
            <a:ext cx="8046720" cy="822960"/>
          </a:xfrm>
          <a:prstGeom prst="rect">
            <a:avLst/>
          </a:prstGeom>
          <a:noFill/>
          <a:ln/>
        </p:spPr>
        <p:txBody>
          <a:bodyPr wrap="square" rtlCol="0"/>
          <a:lstStyle>
            <a:lvl1pPr marL="0" indent="0" algn="l">
              <a:buNone/>
              <a:defRPr lang="en-US" sz="3200" b="1" dirty="0">
                <a:solidFill>
                  <a:schemeClr val="bg1"/>
                </a:solidFill>
                <a:latin typeface="Arial" pitchFamily="34" charset="0"/>
                <a:ea typeface="Arial" pitchFamily="34" charset="-122"/>
                <a:cs typeface="Arial" pitchFamily="34" charset="-120"/>
              </a:defRPr>
            </a:lvl1pPr>
          </a:lstStyle>
          <a:p>
            <a:pPr marL="0" indent="0" algn="l">
              <a:buNone/>
            </a:pPr>
            <a:endParaRPr lang="en-US" sz="3200" dirty="0"/>
          </a:p>
        </p:txBody>
      </p:sp>
      <p:sp>
        <p:nvSpPr>
          <p:cNvPr id="4" name="Text 0"/>
          <p:cNvSpPr>
            <a:spLocks noGrp="1"/>
          </p:cNvSpPr>
          <p:nvPr>
            <p:ph type="body" idx="102" hasCustomPrompt="1"/>
          </p:nvPr>
        </p:nvSpPr>
        <p:spPr>
          <a:xfrm>
            <a:off x="548640" y="3657600"/>
            <a:ext cx="8046720" cy="1645920"/>
          </a:xfrm>
          <a:prstGeom prst="rect">
            <a:avLst/>
          </a:prstGeom>
          <a:noFill/>
          <a:ln/>
        </p:spPr>
        <p:txBody>
          <a:bodyPr wrap="square" rtlCol="0"/>
          <a:lstStyle>
            <a:lvl1pPr marL="0" indent="0" algn="l">
              <a:buNone/>
              <a:defRPr lang="en-US" sz="1800" dirty="0">
                <a:solidFill>
                  <a:schemeClr val="bg1"/>
                </a:solidFill>
                <a:latin typeface="Arial" pitchFamily="34" charset="0"/>
                <a:ea typeface="Arial" pitchFamily="34" charset="-122"/>
                <a:cs typeface="Arial" pitchFamily="34" charset="-120"/>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ID_SECTION">
    <p:bg>
      <p:bgPr>
        <a:solidFill>
          <a:srgbClr val="FFFFFF"/>
        </a:solidFill>
        <a:effectLst/>
      </p:bgPr>
    </p:bg>
    <p:spTree>
      <p:nvGrpSpPr>
        <p:cNvPr id="1" name=""/>
        <p:cNvGrpSpPr/>
        <p:nvPr/>
      </p:nvGrpSpPr>
      <p:grpSpPr>
        <a:xfrm>
          <a:off x="0" y="0"/>
          <a:ext cx="0" cy="0"/>
          <a:chOff x="0" y="0"/>
          <a:chExt cx="0" cy="0"/>
        </a:xfrm>
      </p:grpSpPr>
      <p:pic>
        <p:nvPicPr>
          <p:cNvPr id="2" name="Image 0" descr="logo_blue.png"/>
          <p:cNvPicPr>
            <a:picLocks noChangeAspect="1"/>
          </p:cNvPicPr>
          <p:nvPr/>
        </p:nvPicPr>
        <p:blipFill>
          <a:blip r:embed="rId2"/>
          <a:stretch>
            <a:fillRect/>
          </a:stretch>
        </p:blipFill>
        <p:spPr>
          <a:xfrm>
            <a:off x="274320" y="6309360"/>
            <a:ext cx="301752" cy="365760"/>
          </a:xfrm>
          <a:prstGeom prst="rect">
            <a:avLst/>
          </a:prstGeom>
        </p:spPr>
      </p:pic>
      <p:sp>
        <p:nvSpPr>
          <p:cNvPr id="3" name="Text 0"/>
          <p:cNvSpPr>
            <a:spLocks noGrp="1"/>
          </p:cNvSpPr>
          <p:nvPr>
            <p:ph type="title" idx="101" hasCustomPrompt="1"/>
          </p:nvPr>
        </p:nvSpPr>
        <p:spPr>
          <a:xfrm>
            <a:off x="685800" y="2377440"/>
            <a:ext cx="7772400" cy="1188720"/>
          </a:xfrm>
          <a:prstGeom prst="rect">
            <a:avLst/>
          </a:prstGeom>
          <a:noFill/>
          <a:ln/>
        </p:spPr>
        <p:txBody>
          <a:bodyPr wrap="square" rtlCol="0"/>
          <a:lstStyle>
            <a:lvl1pPr marL="0" indent="0" algn="ctr">
              <a:buNone/>
              <a:defRPr lang="en-US" sz="4400" dirty="0">
                <a:solidFill>
                  <a:schemeClr val="accent1"/>
                </a:solidFill>
              </a:defRPr>
            </a:lvl1pPr>
          </a:lstStyle>
          <a:p>
            <a:pPr marL="0" indent="0" algn="ctr">
              <a:buNone/>
            </a:pPr>
            <a:endParaRPr lang="en-US" sz="4400" dirty="0"/>
          </a:p>
        </p:txBody>
      </p:sp>
      <p:sp>
        <p:nvSpPr>
          <p:cNvPr id="4" name="Text 0"/>
          <p:cNvSpPr>
            <a:spLocks noGrp="1"/>
          </p:cNvSpPr>
          <p:nvPr>
            <p:ph type="body" idx="102" hasCustomPrompt="1"/>
          </p:nvPr>
        </p:nvSpPr>
        <p:spPr>
          <a:xfrm>
            <a:off x="685800" y="3657600"/>
            <a:ext cx="7772400" cy="731520"/>
          </a:xfrm>
          <a:prstGeom prst="rect">
            <a:avLst/>
          </a:prstGeom>
          <a:noFill/>
          <a:ln/>
        </p:spPr>
        <p:txBody>
          <a:bodyPr wrap="square" rtlCol="0"/>
          <a:lstStyle>
            <a:lvl1pPr marL="0" indent="0" algn="ctr">
              <a:buNone/>
              <a:defRPr lang="en-US" sz="1800" dirty="0">
                <a:solidFill>
                  <a:schemeClr val="accent2"/>
                </a:solidFill>
              </a:defRPr>
            </a:lvl1pPr>
          </a:lstStyle>
          <a:p>
            <a:pPr marL="0" indent="0" algn="ctr">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ID_CONTENT">
    <p:bg>
      <p:bgPr>
        <a:solidFill>
          <a:srgbClr val="FFFFFF"/>
        </a:solidFill>
        <a:effectLst/>
      </p:bgPr>
    </p:bg>
    <p:spTree>
      <p:nvGrpSpPr>
        <p:cNvPr id="1" name=""/>
        <p:cNvGrpSpPr/>
        <p:nvPr/>
      </p:nvGrpSpPr>
      <p:grpSpPr>
        <a:xfrm>
          <a:off x="0" y="0"/>
          <a:ext cx="0" cy="0"/>
          <a:chOff x="0" y="0"/>
          <a:chExt cx="0" cy="0"/>
        </a:xfrm>
      </p:grpSpPr>
      <p:pic>
        <p:nvPicPr>
          <p:cNvPr id="2" name="Image 0" descr="logo_blue.png"/>
          <p:cNvPicPr>
            <a:picLocks noChangeAspect="1"/>
          </p:cNvPicPr>
          <p:nvPr/>
        </p:nvPicPr>
        <p:blipFill>
          <a:blip r:embed="rId2"/>
          <a:stretch>
            <a:fillRect/>
          </a:stretch>
        </p:blipFill>
        <p:spPr>
          <a:xfrm>
            <a:off x="274320" y="6309360"/>
            <a:ext cx="301752" cy="365760"/>
          </a:xfrm>
          <a:prstGeom prst="rect">
            <a:avLst/>
          </a:prstGeom>
        </p:spPr>
      </p:pic>
      <p:sp>
        <p:nvSpPr>
          <p:cNvPr id="3" name="Text 0"/>
          <p:cNvSpPr>
            <a:spLocks noGrp="1"/>
          </p:cNvSpPr>
          <p:nvPr>
            <p:ph type="title" idx="101" hasCustomPrompt="1"/>
          </p:nvPr>
        </p:nvSpPr>
        <p:spPr>
          <a:xfrm>
            <a:off x="457200" y="274320"/>
            <a:ext cx="8229600" cy="868680"/>
          </a:xfrm>
          <a:prstGeom prst="rect">
            <a:avLst/>
          </a:prstGeom>
          <a:noFill/>
          <a:ln/>
        </p:spPr>
        <p:txBody>
          <a:bodyPr wrap="square" rtlCol="0"/>
          <a:lstStyle>
            <a:lvl1pPr marL="0" indent="0" algn="ctr">
              <a:buNone/>
              <a:defRPr lang="en-US" sz="3000" dirty="0">
                <a:solidFill>
                  <a:schemeClr val="accent1"/>
                </a:solidFill>
              </a:defRPr>
            </a:lvl1pPr>
          </a:lstStyle>
          <a:p>
            <a:pPr marL="0" indent="0" algn="ctr">
              <a:buNone/>
            </a:pPr>
            <a:endParaRPr lang="en-US" sz="3000" dirty="0"/>
          </a:p>
        </p:txBody>
      </p:sp>
      <p:sp>
        <p:nvSpPr>
          <p:cNvPr id="25" name="Slide Number Placeholder 0"/>
          <p:cNvSpPr>
            <a:spLocks noGrp="1"/>
          </p:cNvSpPr>
          <p:nvPr>
            <p:ph type="sldNum" sz="quarter" idx="4294967295"/>
          </p:nvPr>
        </p:nvSpPr>
        <p:spPr>
          <a:xfrm>
            <a:off x="83210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1"/>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1"/>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743200"/>
            <a:ext cx="8046720" cy="822960"/>
          </a:xfrm>
          <a:prstGeom prst="rect">
            <a:avLst/>
          </a:prstGeom>
          <a:noFill/>
          <a:ln/>
        </p:spPr>
        <p:txBody>
          <a:bodyPr wrap="square" lIns="0" tIns="0" rIns="0" bIns="0" rtlCol="0" anchor="ctr"/>
          <a:lstStyle/>
          <a:p>
            <a:pPr marL="0" indent="0" algn="l">
              <a:buNone/>
            </a:pPr>
            <a:r>
              <a:rPr lang="en-US" sz="3200" b="1" dirty="0">
                <a:solidFill>
                  <a:schemeClr val="bg1"/>
                </a:solidFill>
                <a:latin typeface="Arial" pitchFamily="34" charset="0"/>
                <a:ea typeface="Arial" pitchFamily="34" charset="-122"/>
                <a:cs typeface="Arial" pitchFamily="34" charset="-120"/>
              </a:rPr>
              <a:t>Data Analysis and Integration</a:t>
            </a:r>
            <a:endParaRPr lang="en-US" sz="3200" dirty="0"/>
          </a:p>
        </p:txBody>
      </p:sp>
      <p:sp>
        <p:nvSpPr>
          <p:cNvPr id="3" name="Text 0"/>
          <p:cNvSpPr>
            <a:spLocks noGrp="1"/>
          </p:cNvSpPr>
          <p:nvPr>
            <p:ph type="body" idx="102" hasCustomPrompt="1"/>
          </p:nvPr>
        </p:nvSpPr>
        <p:spPr>
          <a:xfrm>
            <a:off x="548640" y="3657600"/>
            <a:ext cx="8046720" cy="1645920"/>
          </a:xfrm>
          <a:prstGeom prst="rect">
            <a:avLst/>
          </a:prstGeom>
          <a:noFill/>
          <a:ln/>
        </p:spPr>
        <p:txBody>
          <a:bodyPr wrap="square" lIns="0" tIns="0" rIns="0" bIns="0" rtlCol="0" anchor="t"/>
          <a:lstStyle/>
          <a:p>
            <a:pPr marL="0" indent="0" algn="l">
              <a:buNone/>
            </a:pPr>
            <a:r>
              <a:rPr lang="en-US" sz="1800" dirty="0">
                <a:solidFill>
                  <a:schemeClr val="bg1"/>
                </a:solidFill>
                <a:latin typeface="Arial" pitchFamily="34" charset="0"/>
                <a:ea typeface="Arial" pitchFamily="34" charset="-122"/>
                <a:cs typeface="Arial" pitchFamily="34" charset="-120"/>
              </a:rPr>
              <a:t>Portugal's Economic and Human Development - A Century of Transformation</a:t>
            </a:r>
            <a:endParaRPr lang="en-US" sz="1800" dirty="0"/>
          </a:p>
          <a:p>
            <a:pPr marL="0" indent="0" algn="l">
              <a:buNone/>
            </a:pPr>
            <a:r>
              <a:rPr lang="en-US" sz="1000" dirty="0">
                <a:solidFill>
                  <a:schemeClr val="bg1"/>
                </a:solidFill>
                <a:latin typeface="Arial" pitchFamily="34" charset="0"/>
                <a:ea typeface="Arial" pitchFamily="34" charset="-122"/>
                <a:cs typeface="Arial" pitchFamily="34" charset="-120"/>
              </a:rPr>
              <a:t> </a:t>
            </a:r>
          </a:p>
          <a:p>
            <a:pPr marL="0" indent="0" algn="l">
              <a:buNone/>
            </a:pPr>
            <a:endParaRPr lang="en-US" sz="1800" dirty="0"/>
          </a:p>
          <a:p>
            <a:pPr marL="0" indent="0" algn="l">
              <a:buNone/>
            </a:pPr>
            <a:r>
              <a:rPr lang="en-US" sz="1600" dirty="0">
                <a:solidFill>
                  <a:schemeClr val="bg1"/>
                </a:solidFill>
                <a:latin typeface="Arial" pitchFamily="34" charset="0"/>
                <a:ea typeface="Arial" pitchFamily="34" charset="-122"/>
                <a:cs typeface="Arial" pitchFamily="34" charset="-120"/>
              </a:rPr>
              <a:t>Project 26/27 – Group 20</a:t>
            </a:r>
            <a:endParaRPr lang="en-US" sz="1800" dirty="0"/>
          </a:p>
          <a:p>
            <a:pPr marL="0" indent="0" algn="l">
              <a:buNone/>
            </a:pPr>
            <a:r>
              <a:rPr lang="en-US" sz="1600" dirty="0">
                <a:solidFill>
                  <a:schemeClr val="bg1"/>
                </a:solidFill>
                <a:latin typeface="Arial" pitchFamily="34" charset="0"/>
                <a:ea typeface="Arial" pitchFamily="34" charset="-122"/>
                <a:cs typeface="Arial" pitchFamily="34" charset="-120"/>
              </a:rPr>
              <a:t>Gonçalo Xavier (</a:t>
            </a:r>
            <a:r>
              <a:rPr lang="en-US" sz="1600" dirty="0"/>
              <a:t>109560</a:t>
            </a:r>
            <a:r>
              <a:rPr lang="en-US" sz="1600" dirty="0">
                <a:solidFill>
                  <a:schemeClr val="bg1"/>
                </a:solidFill>
                <a:latin typeface="Arial" pitchFamily="34" charset="0"/>
                <a:ea typeface="Arial" pitchFamily="34" charset="-122"/>
                <a:cs typeface="Arial" pitchFamily="34" charset="-120"/>
              </a:rPr>
              <a:t>) </a:t>
            </a:r>
            <a:r>
              <a:rPr lang="en-US" sz="1600" dirty="0"/>
              <a:t>&amp;</a:t>
            </a:r>
            <a:r>
              <a:rPr lang="en-US" sz="1600" dirty="0">
                <a:solidFill>
                  <a:schemeClr val="bg1"/>
                </a:solidFill>
                <a:latin typeface="Arial" pitchFamily="34" charset="0"/>
                <a:ea typeface="Arial" pitchFamily="34" charset="-122"/>
                <a:cs typeface="Arial" pitchFamily="34" charset="-120"/>
              </a:rPr>
              <a:t> Rita Líbano Monteiro (110754)</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868680"/>
          </a:xfrm>
          <a:prstGeom prst="rect">
            <a:avLst/>
          </a:prstGeom>
          <a:noFill/>
          <a:ln/>
        </p:spPr>
        <p:txBody>
          <a:bodyPr wrap="square" lIns="0" tIns="0" rIns="0" bIns="0" rtlCol="0" anchor="ctr"/>
          <a:lstStyle/>
          <a:p>
            <a:pPr marL="0" indent="0" algn="ctr">
              <a:buNone/>
            </a:pPr>
            <a:r>
              <a:rPr lang="en-US" sz="3000" b="1" dirty="0">
                <a:solidFill>
                  <a:schemeClr val="accent1"/>
                </a:solidFill>
              </a:rPr>
              <a:t>Contents</a:t>
            </a:r>
            <a:endParaRPr lang="en-US" sz="3000" b="1" dirty="0"/>
          </a:p>
        </p:txBody>
      </p:sp>
      <p:sp>
        <p:nvSpPr>
          <p:cNvPr id="5" name="Task 1 item text"/>
          <p:cNvSpPr txBox="1"/>
          <p:nvPr/>
        </p:nvSpPr>
        <p:spPr>
          <a:xfrm>
            <a:off x="1143000" y="1892808"/>
            <a:ext cx="3429000" cy="347472"/>
          </a:xfrm>
          <a:prstGeom prst="rect">
            <a:avLst/>
          </a:prstGeom>
          <a:noFill/>
          <a:ln/>
        </p:spPr>
        <p:txBody>
          <a:bodyPr wrap="square" lIns="0" tIns="0" rIns="0" bIns="0" rtlCol="0" anchor="t"/>
          <a:lstStyle/>
          <a:p>
            <a:pPr marL="0" indent="0">
              <a:buNone/>
            </a:pPr>
            <a:r>
              <a:rPr lang="en-US" sz="2000" b="1" i="1" dirty="0">
                <a:solidFill>
                  <a:schemeClr val="accent1"/>
                </a:solidFill>
              </a:rPr>
              <a:t>1.   </a:t>
            </a:r>
            <a:r>
              <a:rPr lang="en-US" sz="2000" b="1" dirty="0">
                <a:solidFill>
                  <a:schemeClr val="accent1"/>
                </a:solidFill>
              </a:rPr>
              <a:t>Staging and Data Profiling</a:t>
            </a:r>
          </a:p>
        </p:txBody>
      </p:sp>
      <p:sp>
        <p:nvSpPr>
          <p:cNvPr id="8" name="Task 2 item text"/>
          <p:cNvSpPr txBox="1"/>
          <p:nvPr/>
        </p:nvSpPr>
        <p:spPr>
          <a:xfrm>
            <a:off x="1143000" y="2798064"/>
            <a:ext cx="3429000" cy="347472"/>
          </a:xfrm>
          <a:prstGeom prst="rect">
            <a:avLst/>
          </a:prstGeom>
          <a:noFill/>
          <a:ln/>
        </p:spPr>
        <p:txBody>
          <a:bodyPr wrap="square" lIns="0" tIns="0" rIns="0" bIns="0" rtlCol="0" anchor="t"/>
          <a:lstStyle/>
          <a:p>
            <a:pPr marL="0" indent="0">
              <a:buNone/>
            </a:pPr>
            <a:r>
              <a:rPr lang="en-US" sz="2000" b="1" i="1" dirty="0">
                <a:solidFill>
                  <a:schemeClr val="accent1"/>
                </a:solidFill>
              </a:rPr>
              <a:t>2.   </a:t>
            </a:r>
            <a:r>
              <a:rPr lang="en-US" sz="2000" b="1" dirty="0">
                <a:solidFill>
                  <a:schemeClr val="accent1"/>
                </a:solidFill>
              </a:rPr>
              <a:t>Country-Code Reconciliation</a:t>
            </a:r>
          </a:p>
        </p:txBody>
      </p:sp>
      <p:sp>
        <p:nvSpPr>
          <p:cNvPr id="28" name="Task 2 item text">
            <a:extLst>
              <a:ext uri="{FF2B5EF4-FFF2-40B4-BE49-F238E27FC236}">
                <a16:creationId xmlns:a16="http://schemas.microsoft.com/office/drawing/2014/main" id="{3B0CEE02-DA03-69B3-C076-C131583FAF03}"/>
              </a:ext>
            </a:extLst>
          </p:cNvPr>
          <p:cNvSpPr txBox="1"/>
          <p:nvPr/>
        </p:nvSpPr>
        <p:spPr>
          <a:xfrm>
            <a:off x="1115569" y="3703320"/>
            <a:ext cx="3429000" cy="347472"/>
          </a:xfrm>
          <a:prstGeom prst="rect">
            <a:avLst/>
          </a:prstGeom>
          <a:noFill/>
          <a:ln/>
        </p:spPr>
        <p:txBody>
          <a:bodyPr wrap="square" lIns="0" tIns="0" rIns="0" bIns="0" rtlCol="0" anchor="t"/>
          <a:lstStyle/>
          <a:p>
            <a:pPr marL="0" indent="0">
              <a:buNone/>
            </a:pPr>
            <a:r>
              <a:rPr lang="en-US" sz="2000" b="1" i="1" dirty="0">
                <a:solidFill>
                  <a:schemeClr val="accent1"/>
                </a:solidFill>
              </a:rPr>
              <a:t>3.   </a:t>
            </a:r>
            <a:r>
              <a:rPr lang="en-US" sz="2000" b="1" dirty="0">
                <a:solidFill>
                  <a:schemeClr val="accent1"/>
                </a:solidFill>
              </a:rPr>
              <a:t>Data Warehouse Design</a:t>
            </a:r>
          </a:p>
        </p:txBody>
      </p:sp>
      <p:sp>
        <p:nvSpPr>
          <p:cNvPr id="29" name="Task 2 item text">
            <a:extLst>
              <a:ext uri="{FF2B5EF4-FFF2-40B4-BE49-F238E27FC236}">
                <a16:creationId xmlns:a16="http://schemas.microsoft.com/office/drawing/2014/main" id="{633436ED-7896-2586-4565-B86FA19C6F5D}"/>
              </a:ext>
            </a:extLst>
          </p:cNvPr>
          <p:cNvSpPr txBox="1"/>
          <p:nvPr/>
        </p:nvSpPr>
        <p:spPr>
          <a:xfrm>
            <a:off x="1115569" y="4608576"/>
            <a:ext cx="3429000" cy="347472"/>
          </a:xfrm>
          <a:prstGeom prst="rect">
            <a:avLst/>
          </a:prstGeom>
          <a:noFill/>
          <a:ln/>
        </p:spPr>
        <p:txBody>
          <a:bodyPr wrap="square" lIns="0" tIns="0" rIns="0" bIns="0" rtlCol="0" anchor="t"/>
          <a:lstStyle/>
          <a:p>
            <a:pPr marL="0" indent="0">
              <a:buNone/>
            </a:pPr>
            <a:r>
              <a:rPr lang="en-US" sz="2000" b="1" i="1" dirty="0">
                <a:solidFill>
                  <a:schemeClr val="accent1"/>
                </a:solidFill>
              </a:rPr>
              <a:t>4.   </a:t>
            </a:r>
            <a:r>
              <a:rPr lang="en-US" sz="2000" b="1" dirty="0">
                <a:solidFill>
                  <a:schemeClr val="accent1"/>
                </a:solidFill>
              </a:rPr>
              <a:t>ETL Pipelines</a:t>
            </a:r>
          </a:p>
        </p:txBody>
      </p:sp>
      <p:sp>
        <p:nvSpPr>
          <p:cNvPr id="30" name="Task 2 item text">
            <a:extLst>
              <a:ext uri="{FF2B5EF4-FFF2-40B4-BE49-F238E27FC236}">
                <a16:creationId xmlns:a16="http://schemas.microsoft.com/office/drawing/2014/main" id="{782A6004-B64F-6BA4-285A-CA928124065B}"/>
              </a:ext>
            </a:extLst>
          </p:cNvPr>
          <p:cNvSpPr txBox="1"/>
          <p:nvPr/>
        </p:nvSpPr>
        <p:spPr>
          <a:xfrm>
            <a:off x="5262715" y="1892808"/>
            <a:ext cx="3429000" cy="347472"/>
          </a:xfrm>
          <a:prstGeom prst="rect">
            <a:avLst/>
          </a:prstGeom>
          <a:noFill/>
          <a:ln/>
        </p:spPr>
        <p:txBody>
          <a:bodyPr wrap="square" lIns="0" tIns="0" rIns="0" bIns="0" rtlCol="0" anchor="t"/>
          <a:lstStyle/>
          <a:p>
            <a:pPr marL="0" indent="0">
              <a:buNone/>
            </a:pPr>
            <a:r>
              <a:rPr lang="en-US" sz="2000" b="1" i="1" dirty="0">
                <a:solidFill>
                  <a:schemeClr val="accent1"/>
                </a:solidFill>
              </a:rPr>
              <a:t>5.   </a:t>
            </a:r>
            <a:r>
              <a:rPr lang="en-US" sz="2000" b="1" dirty="0">
                <a:solidFill>
                  <a:schemeClr val="accent1"/>
                </a:solidFill>
              </a:rPr>
              <a:t>OLAP Cube and Saiku</a:t>
            </a:r>
          </a:p>
        </p:txBody>
      </p:sp>
      <p:sp>
        <p:nvSpPr>
          <p:cNvPr id="31" name="Task 2 item text">
            <a:extLst>
              <a:ext uri="{FF2B5EF4-FFF2-40B4-BE49-F238E27FC236}">
                <a16:creationId xmlns:a16="http://schemas.microsoft.com/office/drawing/2014/main" id="{FE8F97F8-5D5E-8FB8-8B2B-FBD701D0C010}"/>
              </a:ext>
            </a:extLst>
          </p:cNvPr>
          <p:cNvSpPr txBox="1"/>
          <p:nvPr/>
        </p:nvSpPr>
        <p:spPr>
          <a:xfrm>
            <a:off x="5262715" y="2798064"/>
            <a:ext cx="3429000" cy="347472"/>
          </a:xfrm>
          <a:prstGeom prst="rect">
            <a:avLst/>
          </a:prstGeom>
          <a:noFill/>
          <a:ln/>
        </p:spPr>
        <p:txBody>
          <a:bodyPr wrap="square" lIns="0" tIns="0" rIns="0" bIns="0" rtlCol="0" anchor="t"/>
          <a:lstStyle/>
          <a:p>
            <a:pPr marL="0" indent="0">
              <a:buNone/>
            </a:pPr>
            <a:r>
              <a:rPr lang="en-US" sz="2000" b="1" i="1" dirty="0">
                <a:solidFill>
                  <a:schemeClr val="accent1"/>
                </a:solidFill>
              </a:rPr>
              <a:t>6.   </a:t>
            </a:r>
            <a:r>
              <a:rPr lang="en-US" sz="2000" b="1" dirty="0">
                <a:solidFill>
                  <a:schemeClr val="accent1"/>
                </a:solidFill>
              </a:rPr>
              <a:t>MDX Queries</a:t>
            </a:r>
          </a:p>
        </p:txBody>
      </p:sp>
      <p:sp>
        <p:nvSpPr>
          <p:cNvPr id="32" name="Task 2 item text">
            <a:extLst>
              <a:ext uri="{FF2B5EF4-FFF2-40B4-BE49-F238E27FC236}">
                <a16:creationId xmlns:a16="http://schemas.microsoft.com/office/drawing/2014/main" id="{8A5095FB-3F9C-2355-F858-0D8F2866DAA9}"/>
              </a:ext>
            </a:extLst>
          </p:cNvPr>
          <p:cNvSpPr txBox="1"/>
          <p:nvPr/>
        </p:nvSpPr>
        <p:spPr>
          <a:xfrm>
            <a:off x="5262715" y="3703320"/>
            <a:ext cx="3429000" cy="347472"/>
          </a:xfrm>
          <a:prstGeom prst="rect">
            <a:avLst/>
          </a:prstGeom>
          <a:noFill/>
          <a:ln/>
        </p:spPr>
        <p:txBody>
          <a:bodyPr wrap="square" lIns="0" tIns="0" rIns="0" bIns="0" rtlCol="0" anchor="t"/>
          <a:lstStyle/>
          <a:p>
            <a:pPr marL="0" indent="0">
              <a:buNone/>
            </a:pPr>
            <a:r>
              <a:rPr lang="en-US" sz="2000" b="1" i="1" dirty="0">
                <a:solidFill>
                  <a:schemeClr val="accent1"/>
                </a:solidFill>
              </a:rPr>
              <a:t>7.   </a:t>
            </a:r>
            <a:r>
              <a:rPr lang="en-US" sz="2000" b="1" dirty="0">
                <a:solidFill>
                  <a:schemeClr val="accent1"/>
                </a:solidFill>
              </a:rPr>
              <a:t>Analysis Questions</a:t>
            </a:r>
          </a:p>
        </p:txBody>
      </p:sp>
      <p:sp>
        <p:nvSpPr>
          <p:cNvPr id="33" name="Task 2 item text">
            <a:extLst>
              <a:ext uri="{FF2B5EF4-FFF2-40B4-BE49-F238E27FC236}">
                <a16:creationId xmlns:a16="http://schemas.microsoft.com/office/drawing/2014/main" id="{043C8BFC-E581-4943-5DF2-8CBD53BCA43C}"/>
              </a:ext>
            </a:extLst>
          </p:cNvPr>
          <p:cNvSpPr txBox="1"/>
          <p:nvPr/>
        </p:nvSpPr>
        <p:spPr>
          <a:xfrm>
            <a:off x="5262715" y="4608576"/>
            <a:ext cx="3429000" cy="347472"/>
          </a:xfrm>
          <a:prstGeom prst="rect">
            <a:avLst/>
          </a:prstGeom>
          <a:noFill/>
          <a:ln/>
        </p:spPr>
        <p:txBody>
          <a:bodyPr wrap="square" lIns="0" tIns="0" rIns="0" bIns="0" rtlCol="0" anchor="t"/>
          <a:lstStyle/>
          <a:p>
            <a:pPr marL="0" indent="0">
              <a:buNone/>
            </a:pPr>
            <a:r>
              <a:rPr lang="en-US" sz="2000" b="1" i="1" dirty="0">
                <a:solidFill>
                  <a:schemeClr val="accent1"/>
                </a:solidFill>
              </a:rPr>
              <a:t>8.   </a:t>
            </a:r>
            <a:r>
              <a:rPr lang="en-US" sz="2000" b="1" dirty="0">
                <a:solidFill>
                  <a:schemeClr val="accent1"/>
                </a:solidFill>
              </a:rPr>
              <a:t>Report and Data Quality</a:t>
            </a:r>
          </a:p>
        </p:txBody>
      </p:sp>
    </p:spTree>
    <p:extLst>
      <p:ext uri="{BB962C8B-B14F-4D97-AF65-F5344CB8AC3E}">
        <p14:creationId xmlns:p14="http://schemas.microsoft.com/office/powerpoint/2010/main" val="2079837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85354" y="2468880"/>
            <a:ext cx="7973291" cy="1188720"/>
          </a:xfrm>
          <a:prstGeom prst="rect">
            <a:avLst/>
          </a:prstGeom>
          <a:noFill/>
          <a:ln/>
        </p:spPr>
        <p:txBody>
          <a:bodyPr wrap="square" lIns="0" tIns="0" rIns="0" bIns="0" rtlCol="0" anchor="ctr"/>
          <a:lstStyle/>
          <a:p>
            <a:pPr marL="0" indent="0" algn="ctr">
              <a:buNone/>
            </a:pPr>
            <a:r>
              <a:rPr lang="en-US" sz="4400" b="1" dirty="0">
                <a:solidFill>
                  <a:schemeClr val="accent1"/>
                </a:solidFill>
              </a:rPr>
              <a:t>Task 1 – Staging and Data Profiling</a:t>
            </a:r>
            <a:endParaRPr lang="en-US" sz="4400" b="1" dirty="0"/>
          </a:p>
        </p:txBody>
      </p:sp>
      <p:sp>
        <p:nvSpPr>
          <p:cNvPr id="3" name="Text 0"/>
          <p:cNvSpPr>
            <a:spLocks noGrp="1"/>
          </p:cNvSpPr>
          <p:nvPr>
            <p:ph type="body" idx="102" hasCustomPrompt="1"/>
          </p:nvPr>
        </p:nvSpPr>
        <p:spPr>
          <a:xfrm>
            <a:off x="685800" y="3657600"/>
            <a:ext cx="7772400" cy="731520"/>
          </a:xfrm>
          <a:prstGeom prst="rect">
            <a:avLst/>
          </a:prstGeom>
          <a:noFill/>
          <a:ln/>
        </p:spPr>
        <p:txBody>
          <a:bodyPr wrap="square" lIns="0" tIns="0" rIns="0" bIns="0" rtlCol="0" anchor="t"/>
          <a:lstStyle/>
          <a:p>
            <a:pPr marL="0" indent="0" algn="ctr">
              <a:buNone/>
            </a:pPr>
            <a:r>
              <a:rPr lang="en-US" sz="1800" dirty="0">
                <a:solidFill>
                  <a:schemeClr val="accent2"/>
                </a:solidFill>
              </a:rPr>
              <a:t>Staging database, load pipeline, exploratory queries and data dictionaries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3" name="Branch Maddison">
            <a:extLst>
              <a:ext uri="{FF2B5EF4-FFF2-40B4-BE49-F238E27FC236}">
                <a16:creationId xmlns:a16="http://schemas.microsoft.com/office/drawing/2014/main" id="{6055F861-9C4F-0E4C-0661-A8AAAEB50783}"/>
              </a:ext>
            </a:extLst>
          </p:cNvPr>
          <p:cNvSpPr/>
          <p:nvPr/>
        </p:nvSpPr>
        <p:spPr>
          <a:xfrm>
            <a:off x="3906157" y="1153299"/>
            <a:ext cx="4542906" cy="914755"/>
          </a:xfrm>
          <a:prstGeom prst="rect">
            <a:avLst/>
          </a:prstGeom>
          <a:solidFill>
            <a:schemeClr val="bg2"/>
          </a:solidFill>
          <a:ln w="12700">
            <a:solidFill>
              <a:schemeClr val="bg2"/>
            </a:solidFill>
            <a:prstDash val="solid"/>
          </a:ln>
        </p:spPr>
        <p:txBody>
          <a:bodyPr/>
          <a:lstStyle/>
          <a:p>
            <a:endParaRPr lang="pt-PT"/>
          </a:p>
        </p:txBody>
      </p:sp>
      <p:sp>
        <p:nvSpPr>
          <p:cNvPr id="41" name="Regex">
            <a:extLst>
              <a:ext uri="{FF2B5EF4-FFF2-40B4-BE49-F238E27FC236}">
                <a16:creationId xmlns:a16="http://schemas.microsoft.com/office/drawing/2014/main" id="{18A12302-CBD2-A38D-6B11-9B5A5A99CD89}"/>
              </a:ext>
            </a:extLst>
          </p:cNvPr>
          <p:cNvSpPr/>
          <p:nvPr/>
        </p:nvSpPr>
        <p:spPr>
          <a:xfrm>
            <a:off x="3906157" y="1147650"/>
            <a:ext cx="4542906" cy="920404"/>
          </a:xfrm>
          <a:prstGeom prst="rect">
            <a:avLst/>
          </a:prstGeom>
          <a:solidFill>
            <a:schemeClr val="bg2"/>
          </a:solidFill>
          <a:ln w="9525">
            <a:solidFill>
              <a:schemeClr val="accent3"/>
            </a:solidFill>
            <a:prstDash val="solid"/>
          </a:ln>
        </p:spPr>
        <p:txBody>
          <a:bodyPr/>
          <a:lstStyle/>
          <a:p>
            <a:endParaRPr lang="pt-PT"/>
          </a:p>
        </p:txBody>
      </p:sp>
      <p:sp>
        <p:nvSpPr>
          <p:cNvPr id="2" name="Text 0"/>
          <p:cNvSpPr>
            <a:spLocks noGrp="1"/>
          </p:cNvSpPr>
          <p:nvPr>
            <p:ph type="title" idx="101" hasCustomPrompt="1"/>
          </p:nvPr>
        </p:nvSpPr>
        <p:spPr>
          <a:xfrm>
            <a:off x="457200" y="133941"/>
            <a:ext cx="8229600" cy="868680"/>
          </a:xfrm>
          <a:prstGeom prst="rect">
            <a:avLst/>
          </a:prstGeom>
          <a:noFill/>
          <a:ln/>
        </p:spPr>
        <p:txBody>
          <a:bodyPr wrap="square" lIns="0" tIns="0" rIns="0" bIns="0" rtlCol="0" anchor="ctr"/>
          <a:lstStyle/>
          <a:p>
            <a:pPr marL="0" indent="0" algn="ctr">
              <a:buNone/>
            </a:pPr>
            <a:r>
              <a:rPr lang="en-US" sz="3000" b="1" dirty="0">
                <a:solidFill>
                  <a:schemeClr val="accent1"/>
                </a:solidFill>
              </a:rPr>
              <a:t>Staging schema with precise data types</a:t>
            </a:r>
            <a:endParaRPr lang="en-US" sz="3000" b="1" dirty="0"/>
          </a:p>
        </p:txBody>
      </p:sp>
      <p:pic>
        <p:nvPicPr>
          <p:cNvPr id="28" name="Imagem 27" descr="Uma imagem com texto, captura de ecrã, software&#10;&#10;Descrição gerada automaticamente">
            <a:extLst>
              <a:ext uri="{FF2B5EF4-FFF2-40B4-BE49-F238E27FC236}">
                <a16:creationId xmlns:a16="http://schemas.microsoft.com/office/drawing/2014/main" id="{6926A1C8-FC44-D5A9-C386-85BCB7EC31CE}"/>
              </a:ext>
            </a:extLst>
          </p:cNvPr>
          <p:cNvPicPr>
            <a:picLocks noChangeAspect="1"/>
          </p:cNvPicPr>
          <p:nvPr/>
        </p:nvPicPr>
        <p:blipFill>
          <a:blip r:embed="rId3"/>
          <a:stretch>
            <a:fillRect/>
          </a:stretch>
        </p:blipFill>
        <p:spPr>
          <a:xfrm>
            <a:off x="227862" y="1141638"/>
            <a:ext cx="3065499" cy="4721979"/>
          </a:xfrm>
          <a:prstGeom prst="rect">
            <a:avLst/>
          </a:prstGeom>
        </p:spPr>
      </p:pic>
      <p:sp>
        <p:nvSpPr>
          <p:cNvPr id="30" name="CaixaDeTexto 29">
            <a:extLst>
              <a:ext uri="{FF2B5EF4-FFF2-40B4-BE49-F238E27FC236}">
                <a16:creationId xmlns:a16="http://schemas.microsoft.com/office/drawing/2014/main" id="{B14B41C3-2A8B-5333-57AD-5D3B19A77ED8}"/>
              </a:ext>
            </a:extLst>
          </p:cNvPr>
          <p:cNvSpPr txBox="1"/>
          <p:nvPr/>
        </p:nvSpPr>
        <p:spPr>
          <a:xfrm>
            <a:off x="3906157" y="1149012"/>
            <a:ext cx="4542906" cy="646331"/>
          </a:xfrm>
          <a:prstGeom prst="rect">
            <a:avLst/>
          </a:prstGeom>
          <a:noFill/>
        </p:spPr>
        <p:txBody>
          <a:bodyPr wrap="square" rtlCol="0">
            <a:spAutoFit/>
          </a:bodyPr>
          <a:lstStyle/>
          <a:p>
            <a:r>
              <a:rPr lang="en-US" sz="1200" dirty="0"/>
              <a:t>Maddison and Wdi use the same composite primary key, each row is one value per country, indicator and year, so country and the indicator alone repeat every year</a:t>
            </a:r>
          </a:p>
        </p:txBody>
      </p:sp>
      <p:sp>
        <p:nvSpPr>
          <p:cNvPr id="31" name="CaixaDeTexto 30">
            <a:extLst>
              <a:ext uri="{FF2B5EF4-FFF2-40B4-BE49-F238E27FC236}">
                <a16:creationId xmlns:a16="http://schemas.microsoft.com/office/drawing/2014/main" id="{90D49A8A-C46B-D7F9-E61B-BF4D904D9105}"/>
              </a:ext>
            </a:extLst>
          </p:cNvPr>
          <p:cNvSpPr txBox="1"/>
          <p:nvPr/>
        </p:nvSpPr>
        <p:spPr>
          <a:xfrm>
            <a:off x="3906157" y="1791055"/>
            <a:ext cx="4542906" cy="276999"/>
          </a:xfrm>
          <a:prstGeom prst="rect">
            <a:avLst/>
          </a:prstGeom>
          <a:noFill/>
        </p:spPr>
        <p:txBody>
          <a:bodyPr wrap="square" rtlCol="0">
            <a:spAutoFit/>
          </a:bodyPr>
          <a:lstStyle/>
          <a:p>
            <a:r>
              <a:rPr lang="en-US" sz="1200" dirty="0"/>
              <a:t>Events has no natural key so it was necessary to create a surrogate key</a:t>
            </a:r>
          </a:p>
        </p:txBody>
      </p:sp>
      <p:pic>
        <p:nvPicPr>
          <p:cNvPr id="35" name="Imagem 34" descr="Uma imagem com texto, recibo, algebra&#10;&#10;Descrição gerada automaticamente">
            <a:extLst>
              <a:ext uri="{FF2B5EF4-FFF2-40B4-BE49-F238E27FC236}">
                <a16:creationId xmlns:a16="http://schemas.microsoft.com/office/drawing/2014/main" id="{B10BFFA8-1724-CCDE-4BEF-58DEB3B4996C}"/>
              </a:ext>
            </a:extLst>
          </p:cNvPr>
          <p:cNvPicPr>
            <a:picLocks noChangeAspect="1"/>
          </p:cNvPicPr>
          <p:nvPr/>
        </p:nvPicPr>
        <p:blipFill>
          <a:blip r:embed="rId4"/>
          <a:stretch>
            <a:fillRect/>
          </a:stretch>
        </p:blipFill>
        <p:spPr>
          <a:xfrm>
            <a:off x="3397711" y="4720483"/>
            <a:ext cx="5518427" cy="1143134"/>
          </a:xfrm>
          <a:prstGeom prst="rect">
            <a:avLst/>
          </a:prstGeom>
        </p:spPr>
      </p:pic>
      <p:pic>
        <p:nvPicPr>
          <p:cNvPr id="37" name="Imagem 36" descr="Uma imagem com texto, menu, preto e branco, captura de ecrã&#10;&#10;Descrição gerada automaticamente">
            <a:extLst>
              <a:ext uri="{FF2B5EF4-FFF2-40B4-BE49-F238E27FC236}">
                <a16:creationId xmlns:a16="http://schemas.microsoft.com/office/drawing/2014/main" id="{C50145E9-7967-3FB9-209F-C548F89D6649}"/>
              </a:ext>
            </a:extLst>
          </p:cNvPr>
          <p:cNvPicPr>
            <a:picLocks noChangeAspect="1"/>
          </p:cNvPicPr>
          <p:nvPr/>
        </p:nvPicPr>
        <p:blipFill>
          <a:blip r:embed="rId5"/>
          <a:stretch>
            <a:fillRect/>
          </a:stretch>
        </p:blipFill>
        <p:spPr>
          <a:xfrm>
            <a:off x="3522699" y="2223458"/>
            <a:ext cx="3497533" cy="1861202"/>
          </a:xfrm>
          <a:prstGeom prst="rect">
            <a:avLst/>
          </a:prstGeom>
        </p:spPr>
      </p:pic>
      <p:pic>
        <p:nvPicPr>
          <p:cNvPr id="39" name="Imagem 38" descr="Uma imagem com texto, preto e branco, captura de ecrã, menu&#10;&#10;Descrição gerada automaticamente">
            <a:extLst>
              <a:ext uri="{FF2B5EF4-FFF2-40B4-BE49-F238E27FC236}">
                <a16:creationId xmlns:a16="http://schemas.microsoft.com/office/drawing/2014/main" id="{6055BB66-E168-7B69-8A4E-DDA7A1EFEB3B}"/>
              </a:ext>
            </a:extLst>
          </p:cNvPr>
          <p:cNvPicPr>
            <a:picLocks noChangeAspect="1"/>
          </p:cNvPicPr>
          <p:nvPr/>
        </p:nvPicPr>
        <p:blipFill>
          <a:blip r:embed="rId6"/>
          <a:stretch>
            <a:fillRect/>
          </a:stretch>
        </p:blipFill>
        <p:spPr>
          <a:xfrm>
            <a:off x="6065533" y="3160349"/>
            <a:ext cx="2621267" cy="142111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9" name="Branch WDI"/>
          <p:cNvSpPr/>
          <p:nvPr/>
        </p:nvSpPr>
        <p:spPr>
          <a:xfrm>
            <a:off x="5987935" y="4925928"/>
            <a:ext cx="2331720" cy="707968"/>
          </a:xfrm>
          <a:prstGeom prst="rect">
            <a:avLst/>
          </a:prstGeom>
          <a:solidFill>
            <a:schemeClr val="bg2"/>
          </a:solidFill>
          <a:ln w="12700">
            <a:solidFill>
              <a:schemeClr val="bg2"/>
            </a:solidFill>
            <a:prstDash val="solid"/>
          </a:ln>
        </p:spPr>
        <p:txBody>
          <a:bodyPr/>
          <a:lstStyle/>
          <a:p>
            <a:endParaRPr lang="pt-PT"/>
          </a:p>
        </p:txBody>
      </p:sp>
      <p:sp>
        <p:nvSpPr>
          <p:cNvPr id="16" name="Regex">
            <a:extLst>
              <a:ext uri="{FF2B5EF4-FFF2-40B4-BE49-F238E27FC236}">
                <a16:creationId xmlns:a16="http://schemas.microsoft.com/office/drawing/2014/main" id="{FA6DC315-90E9-3E50-4CF1-07C0A6144F05}"/>
              </a:ext>
            </a:extLst>
          </p:cNvPr>
          <p:cNvSpPr/>
          <p:nvPr/>
        </p:nvSpPr>
        <p:spPr>
          <a:xfrm>
            <a:off x="5987935" y="4920384"/>
            <a:ext cx="2331720" cy="707966"/>
          </a:xfrm>
          <a:prstGeom prst="rect">
            <a:avLst/>
          </a:prstGeom>
          <a:solidFill>
            <a:schemeClr val="bg2"/>
          </a:solidFill>
          <a:ln w="9525">
            <a:solidFill>
              <a:schemeClr val="accent3"/>
            </a:solidFill>
            <a:prstDash val="solid"/>
          </a:ln>
        </p:spPr>
        <p:txBody>
          <a:bodyPr/>
          <a:lstStyle/>
          <a:p>
            <a:endParaRPr lang="pt-PT"/>
          </a:p>
        </p:txBody>
      </p:sp>
      <p:sp>
        <p:nvSpPr>
          <p:cNvPr id="10" name="Branch WDI text"/>
          <p:cNvSpPr txBox="1"/>
          <p:nvPr/>
        </p:nvSpPr>
        <p:spPr>
          <a:xfrm>
            <a:off x="5987935" y="4920383"/>
            <a:ext cx="2331720" cy="707967"/>
          </a:xfrm>
          <a:prstGeom prst="rect">
            <a:avLst/>
          </a:prstGeom>
          <a:noFill/>
          <a:ln/>
        </p:spPr>
        <p:txBody>
          <a:bodyPr wrap="square" rtlCol="0" anchor="t"/>
          <a:lstStyle/>
          <a:p>
            <a:pPr marL="0" indent="0">
              <a:spcAft>
                <a:spcPts val="400"/>
              </a:spcAft>
              <a:buNone/>
            </a:pPr>
            <a:r>
              <a:rPr lang="en-US" sz="1200" b="1" dirty="0">
                <a:solidFill>
                  <a:schemeClr val="accent1"/>
                </a:solidFill>
              </a:rPr>
              <a:t>WDI</a:t>
            </a:r>
            <a:endParaRPr lang="en-US" sz="1200" dirty="0"/>
          </a:p>
          <a:p>
            <a:pPr marL="0" indent="0">
              <a:spcAft>
                <a:spcPts val="400"/>
              </a:spcAft>
              <a:buNone/>
            </a:pPr>
            <a:r>
              <a:rPr lang="en-US" sz="1200" dirty="0">
                <a:solidFill>
                  <a:schemeClr val="tx1"/>
                </a:solidFill>
              </a:rPr>
              <a:t>CSV file input → Table output (stg_wdi)</a:t>
            </a:r>
            <a:endParaRPr lang="en-US" sz="1200" dirty="0"/>
          </a:p>
        </p:txBody>
      </p:sp>
      <p:sp>
        <p:nvSpPr>
          <p:cNvPr id="7" name="Branch Events"/>
          <p:cNvSpPr/>
          <p:nvPr/>
        </p:nvSpPr>
        <p:spPr>
          <a:xfrm>
            <a:off x="3417570" y="4925934"/>
            <a:ext cx="2308860" cy="707969"/>
          </a:xfrm>
          <a:prstGeom prst="rect">
            <a:avLst/>
          </a:prstGeom>
          <a:solidFill>
            <a:schemeClr val="bg2"/>
          </a:solidFill>
          <a:ln w="12700">
            <a:solidFill>
              <a:schemeClr val="bg2"/>
            </a:solidFill>
            <a:prstDash val="solid"/>
          </a:ln>
        </p:spPr>
        <p:txBody>
          <a:bodyPr/>
          <a:lstStyle/>
          <a:p>
            <a:endParaRPr lang="pt-PT"/>
          </a:p>
        </p:txBody>
      </p:sp>
      <p:sp>
        <p:nvSpPr>
          <p:cNvPr id="15" name="Regex">
            <a:extLst>
              <a:ext uri="{FF2B5EF4-FFF2-40B4-BE49-F238E27FC236}">
                <a16:creationId xmlns:a16="http://schemas.microsoft.com/office/drawing/2014/main" id="{1555EEB7-983C-8E5A-1032-2F5B709AF460}"/>
              </a:ext>
            </a:extLst>
          </p:cNvPr>
          <p:cNvSpPr/>
          <p:nvPr/>
        </p:nvSpPr>
        <p:spPr>
          <a:xfrm>
            <a:off x="3417570" y="4925934"/>
            <a:ext cx="2308860" cy="707966"/>
          </a:xfrm>
          <a:prstGeom prst="rect">
            <a:avLst/>
          </a:prstGeom>
          <a:solidFill>
            <a:schemeClr val="bg2"/>
          </a:solidFill>
          <a:ln w="9525">
            <a:solidFill>
              <a:schemeClr val="accent3"/>
            </a:solidFill>
            <a:prstDash val="solid"/>
          </a:ln>
        </p:spPr>
        <p:txBody>
          <a:bodyPr/>
          <a:lstStyle/>
          <a:p>
            <a:endParaRPr lang="pt-PT"/>
          </a:p>
        </p:txBody>
      </p:sp>
      <p:sp>
        <p:nvSpPr>
          <p:cNvPr id="8" name="Branch Events text"/>
          <p:cNvSpPr txBox="1"/>
          <p:nvPr/>
        </p:nvSpPr>
        <p:spPr>
          <a:xfrm>
            <a:off x="3417570" y="4925937"/>
            <a:ext cx="2308860" cy="707967"/>
          </a:xfrm>
          <a:prstGeom prst="rect">
            <a:avLst/>
          </a:prstGeom>
          <a:noFill/>
          <a:ln/>
        </p:spPr>
        <p:txBody>
          <a:bodyPr wrap="square" rtlCol="0" anchor="t"/>
          <a:lstStyle/>
          <a:p>
            <a:pPr marL="0" indent="0">
              <a:spcAft>
                <a:spcPts val="400"/>
              </a:spcAft>
              <a:buNone/>
            </a:pPr>
            <a:r>
              <a:rPr lang="en-US" sz="1200" b="1" dirty="0">
                <a:solidFill>
                  <a:schemeClr val="accent1"/>
                </a:solidFill>
              </a:rPr>
              <a:t>Events</a:t>
            </a:r>
            <a:endParaRPr lang="en-US" sz="1200" dirty="0"/>
          </a:p>
          <a:p>
            <a:pPr marL="0" indent="0">
              <a:spcAft>
                <a:spcPts val="400"/>
              </a:spcAft>
              <a:buNone/>
            </a:pPr>
            <a:r>
              <a:rPr lang="en-US" sz="1200" dirty="0">
                <a:solidFill>
                  <a:schemeClr val="tx1"/>
                </a:solidFill>
              </a:rPr>
              <a:t>CSV file input → Regex evaluation → Filter rows → Table output</a:t>
            </a:r>
            <a:endParaRPr lang="en-US" sz="1200" dirty="0"/>
          </a:p>
        </p:txBody>
      </p:sp>
      <p:sp>
        <p:nvSpPr>
          <p:cNvPr id="5" name="Branch Maddison"/>
          <p:cNvSpPr/>
          <p:nvPr/>
        </p:nvSpPr>
        <p:spPr>
          <a:xfrm>
            <a:off x="840971" y="4925933"/>
            <a:ext cx="2315094" cy="707967"/>
          </a:xfrm>
          <a:prstGeom prst="rect">
            <a:avLst/>
          </a:prstGeom>
          <a:solidFill>
            <a:schemeClr val="bg2"/>
          </a:solidFill>
          <a:ln w="12700">
            <a:solidFill>
              <a:schemeClr val="bg2"/>
            </a:solidFill>
            <a:prstDash val="solid"/>
          </a:ln>
        </p:spPr>
        <p:txBody>
          <a:bodyPr/>
          <a:lstStyle/>
          <a:p>
            <a:endParaRPr lang="pt-PT"/>
          </a:p>
        </p:txBody>
      </p:sp>
      <p:sp>
        <p:nvSpPr>
          <p:cNvPr id="13" name="Regex">
            <a:extLst>
              <a:ext uri="{FF2B5EF4-FFF2-40B4-BE49-F238E27FC236}">
                <a16:creationId xmlns:a16="http://schemas.microsoft.com/office/drawing/2014/main" id="{FDC5463C-914F-A047-2209-84AFA9034FA5}"/>
              </a:ext>
            </a:extLst>
          </p:cNvPr>
          <p:cNvSpPr/>
          <p:nvPr/>
        </p:nvSpPr>
        <p:spPr>
          <a:xfrm>
            <a:off x="847205" y="4925930"/>
            <a:ext cx="2308860" cy="707966"/>
          </a:xfrm>
          <a:prstGeom prst="rect">
            <a:avLst/>
          </a:prstGeom>
          <a:solidFill>
            <a:schemeClr val="bg2"/>
          </a:solidFill>
          <a:ln w="9525">
            <a:solidFill>
              <a:schemeClr val="accent3"/>
            </a:solidFill>
            <a:prstDash val="solid"/>
          </a:ln>
        </p:spPr>
        <p:txBody>
          <a:bodyPr/>
          <a:lstStyle/>
          <a:p>
            <a:endParaRPr lang="pt-PT"/>
          </a:p>
        </p:txBody>
      </p:sp>
      <p:sp>
        <p:nvSpPr>
          <p:cNvPr id="6" name="Branch Maddison text"/>
          <p:cNvSpPr txBox="1"/>
          <p:nvPr/>
        </p:nvSpPr>
        <p:spPr>
          <a:xfrm>
            <a:off x="840970" y="4925933"/>
            <a:ext cx="2315095" cy="707967"/>
          </a:xfrm>
          <a:prstGeom prst="rect">
            <a:avLst/>
          </a:prstGeom>
          <a:noFill/>
          <a:ln/>
        </p:spPr>
        <p:txBody>
          <a:bodyPr wrap="square" rtlCol="0" anchor="t"/>
          <a:lstStyle/>
          <a:p>
            <a:pPr marL="0" indent="0">
              <a:spcAft>
                <a:spcPts val="400"/>
              </a:spcAft>
              <a:buNone/>
            </a:pPr>
            <a:r>
              <a:rPr lang="en-US" sz="1200" b="1" dirty="0">
                <a:solidFill>
                  <a:schemeClr val="accent1"/>
                </a:solidFill>
              </a:rPr>
              <a:t>Maddison</a:t>
            </a:r>
            <a:endParaRPr lang="en-US" sz="1200" dirty="0"/>
          </a:p>
          <a:p>
            <a:pPr marL="0" indent="0">
              <a:spcAft>
                <a:spcPts val="400"/>
              </a:spcAft>
              <a:buNone/>
            </a:pPr>
            <a:r>
              <a:rPr lang="en-US" sz="1200" dirty="0">
                <a:solidFill>
                  <a:schemeClr val="tx1"/>
                </a:solidFill>
              </a:rPr>
              <a:t>CSV file input → Table output (stg_maddison)</a:t>
            </a:r>
            <a:endParaRPr lang="en-US" sz="1200" dirty="0"/>
          </a:p>
        </p:txBody>
      </p:sp>
      <p:sp>
        <p:nvSpPr>
          <p:cNvPr id="2" name="Text 0"/>
          <p:cNvSpPr>
            <a:spLocks noGrp="1"/>
          </p:cNvSpPr>
          <p:nvPr>
            <p:ph type="title" idx="101" hasCustomPrompt="1"/>
          </p:nvPr>
        </p:nvSpPr>
        <p:spPr>
          <a:xfrm>
            <a:off x="457200" y="274320"/>
            <a:ext cx="8229600" cy="868680"/>
          </a:xfrm>
          <a:prstGeom prst="rect">
            <a:avLst/>
          </a:prstGeom>
          <a:noFill/>
          <a:ln/>
        </p:spPr>
        <p:txBody>
          <a:bodyPr wrap="square" lIns="0" tIns="0" rIns="0" bIns="0" rtlCol="0" anchor="ctr"/>
          <a:lstStyle/>
          <a:p>
            <a:pPr marL="0" indent="0" algn="ctr">
              <a:buNone/>
            </a:pPr>
            <a:r>
              <a:rPr lang="en-US" sz="3000" b="1" dirty="0">
                <a:solidFill>
                  <a:schemeClr val="accent1"/>
                </a:solidFill>
              </a:rPr>
              <a:t>Load pipeline</a:t>
            </a:r>
            <a:r>
              <a:rPr lang="en-US" b="1" dirty="0"/>
              <a:t> (</a:t>
            </a:r>
            <a:r>
              <a:rPr lang="en-US" sz="3000" b="1" dirty="0">
                <a:solidFill>
                  <a:schemeClr val="accent1"/>
                </a:solidFill>
              </a:rPr>
              <a:t>one branch per source)</a:t>
            </a:r>
            <a:endParaRPr lang="en-US" sz="3000" b="1" dirty="0"/>
          </a:p>
        </p:txBody>
      </p:sp>
      <p:pic>
        <p:nvPicPr>
          <p:cNvPr id="22" name="Imagem 21" descr="Uma imagem com texto, captura de ecrã, Tipo de letra, diagrama&#10;&#10;Descrição gerada automaticamente">
            <a:extLst>
              <a:ext uri="{FF2B5EF4-FFF2-40B4-BE49-F238E27FC236}">
                <a16:creationId xmlns:a16="http://schemas.microsoft.com/office/drawing/2014/main" id="{773EB7F1-DD83-C818-84FB-A7EB4C23507D}"/>
              </a:ext>
            </a:extLst>
          </p:cNvPr>
          <p:cNvPicPr>
            <a:picLocks noChangeAspect="1"/>
          </p:cNvPicPr>
          <p:nvPr/>
        </p:nvPicPr>
        <p:blipFill>
          <a:blip r:embed="rId3">
            <a:clrChange>
              <a:clrFrom>
                <a:srgbClr val="EBEBEB"/>
              </a:clrFrom>
              <a:clrTo>
                <a:srgbClr val="EBEBEB">
                  <a:alpha val="0"/>
                </a:srgbClr>
              </a:clrTo>
            </a:clrChange>
          </a:blip>
          <a:stretch>
            <a:fillRect/>
          </a:stretch>
        </p:blipFill>
        <p:spPr>
          <a:xfrm>
            <a:off x="685800" y="1224096"/>
            <a:ext cx="7772400" cy="32921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15" name="Regex">
            <a:extLst>
              <a:ext uri="{FF2B5EF4-FFF2-40B4-BE49-F238E27FC236}">
                <a16:creationId xmlns:a16="http://schemas.microsoft.com/office/drawing/2014/main" id="{BAAAA5AE-6EF8-1F35-7DAE-312EE086EE9E}"/>
              </a:ext>
            </a:extLst>
          </p:cNvPr>
          <p:cNvSpPr/>
          <p:nvPr/>
        </p:nvSpPr>
        <p:spPr>
          <a:xfrm>
            <a:off x="5416434" y="4872644"/>
            <a:ext cx="2798617" cy="544484"/>
          </a:xfrm>
          <a:prstGeom prst="rect">
            <a:avLst/>
          </a:prstGeom>
          <a:solidFill>
            <a:schemeClr val="bg2"/>
          </a:solidFill>
          <a:ln w="9525">
            <a:solidFill>
              <a:schemeClr val="accent3"/>
            </a:solidFill>
            <a:prstDash val="solid"/>
          </a:ln>
        </p:spPr>
        <p:txBody>
          <a:bodyPr/>
          <a:lstStyle/>
          <a:p>
            <a:endParaRPr lang="pt-PT"/>
          </a:p>
        </p:txBody>
      </p:sp>
      <p:sp>
        <p:nvSpPr>
          <p:cNvPr id="13" name="Regex">
            <a:extLst>
              <a:ext uri="{FF2B5EF4-FFF2-40B4-BE49-F238E27FC236}">
                <a16:creationId xmlns:a16="http://schemas.microsoft.com/office/drawing/2014/main" id="{26827578-8DEE-E02E-B17A-7254B0AA9E71}"/>
              </a:ext>
            </a:extLst>
          </p:cNvPr>
          <p:cNvSpPr/>
          <p:nvPr/>
        </p:nvSpPr>
        <p:spPr>
          <a:xfrm>
            <a:off x="928949" y="4803796"/>
            <a:ext cx="2798617" cy="687185"/>
          </a:xfrm>
          <a:prstGeom prst="rect">
            <a:avLst/>
          </a:prstGeom>
          <a:solidFill>
            <a:schemeClr val="bg2"/>
          </a:solidFill>
          <a:ln w="9525">
            <a:solidFill>
              <a:schemeClr val="accent3"/>
            </a:solidFill>
            <a:prstDash val="solid"/>
          </a:ln>
        </p:spPr>
        <p:txBody>
          <a:bodyPr/>
          <a:lstStyle/>
          <a:p>
            <a:endParaRPr lang="pt-PT"/>
          </a:p>
        </p:txBody>
      </p:sp>
      <p:sp>
        <p:nvSpPr>
          <p:cNvPr id="2" name="Text 0"/>
          <p:cNvSpPr>
            <a:spLocks noGrp="1"/>
          </p:cNvSpPr>
          <p:nvPr>
            <p:ph type="title" idx="101" hasCustomPrompt="1"/>
          </p:nvPr>
        </p:nvSpPr>
        <p:spPr>
          <a:xfrm>
            <a:off x="457200" y="274320"/>
            <a:ext cx="8229600" cy="868680"/>
          </a:xfrm>
          <a:prstGeom prst="rect">
            <a:avLst/>
          </a:prstGeom>
          <a:noFill/>
          <a:ln/>
        </p:spPr>
        <p:txBody>
          <a:bodyPr wrap="square" lIns="0" tIns="0" rIns="0" bIns="0" rtlCol="0" anchor="ctr"/>
          <a:lstStyle/>
          <a:p>
            <a:pPr marL="0" indent="0" algn="ctr">
              <a:buNone/>
            </a:pPr>
            <a:r>
              <a:rPr lang="en-US" sz="3000" b="1" dirty="0">
                <a:solidFill>
                  <a:schemeClr val="accent1"/>
                </a:solidFill>
              </a:rPr>
              <a:t>Key transform configurations</a:t>
            </a:r>
            <a:endParaRPr lang="en-US" sz="3000" b="1" dirty="0"/>
          </a:p>
        </p:txBody>
      </p:sp>
      <p:sp>
        <p:nvSpPr>
          <p:cNvPr id="7" name="Notes CSV input"/>
          <p:cNvSpPr txBox="1"/>
          <p:nvPr/>
        </p:nvSpPr>
        <p:spPr>
          <a:xfrm>
            <a:off x="928948" y="4803796"/>
            <a:ext cx="2798618" cy="687185"/>
          </a:xfrm>
          <a:prstGeom prst="rect">
            <a:avLst/>
          </a:prstGeom>
          <a:noFill/>
          <a:ln/>
        </p:spPr>
        <p:txBody>
          <a:bodyPr wrap="square" rtlCol="0" anchor="t"/>
          <a:lstStyle/>
          <a:p>
            <a:pPr>
              <a:spcAft>
                <a:spcPts val="400"/>
              </a:spcAft>
              <a:buSzPct val="100000"/>
            </a:pPr>
            <a:r>
              <a:rPr lang="en-US" sz="1200" dirty="0">
                <a:solidFill>
                  <a:schemeClr val="tx1"/>
                </a:solidFill>
              </a:rPr>
              <a:t>Path with ${PROJECT_HOME}, not an absolute path</a:t>
            </a:r>
            <a:endParaRPr lang="en-US" sz="1200" dirty="0"/>
          </a:p>
          <a:p>
            <a:pPr>
              <a:spcAft>
                <a:spcPts val="400"/>
              </a:spcAft>
              <a:buSzPct val="100000"/>
            </a:pPr>
            <a:r>
              <a:rPr lang="en-US" sz="1200" dirty="0">
                <a:solidFill>
                  <a:schemeClr val="tx1"/>
                </a:solidFill>
              </a:rPr>
              <a:t>year is Integer, value is BigNumber</a:t>
            </a:r>
            <a:endParaRPr lang="en-US" sz="1200" dirty="0"/>
          </a:p>
        </p:txBody>
      </p:sp>
      <p:sp>
        <p:nvSpPr>
          <p:cNvPr id="8" name="Notes Table output"/>
          <p:cNvSpPr txBox="1"/>
          <p:nvPr/>
        </p:nvSpPr>
        <p:spPr>
          <a:xfrm>
            <a:off x="5416431" y="4872644"/>
            <a:ext cx="2798617" cy="554183"/>
          </a:xfrm>
          <a:prstGeom prst="rect">
            <a:avLst/>
          </a:prstGeom>
          <a:noFill/>
          <a:ln/>
        </p:spPr>
        <p:txBody>
          <a:bodyPr wrap="square" rtlCol="0" anchor="t"/>
          <a:lstStyle/>
          <a:p>
            <a:pPr>
              <a:spcAft>
                <a:spcPts val="400"/>
              </a:spcAft>
              <a:buSzPct val="100000"/>
            </a:pPr>
            <a:r>
              <a:rPr lang="en-US" sz="1200" dirty="0">
                <a:solidFill>
                  <a:schemeClr val="tx1"/>
                </a:solidFill>
              </a:rPr>
              <a:t>Truncate table</a:t>
            </a:r>
            <a:r>
              <a:rPr lang="en-US" sz="1200" dirty="0"/>
              <a:t>, </a:t>
            </a:r>
            <a:r>
              <a:rPr lang="en-US" sz="1200" dirty="0">
                <a:solidFill>
                  <a:schemeClr val="tx1"/>
                </a:solidFill>
              </a:rPr>
              <a:t>the load can be re-run</a:t>
            </a:r>
            <a:endParaRPr lang="en-US" sz="1200" dirty="0"/>
          </a:p>
          <a:p>
            <a:pPr>
              <a:spcAft>
                <a:spcPts val="400"/>
              </a:spcAft>
              <a:buSzPct val="100000"/>
            </a:pPr>
            <a:r>
              <a:rPr lang="en-US" sz="1200" dirty="0">
                <a:solidFill>
                  <a:schemeClr val="tx1"/>
                </a:solidFill>
              </a:rPr>
              <a:t>Explicit mapping; event_id left to MySQL</a:t>
            </a:r>
            <a:endParaRPr lang="en-US" sz="1200" dirty="0"/>
          </a:p>
        </p:txBody>
      </p:sp>
      <p:pic>
        <p:nvPicPr>
          <p:cNvPr id="10" name="Imagem 9" descr="Uma imagem com texto, captura de ecrã, número, Tipo de letra&#10;&#10;Descrição gerada automaticamente">
            <a:extLst>
              <a:ext uri="{FF2B5EF4-FFF2-40B4-BE49-F238E27FC236}">
                <a16:creationId xmlns:a16="http://schemas.microsoft.com/office/drawing/2014/main" id="{9FE96F54-8205-C863-CDC0-9BB7956F90F6}"/>
              </a:ext>
            </a:extLst>
          </p:cNvPr>
          <p:cNvPicPr>
            <a:picLocks noChangeAspect="1"/>
          </p:cNvPicPr>
          <p:nvPr/>
        </p:nvPicPr>
        <p:blipFill>
          <a:blip r:embed="rId3"/>
          <a:stretch>
            <a:fillRect/>
          </a:stretch>
        </p:blipFill>
        <p:spPr>
          <a:xfrm>
            <a:off x="221672" y="1378846"/>
            <a:ext cx="4170219" cy="3227234"/>
          </a:xfrm>
          <a:prstGeom prst="rect">
            <a:avLst/>
          </a:prstGeom>
        </p:spPr>
      </p:pic>
      <p:pic>
        <p:nvPicPr>
          <p:cNvPr id="12" name="Imagem 11" descr="Uma imagem com texto, captura de ecrã, software, número&#10;&#10;Descrição gerada automaticamente">
            <a:extLst>
              <a:ext uri="{FF2B5EF4-FFF2-40B4-BE49-F238E27FC236}">
                <a16:creationId xmlns:a16="http://schemas.microsoft.com/office/drawing/2014/main" id="{DD30F656-AFD7-C512-B80F-B230940C0480}"/>
              </a:ext>
            </a:extLst>
          </p:cNvPr>
          <p:cNvPicPr>
            <a:picLocks noChangeAspect="1"/>
          </p:cNvPicPr>
          <p:nvPr/>
        </p:nvPicPr>
        <p:blipFill>
          <a:blip r:embed="rId4"/>
          <a:stretch>
            <a:fillRect/>
          </a:stretch>
        </p:blipFill>
        <p:spPr>
          <a:xfrm>
            <a:off x="4599710" y="1378846"/>
            <a:ext cx="4322618" cy="31891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22614"/>
            <a:ext cx="8229600" cy="868680"/>
          </a:xfrm>
          <a:prstGeom prst="rect">
            <a:avLst/>
          </a:prstGeom>
          <a:noFill/>
          <a:ln/>
        </p:spPr>
        <p:txBody>
          <a:bodyPr wrap="square" lIns="0" tIns="0" rIns="0" bIns="0" rtlCol="0" anchor="ctr"/>
          <a:lstStyle/>
          <a:p>
            <a:pPr marL="0" indent="0" algn="ctr">
              <a:buNone/>
            </a:pPr>
            <a:r>
              <a:rPr lang="en-US" sz="3000" b="1" dirty="0">
                <a:solidFill>
                  <a:schemeClr val="accent1"/>
                </a:solidFill>
              </a:rPr>
              <a:t>An unprotected comma</a:t>
            </a:r>
            <a:endParaRPr lang="en-US" sz="3000" b="1" dirty="0"/>
          </a:p>
        </p:txBody>
      </p:sp>
      <p:sp>
        <p:nvSpPr>
          <p:cNvPr id="3" name="Problem line box"/>
          <p:cNvSpPr/>
          <p:nvPr/>
        </p:nvSpPr>
        <p:spPr>
          <a:xfrm>
            <a:off x="548641" y="1105420"/>
            <a:ext cx="8046721" cy="320040"/>
          </a:xfrm>
          <a:prstGeom prst="rect">
            <a:avLst/>
          </a:prstGeom>
          <a:solidFill>
            <a:schemeClr val="bg2"/>
          </a:solidFill>
          <a:ln w="9525">
            <a:solidFill>
              <a:schemeClr val="accent3"/>
            </a:solidFill>
            <a:prstDash val="solid"/>
          </a:ln>
        </p:spPr>
        <p:txBody>
          <a:bodyPr/>
          <a:lstStyle/>
          <a:p>
            <a:endParaRPr lang="en-US"/>
          </a:p>
        </p:txBody>
      </p:sp>
      <p:sp>
        <p:nvSpPr>
          <p:cNvPr id="4" name="Problem line text"/>
          <p:cNvSpPr txBox="1"/>
          <p:nvPr/>
        </p:nvSpPr>
        <p:spPr>
          <a:xfrm>
            <a:off x="548640" y="1105420"/>
            <a:ext cx="8046720" cy="320040"/>
          </a:xfrm>
          <a:prstGeom prst="rect">
            <a:avLst/>
          </a:prstGeom>
          <a:noFill/>
          <a:ln/>
        </p:spPr>
        <p:txBody>
          <a:bodyPr wrap="square" rtlCol="0" anchor="ctr"/>
          <a:lstStyle/>
          <a:p>
            <a:pPr marL="0" indent="0">
              <a:buNone/>
            </a:pPr>
            <a:r>
              <a:rPr lang="en-US" sz="1100" i="1">
                <a:solidFill>
                  <a:schemeClr val="tx1"/>
                </a:solidFill>
                <a:ea typeface="Courier New" pitchFamily="34" charset="-122"/>
                <a:cs typeface="Courier New" pitchFamily="34" charset="-120"/>
              </a:rPr>
              <a:t>1990,IRL,Ireland,Celtic Tiger boom begins; strong FDI</a:t>
            </a:r>
            <a:r>
              <a:rPr lang="en-US" sz="1600" b="1" i="1">
                <a:solidFill>
                  <a:schemeClr val="accent4"/>
                </a:solidFill>
                <a:ea typeface="Courier New" pitchFamily="34" charset="-122"/>
                <a:cs typeface="Courier New" pitchFamily="34" charset="-120"/>
              </a:rPr>
              <a:t>,</a:t>
            </a:r>
            <a:r>
              <a:rPr lang="en-US" sz="1100" i="1">
                <a:solidFill>
                  <a:schemeClr val="tx1"/>
                </a:solidFill>
                <a:ea typeface="Courier New" pitchFamily="34" charset="-122"/>
                <a:cs typeface="Courier New" pitchFamily="34" charset="-120"/>
              </a:rPr>
              <a:t> IT and pharmaceuticals growth through the 1990s,Economy,High growth</a:t>
            </a:r>
            <a:endParaRPr lang="en-US" sz="1100" i="1"/>
          </a:p>
        </p:txBody>
      </p:sp>
      <p:sp>
        <p:nvSpPr>
          <p:cNvPr id="6" name="Step 1"/>
          <p:cNvSpPr/>
          <p:nvPr/>
        </p:nvSpPr>
        <p:spPr>
          <a:xfrm>
            <a:off x="457200" y="2453466"/>
            <a:ext cx="1783080" cy="822960"/>
          </a:xfrm>
          <a:prstGeom prst="rect">
            <a:avLst/>
          </a:prstGeom>
          <a:solidFill>
            <a:schemeClr val="accent1"/>
          </a:solidFill>
          <a:ln w="12700">
            <a:solidFill>
              <a:schemeClr val="accent1"/>
            </a:solidFill>
            <a:prstDash val="solid"/>
          </a:ln>
        </p:spPr>
        <p:txBody>
          <a:bodyPr/>
          <a:lstStyle/>
          <a:p>
            <a:endParaRPr lang="en-US"/>
          </a:p>
        </p:txBody>
      </p:sp>
      <p:sp>
        <p:nvSpPr>
          <p:cNvPr id="7" name="Step 1 text"/>
          <p:cNvSpPr txBox="1"/>
          <p:nvPr/>
        </p:nvSpPr>
        <p:spPr>
          <a:xfrm>
            <a:off x="457200" y="2453466"/>
            <a:ext cx="1783080" cy="822960"/>
          </a:xfrm>
          <a:prstGeom prst="rect">
            <a:avLst/>
          </a:prstGeom>
          <a:noFill/>
          <a:ln/>
        </p:spPr>
        <p:txBody>
          <a:bodyPr wrap="square" rtlCol="0" anchor="ctr"/>
          <a:lstStyle/>
          <a:p>
            <a:pPr marL="0" indent="0" algn="ctr">
              <a:buNone/>
            </a:pPr>
            <a:r>
              <a:rPr lang="en-US" sz="1300" b="1">
                <a:solidFill>
                  <a:schemeClr val="bg1"/>
                </a:solidFill>
              </a:rPr>
              <a:t>Read the whole line (delimiter |)</a:t>
            </a:r>
            <a:endParaRPr lang="en-US" sz="1300"/>
          </a:p>
        </p:txBody>
      </p:sp>
      <p:sp>
        <p:nvSpPr>
          <p:cNvPr id="8" name="Arrow 1"/>
          <p:cNvSpPr/>
          <p:nvPr/>
        </p:nvSpPr>
        <p:spPr>
          <a:xfrm>
            <a:off x="2286000" y="2727786"/>
            <a:ext cx="274320" cy="274320"/>
          </a:xfrm>
          <a:prstGeom prst="rightArrow">
            <a:avLst/>
          </a:prstGeom>
          <a:solidFill>
            <a:schemeClr val="accent3"/>
          </a:solidFill>
          <a:ln w="12700">
            <a:solidFill>
              <a:schemeClr val="accent3"/>
            </a:solidFill>
            <a:prstDash val="solid"/>
          </a:ln>
        </p:spPr>
        <p:txBody>
          <a:bodyPr/>
          <a:lstStyle/>
          <a:p>
            <a:endParaRPr lang="en-US"/>
          </a:p>
        </p:txBody>
      </p:sp>
      <p:sp>
        <p:nvSpPr>
          <p:cNvPr id="9" name="Step 2"/>
          <p:cNvSpPr/>
          <p:nvPr/>
        </p:nvSpPr>
        <p:spPr>
          <a:xfrm>
            <a:off x="2606040" y="2453466"/>
            <a:ext cx="1783080" cy="822960"/>
          </a:xfrm>
          <a:prstGeom prst="rect">
            <a:avLst/>
          </a:prstGeom>
          <a:solidFill>
            <a:schemeClr val="accent1"/>
          </a:solidFill>
          <a:ln w="12700">
            <a:solidFill>
              <a:schemeClr val="accent1"/>
            </a:solidFill>
            <a:prstDash val="solid"/>
          </a:ln>
        </p:spPr>
        <p:txBody>
          <a:bodyPr/>
          <a:lstStyle/>
          <a:p>
            <a:endParaRPr lang="en-US"/>
          </a:p>
        </p:txBody>
      </p:sp>
      <p:sp>
        <p:nvSpPr>
          <p:cNvPr id="10" name="Step 2 text"/>
          <p:cNvSpPr txBox="1"/>
          <p:nvPr/>
        </p:nvSpPr>
        <p:spPr>
          <a:xfrm>
            <a:off x="2606040" y="2453466"/>
            <a:ext cx="1783080" cy="822960"/>
          </a:xfrm>
          <a:prstGeom prst="rect">
            <a:avLst/>
          </a:prstGeom>
          <a:noFill/>
          <a:ln/>
        </p:spPr>
        <p:txBody>
          <a:bodyPr wrap="square" rtlCol="0" anchor="ctr"/>
          <a:lstStyle/>
          <a:p>
            <a:pPr marL="0" indent="0" algn="ctr">
              <a:buNone/>
            </a:pPr>
            <a:r>
              <a:rPr lang="en-US" sz="1300" b="1" dirty="0">
                <a:solidFill>
                  <a:schemeClr val="bg1"/>
                </a:solidFill>
              </a:rPr>
              <a:t>Regex split into 6 fields</a:t>
            </a:r>
            <a:endParaRPr lang="en-US" sz="1300" dirty="0"/>
          </a:p>
        </p:txBody>
      </p:sp>
      <p:sp>
        <p:nvSpPr>
          <p:cNvPr id="11" name="Arrow 2"/>
          <p:cNvSpPr/>
          <p:nvPr/>
        </p:nvSpPr>
        <p:spPr>
          <a:xfrm>
            <a:off x="4434840" y="2727786"/>
            <a:ext cx="274320" cy="274320"/>
          </a:xfrm>
          <a:prstGeom prst="rightArrow">
            <a:avLst/>
          </a:prstGeom>
          <a:solidFill>
            <a:schemeClr val="accent3"/>
          </a:solidFill>
          <a:ln w="12700">
            <a:solidFill>
              <a:schemeClr val="accent3"/>
            </a:solidFill>
            <a:prstDash val="solid"/>
          </a:ln>
        </p:spPr>
        <p:txBody>
          <a:bodyPr/>
          <a:lstStyle/>
          <a:p>
            <a:endParaRPr lang="en-US"/>
          </a:p>
        </p:txBody>
      </p:sp>
      <p:sp>
        <p:nvSpPr>
          <p:cNvPr id="12" name="Step 3"/>
          <p:cNvSpPr/>
          <p:nvPr/>
        </p:nvSpPr>
        <p:spPr>
          <a:xfrm>
            <a:off x="4754880" y="2453466"/>
            <a:ext cx="1783080" cy="822960"/>
          </a:xfrm>
          <a:prstGeom prst="rect">
            <a:avLst/>
          </a:prstGeom>
          <a:solidFill>
            <a:schemeClr val="accent1"/>
          </a:solidFill>
          <a:ln w="12700">
            <a:solidFill>
              <a:schemeClr val="accent1"/>
            </a:solidFill>
            <a:prstDash val="solid"/>
          </a:ln>
        </p:spPr>
        <p:txBody>
          <a:bodyPr/>
          <a:lstStyle/>
          <a:p>
            <a:endParaRPr lang="en-US"/>
          </a:p>
        </p:txBody>
      </p:sp>
      <p:sp>
        <p:nvSpPr>
          <p:cNvPr id="13" name="Step 3 text"/>
          <p:cNvSpPr txBox="1"/>
          <p:nvPr/>
        </p:nvSpPr>
        <p:spPr>
          <a:xfrm>
            <a:off x="4754880" y="2453466"/>
            <a:ext cx="1783080" cy="822960"/>
          </a:xfrm>
          <a:prstGeom prst="rect">
            <a:avLst/>
          </a:prstGeom>
          <a:noFill/>
          <a:ln/>
        </p:spPr>
        <p:txBody>
          <a:bodyPr wrap="square" rtlCol="0" anchor="ctr"/>
          <a:lstStyle/>
          <a:p>
            <a:pPr marL="0" indent="0" algn="ctr">
              <a:buNone/>
            </a:pPr>
            <a:r>
              <a:rPr lang="en-US" sz="1300" b="1" dirty="0">
                <a:solidFill>
                  <a:schemeClr val="bg1"/>
                </a:solidFill>
              </a:rPr>
              <a:t>Filter is_valid = Y</a:t>
            </a:r>
            <a:endParaRPr lang="en-US" sz="1300" dirty="0"/>
          </a:p>
        </p:txBody>
      </p:sp>
      <p:sp>
        <p:nvSpPr>
          <p:cNvPr id="14" name="Arrow 3"/>
          <p:cNvSpPr/>
          <p:nvPr/>
        </p:nvSpPr>
        <p:spPr>
          <a:xfrm>
            <a:off x="6583680" y="2727786"/>
            <a:ext cx="274320" cy="274320"/>
          </a:xfrm>
          <a:prstGeom prst="rightArrow">
            <a:avLst/>
          </a:prstGeom>
          <a:solidFill>
            <a:schemeClr val="accent3"/>
          </a:solidFill>
          <a:ln w="12700">
            <a:solidFill>
              <a:schemeClr val="accent3"/>
            </a:solidFill>
            <a:prstDash val="solid"/>
          </a:ln>
        </p:spPr>
        <p:txBody>
          <a:bodyPr/>
          <a:lstStyle/>
          <a:p>
            <a:endParaRPr lang="en-US"/>
          </a:p>
        </p:txBody>
      </p:sp>
      <p:sp>
        <p:nvSpPr>
          <p:cNvPr id="15" name="Step 4"/>
          <p:cNvSpPr/>
          <p:nvPr/>
        </p:nvSpPr>
        <p:spPr>
          <a:xfrm>
            <a:off x="6903720" y="2453466"/>
            <a:ext cx="1783080" cy="822960"/>
          </a:xfrm>
          <a:prstGeom prst="rect">
            <a:avLst/>
          </a:prstGeom>
          <a:solidFill>
            <a:schemeClr val="accent1"/>
          </a:solidFill>
          <a:ln w="12700">
            <a:solidFill>
              <a:schemeClr val="accent1"/>
            </a:solidFill>
            <a:prstDash val="solid"/>
          </a:ln>
        </p:spPr>
        <p:txBody>
          <a:bodyPr/>
          <a:lstStyle/>
          <a:p>
            <a:endParaRPr lang="en-US"/>
          </a:p>
        </p:txBody>
      </p:sp>
      <p:sp>
        <p:nvSpPr>
          <p:cNvPr id="16" name="Step 4 text"/>
          <p:cNvSpPr txBox="1"/>
          <p:nvPr/>
        </p:nvSpPr>
        <p:spPr>
          <a:xfrm>
            <a:off x="6903720" y="2453466"/>
            <a:ext cx="1783080" cy="822960"/>
          </a:xfrm>
          <a:prstGeom prst="rect">
            <a:avLst/>
          </a:prstGeom>
          <a:noFill/>
          <a:ln/>
        </p:spPr>
        <p:txBody>
          <a:bodyPr wrap="square" rtlCol="0" anchor="ctr"/>
          <a:lstStyle/>
          <a:p>
            <a:pPr marL="0" indent="0" algn="ctr">
              <a:buNone/>
            </a:pPr>
            <a:r>
              <a:rPr lang="en-US" sz="1300" b="1" dirty="0">
                <a:solidFill>
                  <a:schemeClr val="bg1"/>
                </a:solidFill>
              </a:rPr>
              <a:t>Table output stg_events</a:t>
            </a:r>
            <a:endParaRPr lang="en-US" sz="1300" dirty="0"/>
          </a:p>
        </p:txBody>
      </p:sp>
      <p:sp>
        <p:nvSpPr>
          <p:cNvPr id="17" name="Regex"/>
          <p:cNvSpPr/>
          <p:nvPr/>
        </p:nvSpPr>
        <p:spPr>
          <a:xfrm>
            <a:off x="457200" y="3429000"/>
            <a:ext cx="8229600" cy="502920"/>
          </a:xfrm>
          <a:prstGeom prst="rect">
            <a:avLst/>
          </a:prstGeom>
          <a:solidFill>
            <a:schemeClr val="bg2"/>
          </a:solidFill>
          <a:ln w="9525">
            <a:solidFill>
              <a:schemeClr val="accent3"/>
            </a:solidFill>
            <a:prstDash val="solid"/>
          </a:ln>
        </p:spPr>
        <p:txBody>
          <a:bodyPr/>
          <a:lstStyle/>
          <a:p>
            <a:endParaRPr lang="en-US"/>
          </a:p>
        </p:txBody>
      </p:sp>
      <p:sp>
        <p:nvSpPr>
          <p:cNvPr id="18" name="Regex text"/>
          <p:cNvSpPr txBox="1"/>
          <p:nvPr/>
        </p:nvSpPr>
        <p:spPr>
          <a:xfrm>
            <a:off x="548640" y="3474720"/>
            <a:ext cx="8046720" cy="411480"/>
          </a:xfrm>
          <a:prstGeom prst="rect">
            <a:avLst/>
          </a:prstGeom>
          <a:noFill/>
          <a:ln/>
        </p:spPr>
        <p:txBody>
          <a:bodyPr wrap="square" rtlCol="0" anchor="ctr"/>
          <a:lstStyle/>
          <a:p>
            <a:pPr marL="0" indent="0">
              <a:buNone/>
            </a:pPr>
            <a:r>
              <a:rPr lang="en-US" sz="1300">
                <a:solidFill>
                  <a:schemeClr val="tx1"/>
                </a:solidFill>
                <a:latin typeface="Courier New" pitchFamily="34" charset="0"/>
                <a:ea typeface="Courier New" pitchFamily="34" charset="-122"/>
                <a:cs typeface="Courier New" pitchFamily="34" charset="-120"/>
              </a:rPr>
              <a:t>^(\d{4}),([A-Z]{3}),([^,]*),(.*),([^,]*),([^,]*)$</a:t>
            </a:r>
            <a:endParaRPr lang="en-US" sz="1300"/>
          </a:p>
        </p:txBody>
      </p:sp>
      <p:sp>
        <p:nvSpPr>
          <p:cNvPr id="24" name="Regex">
            <a:extLst>
              <a:ext uri="{FF2B5EF4-FFF2-40B4-BE49-F238E27FC236}">
                <a16:creationId xmlns:a16="http://schemas.microsoft.com/office/drawing/2014/main" id="{6715F41A-C512-D750-74CA-01638F0A736C}"/>
              </a:ext>
            </a:extLst>
          </p:cNvPr>
          <p:cNvSpPr/>
          <p:nvPr/>
        </p:nvSpPr>
        <p:spPr>
          <a:xfrm>
            <a:off x="457200" y="1607993"/>
            <a:ext cx="8229600" cy="617220"/>
          </a:xfrm>
          <a:prstGeom prst="rect">
            <a:avLst/>
          </a:prstGeom>
          <a:solidFill>
            <a:schemeClr val="bg2"/>
          </a:solidFill>
          <a:ln w="9525">
            <a:solidFill>
              <a:schemeClr val="accent3"/>
            </a:solidFill>
            <a:prstDash val="solid"/>
          </a:ln>
        </p:spPr>
        <p:txBody>
          <a:bodyPr/>
          <a:lstStyle/>
          <a:p>
            <a:r>
              <a:rPr lang="en-US" sz="1200" dirty="0"/>
              <a:t>We noted the presence of an unprotected comma in line 362 of the events csv file, which split that row into 7 fields instead of 6. Instead of editing the source file, the load pipeline reads each line and splits it with a regular expression that allows commas, only in the event field </a:t>
            </a:r>
          </a:p>
        </p:txBody>
      </p:sp>
      <p:pic>
        <p:nvPicPr>
          <p:cNvPr id="29" name="Imagem 28" descr="Uma imagem com texto, recibo, captura de ecrã&#10;&#10;Descrição gerada automaticamente">
            <a:extLst>
              <a:ext uri="{FF2B5EF4-FFF2-40B4-BE49-F238E27FC236}">
                <a16:creationId xmlns:a16="http://schemas.microsoft.com/office/drawing/2014/main" id="{CFE47FE9-D5A2-9B5C-42CE-1E8485391676}"/>
              </a:ext>
            </a:extLst>
          </p:cNvPr>
          <p:cNvPicPr>
            <a:picLocks noChangeAspect="1"/>
          </p:cNvPicPr>
          <p:nvPr/>
        </p:nvPicPr>
        <p:blipFill>
          <a:blip r:embed="rId3"/>
          <a:stretch>
            <a:fillRect/>
          </a:stretch>
        </p:blipFill>
        <p:spPr>
          <a:xfrm>
            <a:off x="685800" y="4112521"/>
            <a:ext cx="7772400" cy="20863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868680"/>
          </a:xfrm>
          <a:prstGeom prst="rect">
            <a:avLst/>
          </a:prstGeom>
          <a:noFill/>
          <a:ln/>
        </p:spPr>
        <p:txBody>
          <a:bodyPr wrap="square" lIns="0" tIns="0" rIns="0" bIns="0" rtlCol="0" anchor="ctr"/>
          <a:lstStyle/>
          <a:p>
            <a:pPr marL="0" indent="0" algn="ctr">
              <a:buNone/>
            </a:pPr>
            <a:r>
              <a:rPr lang="en-US" sz="3000" b="1" dirty="0">
                <a:solidFill>
                  <a:schemeClr val="accent1"/>
                </a:solidFill>
              </a:rPr>
              <a:t>All rows loaded into staging</a:t>
            </a:r>
            <a:endParaRPr lang="en-US" sz="3000" b="1" dirty="0"/>
          </a:p>
        </p:txBody>
      </p:sp>
      <p:sp>
        <p:nvSpPr>
          <p:cNvPr id="3" name="Stat Maddison"/>
          <p:cNvSpPr/>
          <p:nvPr/>
        </p:nvSpPr>
        <p:spPr>
          <a:xfrm>
            <a:off x="457200" y="1470211"/>
            <a:ext cx="2606040" cy="1417320"/>
          </a:xfrm>
          <a:prstGeom prst="rect">
            <a:avLst/>
          </a:prstGeom>
          <a:solidFill>
            <a:schemeClr val="bg2"/>
          </a:solidFill>
          <a:ln w="12700">
            <a:solidFill>
              <a:schemeClr val="bg2"/>
            </a:solidFill>
            <a:prstDash val="solid"/>
          </a:ln>
        </p:spPr>
        <p:txBody>
          <a:bodyPr/>
          <a:lstStyle/>
          <a:p>
            <a:endParaRPr lang="pt-PT"/>
          </a:p>
        </p:txBody>
      </p:sp>
      <p:sp>
        <p:nvSpPr>
          <p:cNvPr id="4" name="Stat Maddison text"/>
          <p:cNvSpPr txBox="1"/>
          <p:nvPr/>
        </p:nvSpPr>
        <p:spPr>
          <a:xfrm>
            <a:off x="548640" y="1470211"/>
            <a:ext cx="2423160" cy="1417320"/>
          </a:xfrm>
          <a:prstGeom prst="rect">
            <a:avLst/>
          </a:prstGeom>
          <a:noFill/>
          <a:ln/>
        </p:spPr>
        <p:txBody>
          <a:bodyPr wrap="square" rtlCol="0" anchor="ctr"/>
          <a:lstStyle/>
          <a:p>
            <a:pPr marL="0" indent="0" algn="ctr">
              <a:buNone/>
            </a:pPr>
            <a:r>
              <a:rPr lang="en-US" sz="3000" b="1" dirty="0">
                <a:solidFill>
                  <a:schemeClr val="accent1"/>
                </a:solidFill>
              </a:rPr>
              <a:t>4,349</a:t>
            </a:r>
            <a:endParaRPr lang="en-US" sz="3000" dirty="0"/>
          </a:p>
          <a:p>
            <a:pPr marL="0" indent="0" algn="ctr">
              <a:buNone/>
            </a:pPr>
            <a:r>
              <a:rPr lang="en-US" sz="1400" b="1" dirty="0">
                <a:solidFill>
                  <a:schemeClr val="tx1"/>
                </a:solidFill>
              </a:rPr>
              <a:t>stg_maddison</a:t>
            </a:r>
            <a:endParaRPr lang="en-US" sz="3000" dirty="0"/>
          </a:p>
          <a:p>
            <a:pPr marL="0" indent="0" algn="ctr">
              <a:buNone/>
            </a:pPr>
            <a:r>
              <a:rPr lang="en-US" sz="1200" dirty="0">
                <a:solidFill>
                  <a:schemeClr val="accent2"/>
                </a:solidFill>
              </a:rPr>
              <a:t>4,350 lines incl. header</a:t>
            </a:r>
            <a:endParaRPr lang="en-US" sz="3000" dirty="0"/>
          </a:p>
        </p:txBody>
      </p:sp>
      <p:sp>
        <p:nvSpPr>
          <p:cNvPr id="5" name="Stat Events"/>
          <p:cNvSpPr/>
          <p:nvPr/>
        </p:nvSpPr>
        <p:spPr>
          <a:xfrm>
            <a:off x="3268980" y="1470211"/>
            <a:ext cx="2606040" cy="1417320"/>
          </a:xfrm>
          <a:prstGeom prst="rect">
            <a:avLst/>
          </a:prstGeom>
          <a:solidFill>
            <a:schemeClr val="bg2"/>
          </a:solidFill>
          <a:ln w="12700">
            <a:solidFill>
              <a:schemeClr val="bg2"/>
            </a:solidFill>
            <a:prstDash val="solid"/>
          </a:ln>
        </p:spPr>
        <p:txBody>
          <a:bodyPr/>
          <a:lstStyle/>
          <a:p>
            <a:endParaRPr lang="pt-PT"/>
          </a:p>
        </p:txBody>
      </p:sp>
      <p:sp>
        <p:nvSpPr>
          <p:cNvPr id="6" name="Stat Events text"/>
          <p:cNvSpPr txBox="1"/>
          <p:nvPr/>
        </p:nvSpPr>
        <p:spPr>
          <a:xfrm>
            <a:off x="3360420" y="1470211"/>
            <a:ext cx="2423160" cy="1417320"/>
          </a:xfrm>
          <a:prstGeom prst="rect">
            <a:avLst/>
          </a:prstGeom>
          <a:noFill/>
          <a:ln/>
        </p:spPr>
        <p:txBody>
          <a:bodyPr wrap="square" rtlCol="0" anchor="ctr"/>
          <a:lstStyle/>
          <a:p>
            <a:pPr marL="0" indent="0" algn="ctr">
              <a:buNone/>
            </a:pPr>
            <a:r>
              <a:rPr lang="en-US" sz="3000" b="1" dirty="0">
                <a:solidFill>
                  <a:schemeClr val="accent1"/>
                </a:solidFill>
              </a:rPr>
              <a:t>387</a:t>
            </a:r>
            <a:endParaRPr lang="en-US" sz="3000" dirty="0"/>
          </a:p>
          <a:p>
            <a:pPr marL="0" indent="0" algn="ctr">
              <a:buNone/>
            </a:pPr>
            <a:r>
              <a:rPr lang="en-US" sz="1400" b="1" dirty="0">
                <a:solidFill>
                  <a:schemeClr val="tx1"/>
                </a:solidFill>
              </a:rPr>
              <a:t>stg_events</a:t>
            </a:r>
            <a:endParaRPr lang="en-US" sz="3000" dirty="0"/>
          </a:p>
          <a:p>
            <a:pPr marL="0" indent="0" algn="ctr">
              <a:buNone/>
            </a:pPr>
            <a:r>
              <a:rPr lang="en-US" sz="1200" dirty="0">
                <a:solidFill>
                  <a:schemeClr val="accent2"/>
                </a:solidFill>
              </a:rPr>
              <a:t>388 lines incl. header</a:t>
            </a:r>
            <a:endParaRPr lang="en-US" sz="3000" dirty="0"/>
          </a:p>
        </p:txBody>
      </p:sp>
      <p:sp>
        <p:nvSpPr>
          <p:cNvPr id="7" name="Stat WDI"/>
          <p:cNvSpPr/>
          <p:nvPr/>
        </p:nvSpPr>
        <p:spPr>
          <a:xfrm>
            <a:off x="6080760" y="1470211"/>
            <a:ext cx="2606040" cy="1417320"/>
          </a:xfrm>
          <a:prstGeom prst="rect">
            <a:avLst/>
          </a:prstGeom>
          <a:solidFill>
            <a:schemeClr val="bg2"/>
          </a:solidFill>
          <a:ln w="12700">
            <a:solidFill>
              <a:schemeClr val="bg2"/>
            </a:solidFill>
            <a:prstDash val="solid"/>
          </a:ln>
        </p:spPr>
        <p:txBody>
          <a:bodyPr/>
          <a:lstStyle/>
          <a:p>
            <a:endParaRPr lang="pt-PT"/>
          </a:p>
        </p:txBody>
      </p:sp>
      <p:sp>
        <p:nvSpPr>
          <p:cNvPr id="8" name="Stat WDI text"/>
          <p:cNvSpPr txBox="1"/>
          <p:nvPr/>
        </p:nvSpPr>
        <p:spPr>
          <a:xfrm>
            <a:off x="6172200" y="1470211"/>
            <a:ext cx="2423160" cy="1417320"/>
          </a:xfrm>
          <a:prstGeom prst="rect">
            <a:avLst/>
          </a:prstGeom>
          <a:noFill/>
          <a:ln/>
        </p:spPr>
        <p:txBody>
          <a:bodyPr wrap="square" rtlCol="0" anchor="ctr"/>
          <a:lstStyle/>
          <a:p>
            <a:pPr marL="0" indent="0" algn="ctr">
              <a:buNone/>
            </a:pPr>
            <a:r>
              <a:rPr lang="en-US" sz="3000" b="1" dirty="0">
                <a:solidFill>
                  <a:schemeClr val="accent1"/>
                </a:solidFill>
              </a:rPr>
              <a:t>11,371</a:t>
            </a:r>
            <a:endParaRPr lang="en-US" sz="3000" dirty="0"/>
          </a:p>
          <a:p>
            <a:pPr marL="0" indent="0" algn="ctr">
              <a:buNone/>
            </a:pPr>
            <a:r>
              <a:rPr lang="en-US" sz="1400" b="1" dirty="0">
                <a:solidFill>
                  <a:schemeClr val="tx1"/>
                </a:solidFill>
              </a:rPr>
              <a:t>stg_wdi</a:t>
            </a:r>
            <a:endParaRPr lang="en-US" sz="3000" dirty="0"/>
          </a:p>
          <a:p>
            <a:pPr marL="0" indent="0" algn="ctr">
              <a:buNone/>
            </a:pPr>
            <a:r>
              <a:rPr lang="en-US" sz="1200" dirty="0">
                <a:solidFill>
                  <a:schemeClr val="accent2"/>
                </a:solidFill>
              </a:rPr>
              <a:t>11,372 lines incl. header</a:t>
            </a:r>
            <a:endParaRPr lang="en-US" sz="3000" dirty="0"/>
          </a:p>
        </p:txBody>
      </p:sp>
      <p:pic>
        <p:nvPicPr>
          <p:cNvPr id="14" name="Imagem 13" descr="Uma imagem com texto, captura de ecrã, branco, recibo&#10;&#10;Descrição gerada automaticamente">
            <a:extLst>
              <a:ext uri="{FF2B5EF4-FFF2-40B4-BE49-F238E27FC236}">
                <a16:creationId xmlns:a16="http://schemas.microsoft.com/office/drawing/2014/main" id="{284E8ED2-8F49-B60B-7C3D-A009F2C3C8B4}"/>
              </a:ext>
            </a:extLst>
          </p:cNvPr>
          <p:cNvPicPr>
            <a:picLocks noChangeAspect="1"/>
          </p:cNvPicPr>
          <p:nvPr/>
        </p:nvPicPr>
        <p:blipFill>
          <a:blip r:embed="rId3"/>
          <a:stretch>
            <a:fillRect/>
          </a:stretch>
        </p:blipFill>
        <p:spPr>
          <a:xfrm>
            <a:off x="201132" y="3429000"/>
            <a:ext cx="5212199" cy="1575330"/>
          </a:xfrm>
          <a:prstGeom prst="rect">
            <a:avLst/>
          </a:prstGeom>
        </p:spPr>
      </p:pic>
      <p:pic>
        <p:nvPicPr>
          <p:cNvPr id="16" name="Imagem 15" descr="Uma imagem com texto, Tipo de letra, captura de ecrã, branco&#10;&#10;Descrição gerada automaticamente">
            <a:extLst>
              <a:ext uri="{FF2B5EF4-FFF2-40B4-BE49-F238E27FC236}">
                <a16:creationId xmlns:a16="http://schemas.microsoft.com/office/drawing/2014/main" id="{BE6F3C4D-44F8-4030-FFF1-842820AA95CE}"/>
              </a:ext>
            </a:extLst>
          </p:cNvPr>
          <p:cNvPicPr>
            <a:picLocks noChangeAspect="1"/>
          </p:cNvPicPr>
          <p:nvPr/>
        </p:nvPicPr>
        <p:blipFill>
          <a:blip r:embed="rId4"/>
          <a:stretch>
            <a:fillRect/>
          </a:stretch>
        </p:blipFill>
        <p:spPr>
          <a:xfrm>
            <a:off x="5445164" y="3429000"/>
            <a:ext cx="3497704" cy="18762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868680"/>
          </a:xfrm>
          <a:prstGeom prst="rect">
            <a:avLst/>
          </a:prstGeom>
          <a:noFill/>
          <a:ln/>
        </p:spPr>
        <p:txBody>
          <a:bodyPr wrap="square" lIns="0" tIns="0" rIns="0" bIns="0" rtlCol="0" anchor="ctr"/>
          <a:lstStyle/>
          <a:p>
            <a:pPr marL="0" indent="0" algn="ctr">
              <a:buNone/>
            </a:pPr>
            <a:r>
              <a:rPr lang="en-US" sz="3000" b="1" dirty="0">
                <a:solidFill>
                  <a:schemeClr val="accent1"/>
                </a:solidFill>
              </a:rPr>
              <a:t>Profiling</a:t>
            </a:r>
            <a:r>
              <a:rPr lang="en-US" b="1" dirty="0"/>
              <a:t> - </a:t>
            </a:r>
            <a:r>
              <a:rPr lang="en-US" sz="3000" b="1" dirty="0">
                <a:solidFill>
                  <a:schemeClr val="accent1"/>
                </a:solidFill>
              </a:rPr>
              <a:t>six sections of queries (overview)</a:t>
            </a:r>
            <a:endParaRPr lang="en-US" sz="3000" b="1" dirty="0"/>
          </a:p>
        </p:txBody>
      </p:sp>
      <p:graphicFrame>
        <p:nvGraphicFramePr>
          <p:cNvPr id="10" name="Profiling table"/>
          <p:cNvGraphicFramePr>
            <a:graphicFrameLocks noGrp="1"/>
          </p:cNvGraphicFramePr>
          <p:nvPr>
            <p:extLst>
              <p:ext uri="{D42A27DB-BD31-4B8C-83A1-F6EECF244321}">
                <p14:modId xmlns:p14="http://schemas.microsoft.com/office/powerpoint/2010/main" val="2646440036"/>
              </p:ext>
            </p:extLst>
          </p:nvPr>
        </p:nvGraphicFramePr>
        <p:xfrm>
          <a:off x="457200" y="1669473"/>
          <a:ext cx="8229600" cy="3745992"/>
        </p:xfrm>
        <a:graphic>
          <a:graphicData uri="http://schemas.openxmlformats.org/drawingml/2006/table">
            <a:tbl>
              <a:tblPr/>
              <a:tblGrid>
                <a:gridCol w="21031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282910">
                <a:tc>
                  <a:txBody>
                    <a:bodyPr/>
                    <a:lstStyle/>
                    <a:p>
                      <a:pPr marL="0" indent="0">
                        <a:buNone/>
                      </a:pPr>
                      <a:r>
                        <a:rPr lang="en-US" sz="1300" b="1" dirty="0">
                          <a:solidFill>
                            <a:schemeClr val="bg1"/>
                          </a:solidFill>
                        </a:rPr>
                        <a:t>Section</a:t>
                      </a:r>
                      <a:endParaRPr lang="en-US" sz="13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Question</a:t>
                      </a:r>
                      <a:endParaRPr lang="en-US" sz="13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Key fact found</a:t>
                      </a:r>
                      <a:endParaRPr lang="en-US" sz="13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chemeClr val="accent1"/>
                          </a:solidFill>
                        </a:rPr>
                        <a:t>1. Row count per table</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Which countries are in each source?</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EU missing only in Maddison</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200" b="1" dirty="0">
                          <a:solidFill>
                            <a:schemeClr val="accent1"/>
                          </a:solidFill>
                        </a:rPr>
                        <a:t>2. Year ranges</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Which years per source and country?</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1900–2025 overall but some gaps in the East</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200" b="1" dirty="0">
                          <a:solidFill>
                            <a:schemeClr val="accent1"/>
                          </a:solidFill>
                        </a:rPr>
                        <a:t>3. WDI coverage</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Since when is each indicator available?</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Sectors from 1995 and employment from 1991</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200" b="1" dirty="0">
                          <a:solidFill>
                            <a:schemeClr val="accent1"/>
                          </a:solidFill>
                        </a:rPr>
                        <a:t>4. Missing values</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Where is data missing?</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0 NULLs missing data = absent rows</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200" b="1" dirty="0">
                          <a:solidFill>
                            <a:schemeClr val="accent1"/>
                          </a:solidFill>
                        </a:rPr>
                        <a:t>5. Data integrity</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Are there duplicates? Consistent values?</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0 duplicates gdp = gdppc × pop × 1000</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200" b="1" dirty="0">
                          <a:solidFill>
                            <a:schemeClr val="accent1"/>
                          </a:solidFill>
                        </a:rPr>
                        <a:t>6. Historical events</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How are events distributed?</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Portugal 125 of 387</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BC6D05F9-6F8E-F646-466C-CFC49988CC71}"/>
              </a:ext>
            </a:extLst>
          </p:cNvPr>
          <p:cNvSpPr>
            <a:spLocks noGrp="1"/>
          </p:cNvSpPr>
          <p:nvPr>
            <p:ph type="title" idx="101" hasCustomPrompt="1"/>
          </p:nvPr>
        </p:nvSpPr>
        <p:spPr>
          <a:xfrm>
            <a:off x="65809" y="135618"/>
            <a:ext cx="9012382" cy="868680"/>
          </a:xfrm>
          <a:prstGeom prst="rect">
            <a:avLst/>
          </a:prstGeom>
          <a:noFill/>
          <a:ln/>
        </p:spPr>
        <p:txBody>
          <a:bodyPr wrap="square" lIns="0" tIns="0" rIns="0" bIns="0" rtlCol="0" anchor="ctr"/>
          <a:lstStyle/>
          <a:p>
            <a:pPr marL="0" indent="0" algn="ctr">
              <a:buNone/>
            </a:pPr>
            <a:r>
              <a:rPr lang="en-US" sz="3000" b="1" dirty="0">
                <a:solidFill>
                  <a:schemeClr val="accent1"/>
                </a:solidFill>
              </a:rPr>
              <a:t>Profiling</a:t>
            </a:r>
            <a:r>
              <a:rPr lang="en-US" b="1" dirty="0"/>
              <a:t> </a:t>
            </a:r>
            <a:r>
              <a:rPr lang="en-US" sz="3000" b="1" dirty="0">
                <a:solidFill>
                  <a:schemeClr val="accent1"/>
                </a:solidFill>
              </a:rPr>
              <a:t>(query screenshots)</a:t>
            </a:r>
            <a:endParaRPr lang="en-US" sz="3000" b="1" dirty="0"/>
          </a:p>
        </p:txBody>
      </p:sp>
      <p:pic>
        <p:nvPicPr>
          <p:cNvPr id="17" name="Imagem 16" descr="Uma imagem com texto, Tipo de letra, captura de ecrã, branco&#10;&#10;Descrição gerada automaticamente">
            <a:extLst>
              <a:ext uri="{FF2B5EF4-FFF2-40B4-BE49-F238E27FC236}">
                <a16:creationId xmlns:a16="http://schemas.microsoft.com/office/drawing/2014/main" id="{429D09AA-0125-6E43-482C-7714E59DDD6B}"/>
              </a:ext>
            </a:extLst>
          </p:cNvPr>
          <p:cNvPicPr>
            <a:picLocks noChangeAspect="1"/>
          </p:cNvPicPr>
          <p:nvPr/>
        </p:nvPicPr>
        <p:blipFill>
          <a:blip r:embed="rId3"/>
          <a:stretch>
            <a:fillRect/>
          </a:stretch>
        </p:blipFill>
        <p:spPr>
          <a:xfrm>
            <a:off x="483561" y="1243589"/>
            <a:ext cx="2719324" cy="1387793"/>
          </a:xfrm>
          <a:prstGeom prst="rect">
            <a:avLst/>
          </a:prstGeom>
        </p:spPr>
      </p:pic>
      <p:pic>
        <p:nvPicPr>
          <p:cNvPr id="21" name="Imagem 20" descr="Uma imagem com texto, Tipo de letra, captura de ecrã, branco&#10;&#10;Descrição gerada automaticamente">
            <a:extLst>
              <a:ext uri="{FF2B5EF4-FFF2-40B4-BE49-F238E27FC236}">
                <a16:creationId xmlns:a16="http://schemas.microsoft.com/office/drawing/2014/main" id="{266BDAFF-1B09-DCC6-7B7C-B47E9F5F00D7}"/>
              </a:ext>
            </a:extLst>
          </p:cNvPr>
          <p:cNvPicPr>
            <a:picLocks noChangeAspect="1"/>
          </p:cNvPicPr>
          <p:nvPr/>
        </p:nvPicPr>
        <p:blipFill>
          <a:blip r:embed="rId4"/>
          <a:stretch>
            <a:fillRect/>
          </a:stretch>
        </p:blipFill>
        <p:spPr>
          <a:xfrm>
            <a:off x="3926003" y="1243589"/>
            <a:ext cx="4734436" cy="1211506"/>
          </a:xfrm>
          <a:prstGeom prst="rect">
            <a:avLst/>
          </a:prstGeom>
        </p:spPr>
      </p:pic>
      <p:pic>
        <p:nvPicPr>
          <p:cNvPr id="25" name="Imagem 24" descr="Uma imagem com texto, padrão, captura de ecrã, preto e branco&#10;&#10;Descrição gerada automaticamente">
            <a:extLst>
              <a:ext uri="{FF2B5EF4-FFF2-40B4-BE49-F238E27FC236}">
                <a16:creationId xmlns:a16="http://schemas.microsoft.com/office/drawing/2014/main" id="{BDACE426-0344-9D57-4AF6-2D8316712ED4}"/>
              </a:ext>
            </a:extLst>
          </p:cNvPr>
          <p:cNvPicPr>
            <a:picLocks noChangeAspect="1"/>
          </p:cNvPicPr>
          <p:nvPr/>
        </p:nvPicPr>
        <p:blipFill>
          <a:blip r:embed="rId5"/>
          <a:stretch>
            <a:fillRect/>
          </a:stretch>
        </p:blipFill>
        <p:spPr>
          <a:xfrm>
            <a:off x="483561" y="2800474"/>
            <a:ext cx="5349490" cy="2036211"/>
          </a:xfrm>
          <a:prstGeom prst="rect">
            <a:avLst/>
          </a:prstGeom>
        </p:spPr>
      </p:pic>
      <p:pic>
        <p:nvPicPr>
          <p:cNvPr id="29" name="Imagem 28" descr="Uma imagem com texto, Tipo de letra, captura de ecrã, file&#10;&#10;Descrição gerada automaticamente">
            <a:extLst>
              <a:ext uri="{FF2B5EF4-FFF2-40B4-BE49-F238E27FC236}">
                <a16:creationId xmlns:a16="http://schemas.microsoft.com/office/drawing/2014/main" id="{E4B25802-2AFB-2BCE-42A1-5D9441DC575E}"/>
              </a:ext>
            </a:extLst>
          </p:cNvPr>
          <p:cNvPicPr>
            <a:picLocks noChangeAspect="1"/>
          </p:cNvPicPr>
          <p:nvPr/>
        </p:nvPicPr>
        <p:blipFill>
          <a:blip r:embed="rId6"/>
          <a:stretch>
            <a:fillRect/>
          </a:stretch>
        </p:blipFill>
        <p:spPr>
          <a:xfrm>
            <a:off x="3502982" y="5652469"/>
            <a:ext cx="4461982" cy="635573"/>
          </a:xfrm>
          <a:prstGeom prst="rect">
            <a:avLst/>
          </a:prstGeom>
        </p:spPr>
      </p:pic>
      <p:pic>
        <p:nvPicPr>
          <p:cNvPr id="31" name="Imagem 30" descr="Uma imagem com texto, Tipo de letra, captura de ecrã, branco&#10;&#10;Descrição gerada automaticamente">
            <a:extLst>
              <a:ext uri="{FF2B5EF4-FFF2-40B4-BE49-F238E27FC236}">
                <a16:creationId xmlns:a16="http://schemas.microsoft.com/office/drawing/2014/main" id="{902FD39B-7CE0-0294-2454-FA53C9B9649D}"/>
              </a:ext>
            </a:extLst>
          </p:cNvPr>
          <p:cNvPicPr>
            <a:picLocks noChangeAspect="1"/>
          </p:cNvPicPr>
          <p:nvPr/>
        </p:nvPicPr>
        <p:blipFill>
          <a:blip r:embed="rId7"/>
          <a:stretch>
            <a:fillRect/>
          </a:stretch>
        </p:blipFill>
        <p:spPr>
          <a:xfrm>
            <a:off x="682419" y="4924829"/>
            <a:ext cx="2336800" cy="939800"/>
          </a:xfrm>
          <a:prstGeom prst="rect">
            <a:avLst/>
          </a:prstGeom>
        </p:spPr>
      </p:pic>
      <p:pic>
        <p:nvPicPr>
          <p:cNvPr id="33" name="Imagem 32" descr="Uma imagem com texto, captura de ecrã, Tipo de letra, número&#10;&#10;Descrição gerada automaticamente">
            <a:extLst>
              <a:ext uri="{FF2B5EF4-FFF2-40B4-BE49-F238E27FC236}">
                <a16:creationId xmlns:a16="http://schemas.microsoft.com/office/drawing/2014/main" id="{A98C4113-3C30-1426-C72B-51471298304C}"/>
              </a:ext>
            </a:extLst>
          </p:cNvPr>
          <p:cNvPicPr>
            <a:picLocks noChangeAspect="1"/>
          </p:cNvPicPr>
          <p:nvPr/>
        </p:nvPicPr>
        <p:blipFill>
          <a:blip r:embed="rId8"/>
          <a:stretch>
            <a:fillRect/>
          </a:stretch>
        </p:blipFill>
        <p:spPr>
          <a:xfrm>
            <a:off x="6183939" y="2631382"/>
            <a:ext cx="2476500" cy="2844800"/>
          </a:xfrm>
          <a:prstGeom prst="rect">
            <a:avLst/>
          </a:prstGeom>
        </p:spPr>
      </p:pic>
    </p:spTree>
    <p:extLst>
      <p:ext uri="{BB962C8B-B14F-4D97-AF65-F5344CB8AC3E}">
        <p14:creationId xmlns:p14="http://schemas.microsoft.com/office/powerpoint/2010/main" val="3125998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66793"/>
            <a:ext cx="8229600" cy="868680"/>
          </a:xfrm>
          <a:prstGeom prst="rect">
            <a:avLst/>
          </a:prstGeom>
          <a:noFill/>
          <a:ln/>
        </p:spPr>
        <p:txBody>
          <a:bodyPr wrap="square" lIns="0" tIns="0" rIns="0" bIns="0" rtlCol="0" anchor="ctr"/>
          <a:lstStyle/>
          <a:p>
            <a:pPr marL="0" indent="0" algn="ctr">
              <a:buNone/>
            </a:pPr>
            <a:r>
              <a:rPr lang="en-US" sz="3000" b="1" dirty="0">
                <a:solidFill>
                  <a:schemeClr val="accent1"/>
                </a:solidFill>
              </a:rPr>
              <a:t>Data dictionaries</a:t>
            </a:r>
            <a:endParaRPr lang="en-US" sz="3000" b="1" dirty="0"/>
          </a:p>
        </p:txBody>
      </p:sp>
      <p:sp>
        <p:nvSpPr>
          <p:cNvPr id="3" name="Dictionary Maddison"/>
          <p:cNvSpPr/>
          <p:nvPr/>
        </p:nvSpPr>
        <p:spPr>
          <a:xfrm>
            <a:off x="457200" y="1059873"/>
            <a:ext cx="2606040" cy="3931920"/>
          </a:xfrm>
          <a:prstGeom prst="rect">
            <a:avLst/>
          </a:prstGeom>
          <a:solidFill>
            <a:schemeClr val="bg2"/>
          </a:solidFill>
          <a:ln w="12700">
            <a:solidFill>
              <a:schemeClr val="bg2"/>
            </a:solidFill>
            <a:prstDash val="solid"/>
          </a:ln>
        </p:spPr>
        <p:txBody>
          <a:bodyPr/>
          <a:lstStyle/>
          <a:p>
            <a:endParaRPr lang="pt-PT" dirty="0"/>
          </a:p>
        </p:txBody>
      </p:sp>
      <p:sp>
        <p:nvSpPr>
          <p:cNvPr id="4" name="Dictionary Maddison header"/>
          <p:cNvSpPr/>
          <p:nvPr/>
        </p:nvSpPr>
        <p:spPr>
          <a:xfrm>
            <a:off x="457200" y="1059873"/>
            <a:ext cx="2606040" cy="594360"/>
          </a:xfrm>
          <a:prstGeom prst="rect">
            <a:avLst/>
          </a:prstGeom>
          <a:solidFill>
            <a:schemeClr val="accent1"/>
          </a:solidFill>
          <a:ln w="12700">
            <a:solidFill>
              <a:schemeClr val="accent1"/>
            </a:solidFill>
            <a:prstDash val="solid"/>
          </a:ln>
        </p:spPr>
        <p:txBody>
          <a:bodyPr/>
          <a:lstStyle/>
          <a:p>
            <a:endParaRPr lang="pt-PT"/>
          </a:p>
        </p:txBody>
      </p:sp>
      <p:sp>
        <p:nvSpPr>
          <p:cNvPr id="5" name="Dictionary Maddison title"/>
          <p:cNvSpPr txBox="1"/>
          <p:nvPr/>
        </p:nvSpPr>
        <p:spPr>
          <a:xfrm>
            <a:off x="457200" y="1059873"/>
            <a:ext cx="2606040" cy="594360"/>
          </a:xfrm>
          <a:prstGeom prst="rect">
            <a:avLst/>
          </a:prstGeom>
          <a:noFill/>
          <a:ln/>
        </p:spPr>
        <p:txBody>
          <a:bodyPr wrap="square" rtlCol="0" anchor="ctr"/>
          <a:lstStyle/>
          <a:p>
            <a:pPr marL="0" indent="0" algn="ctr">
              <a:buNone/>
            </a:pPr>
            <a:r>
              <a:rPr lang="en-US" sz="1800" b="1" dirty="0">
                <a:solidFill>
                  <a:schemeClr val="bg1"/>
                </a:solidFill>
              </a:rPr>
              <a:t>Maddison</a:t>
            </a:r>
            <a:endParaRPr lang="en-US" sz="1800" dirty="0"/>
          </a:p>
        </p:txBody>
      </p:sp>
      <p:sp>
        <p:nvSpPr>
          <p:cNvPr id="6" name="Dictionary Maddison stats"/>
          <p:cNvSpPr txBox="1"/>
          <p:nvPr/>
        </p:nvSpPr>
        <p:spPr>
          <a:xfrm>
            <a:off x="594360" y="1745673"/>
            <a:ext cx="2331720" cy="548640"/>
          </a:xfrm>
          <a:prstGeom prst="rect">
            <a:avLst/>
          </a:prstGeom>
          <a:noFill/>
          <a:ln/>
        </p:spPr>
        <p:txBody>
          <a:bodyPr wrap="square" rtlCol="0" anchor="ctr"/>
          <a:lstStyle/>
          <a:p>
            <a:pPr marL="0" indent="0">
              <a:buNone/>
            </a:pPr>
            <a:r>
              <a:rPr lang="en-US" sz="1200" b="1" dirty="0">
                <a:solidFill>
                  <a:schemeClr val="accent1"/>
                </a:solidFill>
              </a:rPr>
              <a:t>4,349 rows · 15 countries · 1900–2022</a:t>
            </a:r>
            <a:endParaRPr lang="en-US" sz="1200" dirty="0">
              <a:solidFill>
                <a:schemeClr val="accent1"/>
              </a:solidFill>
            </a:endParaRPr>
          </a:p>
        </p:txBody>
      </p:sp>
      <p:sp>
        <p:nvSpPr>
          <p:cNvPr id="7" name="Dictionary Maddison bullets"/>
          <p:cNvSpPr txBox="1"/>
          <p:nvPr/>
        </p:nvSpPr>
        <p:spPr>
          <a:xfrm>
            <a:off x="594360" y="2414156"/>
            <a:ext cx="2331720" cy="1629641"/>
          </a:xfrm>
          <a:prstGeom prst="rect">
            <a:avLst/>
          </a:prstGeom>
          <a:noFill/>
          <a:ln/>
        </p:spPr>
        <p:txBody>
          <a:bodyPr wrap="square" rtlCol="0" anchor="t"/>
          <a:lstStyle/>
          <a:p>
            <a:pPr>
              <a:spcAft>
                <a:spcPts val="800"/>
              </a:spcAft>
              <a:buSzPct val="100000"/>
            </a:pPr>
            <a:r>
              <a:rPr lang="en-US" sz="1200" b="1" dirty="0">
                <a:solidFill>
                  <a:schemeClr val="accent1"/>
                </a:solidFill>
              </a:rPr>
              <a:t>Particularities and data quality:</a:t>
            </a:r>
          </a:p>
          <a:p>
            <a:pPr>
              <a:spcAft>
                <a:spcPts val="800"/>
              </a:spcAft>
              <a:buSzPct val="100000"/>
            </a:pPr>
            <a:endParaRPr lang="en-US" sz="1200" b="1" dirty="0">
              <a:solidFill>
                <a:schemeClr val="accent1"/>
              </a:solidFill>
            </a:endParaRPr>
          </a:p>
          <a:p>
            <a:pPr marL="342900" indent="-342900">
              <a:spcAft>
                <a:spcPts val="800"/>
              </a:spcAft>
              <a:buSzPct val="100000"/>
              <a:buFont typeface="Wingdings" pitchFamily="2" charset="2"/>
              <a:buChar char="Ø"/>
            </a:pPr>
            <a:r>
              <a:rPr lang="en-US" sz="1200" dirty="0"/>
              <a:t>EU missing</a:t>
            </a:r>
          </a:p>
          <a:p>
            <a:pPr marL="342900" indent="-342900">
              <a:spcAft>
                <a:spcPts val="800"/>
              </a:spcAft>
              <a:buSzPct val="100000"/>
              <a:buFont typeface="Wingdings" pitchFamily="2" charset="2"/>
              <a:buChar char="Ø"/>
            </a:pPr>
            <a:r>
              <a:rPr lang="en-US" sz="1200" dirty="0"/>
              <a:t>Missing data as absent rows</a:t>
            </a:r>
          </a:p>
          <a:p>
            <a:pPr marL="342900" indent="-342900">
              <a:spcAft>
                <a:spcPts val="800"/>
              </a:spcAft>
              <a:buSzPct val="100000"/>
              <a:buFont typeface="Wingdings" pitchFamily="2" charset="2"/>
              <a:buChar char="Ø"/>
            </a:pPr>
            <a:r>
              <a:rPr lang="en-US" sz="1200" dirty="0"/>
              <a:t>Romania – misalign indicators</a:t>
            </a:r>
          </a:p>
        </p:txBody>
      </p:sp>
      <p:sp>
        <p:nvSpPr>
          <p:cNvPr id="9" name="Dictionary WDI"/>
          <p:cNvSpPr/>
          <p:nvPr/>
        </p:nvSpPr>
        <p:spPr>
          <a:xfrm>
            <a:off x="3268980" y="1059873"/>
            <a:ext cx="2606040" cy="3931920"/>
          </a:xfrm>
          <a:prstGeom prst="rect">
            <a:avLst/>
          </a:prstGeom>
          <a:solidFill>
            <a:schemeClr val="bg2"/>
          </a:solidFill>
          <a:ln w="12700">
            <a:solidFill>
              <a:schemeClr val="bg2"/>
            </a:solidFill>
            <a:prstDash val="solid"/>
          </a:ln>
        </p:spPr>
        <p:txBody>
          <a:bodyPr/>
          <a:lstStyle/>
          <a:p>
            <a:endParaRPr lang="pt-PT"/>
          </a:p>
        </p:txBody>
      </p:sp>
      <p:sp>
        <p:nvSpPr>
          <p:cNvPr id="10" name="Dictionary WDI header"/>
          <p:cNvSpPr/>
          <p:nvPr/>
        </p:nvSpPr>
        <p:spPr>
          <a:xfrm>
            <a:off x="3268980" y="1059873"/>
            <a:ext cx="2606040" cy="594360"/>
          </a:xfrm>
          <a:prstGeom prst="rect">
            <a:avLst/>
          </a:prstGeom>
          <a:solidFill>
            <a:schemeClr val="accent1"/>
          </a:solidFill>
          <a:ln w="12700">
            <a:solidFill>
              <a:schemeClr val="accent1"/>
            </a:solidFill>
            <a:prstDash val="solid"/>
          </a:ln>
        </p:spPr>
        <p:txBody>
          <a:bodyPr/>
          <a:lstStyle/>
          <a:p>
            <a:endParaRPr lang="pt-PT"/>
          </a:p>
        </p:txBody>
      </p:sp>
      <p:sp>
        <p:nvSpPr>
          <p:cNvPr id="11" name="Dictionary WDI title"/>
          <p:cNvSpPr txBox="1"/>
          <p:nvPr/>
        </p:nvSpPr>
        <p:spPr>
          <a:xfrm>
            <a:off x="3268980" y="1059873"/>
            <a:ext cx="2606040" cy="594360"/>
          </a:xfrm>
          <a:prstGeom prst="rect">
            <a:avLst/>
          </a:prstGeom>
          <a:noFill/>
          <a:ln/>
        </p:spPr>
        <p:txBody>
          <a:bodyPr wrap="square" rtlCol="0" anchor="ctr"/>
          <a:lstStyle/>
          <a:p>
            <a:pPr marL="0" indent="0" algn="ctr">
              <a:buNone/>
            </a:pPr>
            <a:r>
              <a:rPr lang="en-US" sz="1800" b="1" dirty="0">
                <a:solidFill>
                  <a:schemeClr val="bg1"/>
                </a:solidFill>
              </a:rPr>
              <a:t>WDI</a:t>
            </a:r>
            <a:endParaRPr lang="en-US" sz="1800" dirty="0"/>
          </a:p>
        </p:txBody>
      </p:sp>
      <p:sp>
        <p:nvSpPr>
          <p:cNvPr id="12" name="Dictionary WDI stats"/>
          <p:cNvSpPr txBox="1"/>
          <p:nvPr/>
        </p:nvSpPr>
        <p:spPr>
          <a:xfrm>
            <a:off x="3406140" y="1745673"/>
            <a:ext cx="2331720" cy="548640"/>
          </a:xfrm>
          <a:prstGeom prst="rect">
            <a:avLst/>
          </a:prstGeom>
          <a:noFill/>
          <a:ln/>
        </p:spPr>
        <p:txBody>
          <a:bodyPr wrap="square" rtlCol="0" anchor="ctr"/>
          <a:lstStyle/>
          <a:p>
            <a:pPr marL="0" indent="0">
              <a:buNone/>
            </a:pPr>
            <a:r>
              <a:rPr lang="en-US" sz="1200" b="1" dirty="0">
                <a:solidFill>
                  <a:schemeClr val="accent1"/>
                </a:solidFill>
              </a:rPr>
              <a:t>11,371 rows · 16 entities · 1960–2025</a:t>
            </a:r>
            <a:endParaRPr lang="en-US" sz="1200" dirty="0">
              <a:solidFill>
                <a:schemeClr val="accent1"/>
              </a:solidFill>
            </a:endParaRPr>
          </a:p>
        </p:txBody>
      </p:sp>
      <p:sp>
        <p:nvSpPr>
          <p:cNvPr id="13" name="Dictionary WDI bullets"/>
          <p:cNvSpPr txBox="1"/>
          <p:nvPr/>
        </p:nvSpPr>
        <p:spPr>
          <a:xfrm>
            <a:off x="3406140" y="2414155"/>
            <a:ext cx="2331720" cy="2138449"/>
          </a:xfrm>
          <a:prstGeom prst="rect">
            <a:avLst/>
          </a:prstGeom>
          <a:noFill/>
          <a:ln/>
        </p:spPr>
        <p:txBody>
          <a:bodyPr wrap="square" rtlCol="0" anchor="t"/>
          <a:lstStyle/>
          <a:p>
            <a:pPr>
              <a:spcAft>
                <a:spcPts val="800"/>
              </a:spcAft>
              <a:buSzPct val="100000"/>
            </a:pPr>
            <a:r>
              <a:rPr lang="en-US" sz="1200" b="1" dirty="0">
                <a:solidFill>
                  <a:schemeClr val="accent1"/>
                </a:solidFill>
              </a:rPr>
              <a:t>Particularities and data quality:</a:t>
            </a:r>
          </a:p>
          <a:p>
            <a:pPr>
              <a:spcAft>
                <a:spcPts val="800"/>
              </a:spcAft>
              <a:buSzPct val="100000"/>
            </a:pPr>
            <a:endParaRPr lang="en-US" sz="1200" b="1" dirty="0">
              <a:solidFill>
                <a:schemeClr val="accent1"/>
              </a:solidFill>
            </a:endParaRPr>
          </a:p>
          <a:p>
            <a:pPr marL="342900" indent="-342900">
              <a:spcAft>
                <a:spcPts val="800"/>
              </a:spcAft>
              <a:buSzPct val="100000"/>
              <a:buFont typeface="Wingdings" pitchFamily="2" charset="2"/>
              <a:buChar char="Ø"/>
            </a:pPr>
            <a:r>
              <a:rPr lang="en-US" sz="1200" dirty="0"/>
              <a:t>Missing data as absent rows</a:t>
            </a:r>
          </a:p>
          <a:p>
            <a:pPr marL="342900" indent="-342900">
              <a:spcAft>
                <a:spcPts val="800"/>
              </a:spcAft>
              <a:buSzPct val="100000"/>
              <a:buFont typeface="Wingdings" pitchFamily="2" charset="2"/>
              <a:buChar char="Ø"/>
            </a:pPr>
            <a:r>
              <a:rPr lang="en-US" sz="1200" dirty="0"/>
              <a:t>EU included</a:t>
            </a:r>
          </a:p>
          <a:p>
            <a:pPr marL="342900" indent="-342900">
              <a:spcAft>
                <a:spcPts val="800"/>
              </a:spcAft>
              <a:buSzPct val="100000"/>
              <a:buFont typeface="Wingdings" pitchFamily="2" charset="2"/>
              <a:buChar char="Ø"/>
            </a:pPr>
            <a:r>
              <a:rPr lang="en-US" sz="1200" dirty="0"/>
              <a:t>Manufacturing is part of industry</a:t>
            </a:r>
          </a:p>
          <a:p>
            <a:pPr marL="342900" indent="-342900">
              <a:spcAft>
                <a:spcPts val="800"/>
              </a:spcAft>
              <a:buSzPct val="100000"/>
              <a:buFont typeface="Wingdings" pitchFamily="2" charset="2"/>
              <a:buChar char="Ø"/>
            </a:pPr>
            <a:r>
              <a:rPr lang="en-US" sz="1200" dirty="0"/>
              <a:t>No employment for manufacturing</a:t>
            </a:r>
          </a:p>
          <a:p>
            <a:pPr marL="342900" indent="-342900">
              <a:spcAft>
                <a:spcPts val="800"/>
              </a:spcAft>
              <a:buSzPct val="100000"/>
              <a:buFont typeface="Wingdings" pitchFamily="2" charset="2"/>
              <a:buChar char="Ø"/>
            </a:pPr>
            <a:r>
              <a:rPr lang="en-US" sz="1200" dirty="0"/>
              <a:t>Extreme GDP growth</a:t>
            </a:r>
          </a:p>
          <a:p>
            <a:pPr marL="342900" indent="-342900">
              <a:spcAft>
                <a:spcPts val="800"/>
              </a:spcAft>
              <a:buSzPct val="100000"/>
              <a:buChar char="•"/>
            </a:pPr>
            <a:endParaRPr lang="en-US" sz="1200" dirty="0"/>
          </a:p>
        </p:txBody>
      </p:sp>
      <p:sp>
        <p:nvSpPr>
          <p:cNvPr id="15" name="Dictionary Events"/>
          <p:cNvSpPr/>
          <p:nvPr/>
        </p:nvSpPr>
        <p:spPr>
          <a:xfrm>
            <a:off x="6080760" y="1059873"/>
            <a:ext cx="2606040" cy="3931920"/>
          </a:xfrm>
          <a:prstGeom prst="rect">
            <a:avLst/>
          </a:prstGeom>
          <a:solidFill>
            <a:schemeClr val="bg2"/>
          </a:solidFill>
          <a:ln w="12700">
            <a:solidFill>
              <a:schemeClr val="bg2"/>
            </a:solidFill>
            <a:prstDash val="solid"/>
          </a:ln>
        </p:spPr>
        <p:txBody>
          <a:bodyPr/>
          <a:lstStyle/>
          <a:p>
            <a:endParaRPr lang="pt-PT"/>
          </a:p>
        </p:txBody>
      </p:sp>
      <p:sp>
        <p:nvSpPr>
          <p:cNvPr id="16" name="Dictionary Events header"/>
          <p:cNvSpPr/>
          <p:nvPr/>
        </p:nvSpPr>
        <p:spPr>
          <a:xfrm>
            <a:off x="6080760" y="1059873"/>
            <a:ext cx="2606040" cy="594360"/>
          </a:xfrm>
          <a:prstGeom prst="rect">
            <a:avLst/>
          </a:prstGeom>
          <a:solidFill>
            <a:schemeClr val="accent1"/>
          </a:solidFill>
          <a:ln w="12700">
            <a:solidFill>
              <a:schemeClr val="accent1"/>
            </a:solidFill>
            <a:prstDash val="solid"/>
          </a:ln>
        </p:spPr>
        <p:txBody>
          <a:bodyPr/>
          <a:lstStyle/>
          <a:p>
            <a:endParaRPr lang="pt-PT"/>
          </a:p>
        </p:txBody>
      </p:sp>
      <p:sp>
        <p:nvSpPr>
          <p:cNvPr id="17" name="Dictionary Events title"/>
          <p:cNvSpPr txBox="1"/>
          <p:nvPr/>
        </p:nvSpPr>
        <p:spPr>
          <a:xfrm>
            <a:off x="6080760" y="1059873"/>
            <a:ext cx="2606040" cy="594360"/>
          </a:xfrm>
          <a:prstGeom prst="rect">
            <a:avLst/>
          </a:prstGeom>
          <a:noFill/>
          <a:ln/>
        </p:spPr>
        <p:txBody>
          <a:bodyPr wrap="square" rtlCol="0" anchor="ctr"/>
          <a:lstStyle/>
          <a:p>
            <a:pPr marL="0" indent="0" algn="ctr">
              <a:buNone/>
            </a:pPr>
            <a:r>
              <a:rPr lang="en-US" sz="1800" b="1" dirty="0">
                <a:solidFill>
                  <a:schemeClr val="bg1"/>
                </a:solidFill>
              </a:rPr>
              <a:t>Events</a:t>
            </a:r>
            <a:endParaRPr lang="en-US" sz="1800" dirty="0"/>
          </a:p>
        </p:txBody>
      </p:sp>
      <p:sp>
        <p:nvSpPr>
          <p:cNvPr id="18" name="Dictionary Events stats"/>
          <p:cNvSpPr txBox="1"/>
          <p:nvPr/>
        </p:nvSpPr>
        <p:spPr>
          <a:xfrm>
            <a:off x="6217920" y="1745673"/>
            <a:ext cx="2331720" cy="548640"/>
          </a:xfrm>
          <a:prstGeom prst="rect">
            <a:avLst/>
          </a:prstGeom>
          <a:noFill/>
          <a:ln/>
        </p:spPr>
        <p:txBody>
          <a:bodyPr wrap="square" rtlCol="0" anchor="ctr"/>
          <a:lstStyle/>
          <a:p>
            <a:pPr marL="0" indent="0">
              <a:buNone/>
            </a:pPr>
            <a:r>
              <a:rPr lang="en-US" sz="1200" b="1" dirty="0">
                <a:solidFill>
                  <a:schemeClr val="accent1"/>
                </a:solidFill>
              </a:rPr>
              <a:t>387 events · 16 entities · 1900–2025</a:t>
            </a:r>
            <a:endParaRPr lang="en-US" sz="1200" dirty="0">
              <a:solidFill>
                <a:schemeClr val="accent1"/>
              </a:solidFill>
            </a:endParaRPr>
          </a:p>
        </p:txBody>
      </p:sp>
      <p:sp>
        <p:nvSpPr>
          <p:cNvPr id="19" name="Dictionary Events bullets"/>
          <p:cNvSpPr txBox="1"/>
          <p:nvPr/>
        </p:nvSpPr>
        <p:spPr>
          <a:xfrm>
            <a:off x="6217920" y="2414155"/>
            <a:ext cx="2331720" cy="2321329"/>
          </a:xfrm>
          <a:prstGeom prst="rect">
            <a:avLst/>
          </a:prstGeom>
          <a:noFill/>
          <a:ln/>
        </p:spPr>
        <p:txBody>
          <a:bodyPr wrap="square" rtlCol="0" anchor="t"/>
          <a:lstStyle/>
          <a:p>
            <a:pPr>
              <a:spcAft>
                <a:spcPts val="800"/>
              </a:spcAft>
              <a:buSzPct val="100000"/>
            </a:pPr>
            <a:r>
              <a:rPr lang="en-US" sz="1200" b="1" dirty="0">
                <a:solidFill>
                  <a:schemeClr val="accent1"/>
                </a:solidFill>
              </a:rPr>
              <a:t>Particularities and data quality:</a:t>
            </a:r>
          </a:p>
          <a:p>
            <a:pPr>
              <a:spcAft>
                <a:spcPts val="800"/>
              </a:spcAft>
              <a:buSzPct val="100000"/>
            </a:pPr>
            <a:endParaRPr lang="en-US" sz="1200" b="1" dirty="0">
              <a:solidFill>
                <a:schemeClr val="accent1"/>
              </a:solidFill>
            </a:endParaRPr>
          </a:p>
          <a:p>
            <a:pPr marL="342900" indent="-342900">
              <a:spcAft>
                <a:spcPts val="800"/>
              </a:spcAft>
              <a:buSzPct val="100000"/>
              <a:buFont typeface="Wingdings" pitchFamily="2" charset="2"/>
              <a:buChar char="Ø"/>
            </a:pPr>
            <a:r>
              <a:rPr lang="en-US" sz="1200" dirty="0"/>
              <a:t>Unprotected comma in one row</a:t>
            </a:r>
          </a:p>
          <a:p>
            <a:pPr marL="342900" indent="-342900">
              <a:spcAft>
                <a:spcPts val="800"/>
              </a:spcAft>
              <a:buSzPct val="100000"/>
              <a:buFont typeface="Wingdings" pitchFamily="2" charset="2"/>
              <a:buChar char="Ø"/>
            </a:pPr>
            <a:r>
              <a:rPr lang="en-US" sz="1200" dirty="0"/>
              <a:t>No natural key</a:t>
            </a:r>
          </a:p>
          <a:p>
            <a:pPr marL="342900" indent="-342900">
              <a:spcAft>
                <a:spcPts val="800"/>
              </a:spcAft>
              <a:buSzPct val="100000"/>
              <a:buFont typeface="Wingdings" pitchFamily="2" charset="2"/>
              <a:buChar char="Ø"/>
            </a:pPr>
            <a:r>
              <a:rPr lang="en-US" sz="1200" dirty="0"/>
              <a:t>Composite categories</a:t>
            </a:r>
          </a:p>
          <a:p>
            <a:pPr marL="342900" indent="-342900">
              <a:spcAft>
                <a:spcPts val="800"/>
              </a:spcAft>
              <a:buSzPct val="100000"/>
              <a:buFont typeface="Wingdings" pitchFamily="2" charset="2"/>
              <a:buChar char="Ø"/>
            </a:pPr>
            <a:r>
              <a:rPr lang="en-US" sz="1200" dirty="0"/>
              <a:t>No missing fields</a:t>
            </a:r>
          </a:p>
          <a:p>
            <a:pPr marL="342900" indent="-342900">
              <a:spcAft>
                <a:spcPts val="800"/>
              </a:spcAft>
              <a:buSzPct val="100000"/>
              <a:buFont typeface="Wingdings" pitchFamily="2" charset="2"/>
              <a:buChar char="Ø"/>
            </a:pPr>
            <a:r>
              <a:rPr lang="en-US" sz="1200" dirty="0"/>
              <a:t>Coverage beyond the indicators</a:t>
            </a:r>
          </a:p>
        </p:txBody>
      </p:sp>
      <p:pic>
        <p:nvPicPr>
          <p:cNvPr id="23" name="Imagem 22" descr="Uma imagem com texto, recibo, captura de ecrã, documento&#10;&#10;Descrição gerada automaticamente">
            <a:extLst>
              <a:ext uri="{FF2B5EF4-FFF2-40B4-BE49-F238E27FC236}">
                <a16:creationId xmlns:a16="http://schemas.microsoft.com/office/drawing/2014/main" id="{61501DD5-09E6-CC88-13A8-651503E2144E}"/>
              </a:ext>
            </a:extLst>
          </p:cNvPr>
          <p:cNvPicPr>
            <a:picLocks noChangeAspect="1"/>
          </p:cNvPicPr>
          <p:nvPr/>
        </p:nvPicPr>
        <p:blipFill>
          <a:blip r:embed="rId3"/>
          <a:stretch>
            <a:fillRect/>
          </a:stretch>
        </p:blipFill>
        <p:spPr>
          <a:xfrm>
            <a:off x="678873" y="4016134"/>
            <a:ext cx="2384367" cy="2616543"/>
          </a:xfrm>
          <a:prstGeom prst="rect">
            <a:avLst/>
          </a:prstGeom>
        </p:spPr>
      </p:pic>
      <p:pic>
        <p:nvPicPr>
          <p:cNvPr id="26" name="Imagem 25" descr="Uma imagem com texto, recibo, documento, Tipo de letra&#10;&#10;Descrição gerada automaticamente">
            <a:extLst>
              <a:ext uri="{FF2B5EF4-FFF2-40B4-BE49-F238E27FC236}">
                <a16:creationId xmlns:a16="http://schemas.microsoft.com/office/drawing/2014/main" id="{F11F10CC-B0CA-1954-65E0-11F65781EE71}"/>
              </a:ext>
            </a:extLst>
          </p:cNvPr>
          <p:cNvPicPr>
            <a:picLocks noChangeAspect="1"/>
          </p:cNvPicPr>
          <p:nvPr/>
        </p:nvPicPr>
        <p:blipFill>
          <a:blip r:embed="rId4"/>
          <a:stretch>
            <a:fillRect/>
          </a:stretch>
        </p:blipFill>
        <p:spPr>
          <a:xfrm>
            <a:off x="4361115" y="4763193"/>
            <a:ext cx="1562499" cy="1703174"/>
          </a:xfrm>
          <a:prstGeom prst="rect">
            <a:avLst/>
          </a:prstGeom>
        </p:spPr>
      </p:pic>
      <p:pic>
        <p:nvPicPr>
          <p:cNvPr id="28" name="Imagem 27" descr="Uma imagem com texto, captura de ecrã, recibo, Tipo de letra&#10;&#10;Descrição gerada automaticamente">
            <a:extLst>
              <a:ext uri="{FF2B5EF4-FFF2-40B4-BE49-F238E27FC236}">
                <a16:creationId xmlns:a16="http://schemas.microsoft.com/office/drawing/2014/main" id="{C40ADBE5-2A88-66D1-8C5A-20221B9C4BFD}"/>
              </a:ext>
            </a:extLst>
          </p:cNvPr>
          <p:cNvPicPr>
            <a:picLocks noChangeAspect="1"/>
          </p:cNvPicPr>
          <p:nvPr/>
        </p:nvPicPr>
        <p:blipFill>
          <a:blip r:embed="rId5"/>
          <a:stretch>
            <a:fillRect/>
          </a:stretch>
        </p:blipFill>
        <p:spPr>
          <a:xfrm>
            <a:off x="7064541" y="4735484"/>
            <a:ext cx="1622259" cy="18973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254409" y="2468880"/>
            <a:ext cx="8635181" cy="1188720"/>
          </a:xfrm>
          <a:prstGeom prst="rect">
            <a:avLst/>
          </a:prstGeom>
          <a:noFill/>
          <a:ln/>
        </p:spPr>
        <p:txBody>
          <a:bodyPr wrap="square" lIns="0" tIns="0" rIns="0" bIns="0" rtlCol="0" anchor="ctr"/>
          <a:lstStyle/>
          <a:p>
            <a:pPr marL="0" indent="0" algn="ctr">
              <a:buNone/>
            </a:pPr>
            <a:r>
              <a:rPr lang="en-US" sz="4400" b="1" dirty="0">
                <a:solidFill>
                  <a:schemeClr val="accent1"/>
                </a:solidFill>
              </a:rPr>
              <a:t>Task 2 – Country-Code Reconciliation</a:t>
            </a:r>
            <a:endParaRPr lang="en-US" sz="4400" b="1" dirty="0"/>
          </a:p>
        </p:txBody>
      </p:sp>
      <p:sp>
        <p:nvSpPr>
          <p:cNvPr id="3" name="Text 0"/>
          <p:cNvSpPr>
            <a:spLocks noGrp="1"/>
          </p:cNvSpPr>
          <p:nvPr>
            <p:ph type="body" idx="102" hasCustomPrompt="1"/>
          </p:nvPr>
        </p:nvSpPr>
        <p:spPr>
          <a:xfrm>
            <a:off x="685800" y="3657600"/>
            <a:ext cx="7772400" cy="731520"/>
          </a:xfrm>
          <a:prstGeom prst="rect">
            <a:avLst/>
          </a:prstGeom>
          <a:noFill/>
          <a:ln/>
        </p:spPr>
        <p:txBody>
          <a:bodyPr wrap="square" lIns="0" tIns="0" rIns="0" bIns="0" rtlCol="0" anchor="t"/>
          <a:lstStyle/>
          <a:p>
            <a:r>
              <a:rPr lang="en-US" sz="1800" dirty="0">
                <a:solidFill>
                  <a:schemeClr val="accent2"/>
                </a:solidFill>
              </a:rPr>
              <a:t>Unified country mapping from the three sources, with country groups</a:t>
            </a:r>
            <a:endParaRPr lang="en-US" sz="1800" dirty="0"/>
          </a:p>
        </p:txBody>
      </p:sp>
    </p:spTree>
    <p:extLst>
      <p:ext uri="{BB962C8B-B14F-4D97-AF65-F5344CB8AC3E}">
        <p14:creationId xmlns:p14="http://schemas.microsoft.com/office/powerpoint/2010/main" val="2259617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868680"/>
          </a:xfrm>
          <a:prstGeom prst="rect">
            <a:avLst/>
          </a:prstGeom>
          <a:noFill/>
          <a:ln/>
        </p:spPr>
        <p:txBody>
          <a:bodyPr wrap="square" lIns="0" tIns="0" rIns="0" bIns="0" rtlCol="0" anchor="ctr"/>
          <a:lstStyle/>
          <a:p>
            <a:pPr marL="0" indent="0" algn="ctr">
              <a:buNone/>
            </a:pPr>
            <a:r>
              <a:rPr lang="en-US" sz="3000" b="1" dirty="0">
                <a:solidFill>
                  <a:schemeClr val="accent1"/>
                </a:solidFill>
              </a:rPr>
              <a:t>Reconciliation pipeline</a:t>
            </a:r>
            <a:endParaRPr lang="en-US" sz="3000" dirty="0"/>
          </a:p>
        </p:txBody>
      </p:sp>
      <p:sp>
        <p:nvSpPr>
          <p:cNvPr id="5" name="Step 1"/>
          <p:cNvSpPr/>
          <p:nvPr/>
        </p:nvSpPr>
        <p:spPr>
          <a:xfrm>
            <a:off x="457200" y="3808156"/>
            <a:ext cx="1783080" cy="822960"/>
          </a:xfrm>
          <a:prstGeom prst="rect">
            <a:avLst/>
          </a:prstGeom>
          <a:solidFill>
            <a:schemeClr val="accent1"/>
          </a:solidFill>
          <a:ln w="12700">
            <a:solidFill>
              <a:schemeClr val="accent1"/>
            </a:solidFill>
            <a:prstDash val="solid"/>
          </a:ln>
        </p:spPr>
        <p:txBody>
          <a:bodyPr/>
          <a:lstStyle/>
          <a:p>
            <a:endParaRPr lang="pt-PT"/>
          </a:p>
        </p:txBody>
      </p:sp>
      <p:sp>
        <p:nvSpPr>
          <p:cNvPr id="6" name="Step 1 text"/>
          <p:cNvSpPr txBox="1"/>
          <p:nvPr/>
        </p:nvSpPr>
        <p:spPr>
          <a:xfrm>
            <a:off x="457200" y="3808156"/>
            <a:ext cx="1783080" cy="822960"/>
          </a:xfrm>
          <a:prstGeom prst="rect">
            <a:avLst/>
          </a:prstGeom>
          <a:noFill/>
          <a:ln/>
        </p:spPr>
        <p:txBody>
          <a:bodyPr wrap="square" rtlCol="0" anchor="ctr"/>
          <a:lstStyle/>
          <a:p>
            <a:pPr marL="0" indent="0" algn="ctr">
              <a:buNone/>
            </a:pPr>
            <a:r>
              <a:rPr lang="en-US" sz="1300" b="1" dirty="0">
                <a:solidFill>
                  <a:schemeClr val="bg1"/>
                </a:solidFill>
              </a:rPr>
              <a:t>Extract distinct countries</a:t>
            </a:r>
            <a:endParaRPr lang="en-US" sz="1300" dirty="0"/>
          </a:p>
        </p:txBody>
      </p:sp>
      <p:sp>
        <p:nvSpPr>
          <p:cNvPr id="7" name="Arrow 1"/>
          <p:cNvSpPr/>
          <p:nvPr/>
        </p:nvSpPr>
        <p:spPr>
          <a:xfrm>
            <a:off x="2286000" y="4082476"/>
            <a:ext cx="274320" cy="274320"/>
          </a:xfrm>
          <a:prstGeom prst="rightArrow">
            <a:avLst/>
          </a:prstGeom>
          <a:solidFill>
            <a:schemeClr val="accent3"/>
          </a:solidFill>
          <a:ln w="12700">
            <a:solidFill>
              <a:schemeClr val="accent3"/>
            </a:solidFill>
            <a:prstDash val="solid"/>
          </a:ln>
        </p:spPr>
        <p:txBody>
          <a:bodyPr/>
          <a:lstStyle/>
          <a:p>
            <a:endParaRPr lang="pt-PT"/>
          </a:p>
        </p:txBody>
      </p:sp>
      <p:sp>
        <p:nvSpPr>
          <p:cNvPr id="8" name="Step 2"/>
          <p:cNvSpPr/>
          <p:nvPr/>
        </p:nvSpPr>
        <p:spPr>
          <a:xfrm>
            <a:off x="2606040" y="3808156"/>
            <a:ext cx="1783080" cy="822960"/>
          </a:xfrm>
          <a:prstGeom prst="rect">
            <a:avLst/>
          </a:prstGeom>
          <a:solidFill>
            <a:schemeClr val="accent1"/>
          </a:solidFill>
          <a:ln w="12700">
            <a:solidFill>
              <a:schemeClr val="accent1"/>
            </a:solidFill>
            <a:prstDash val="solid"/>
          </a:ln>
        </p:spPr>
        <p:txBody>
          <a:bodyPr/>
          <a:lstStyle/>
          <a:p>
            <a:endParaRPr lang="pt-PT"/>
          </a:p>
        </p:txBody>
      </p:sp>
      <p:sp>
        <p:nvSpPr>
          <p:cNvPr id="9" name="Step 2 text"/>
          <p:cNvSpPr txBox="1"/>
          <p:nvPr/>
        </p:nvSpPr>
        <p:spPr>
          <a:xfrm>
            <a:off x="2606040" y="3808156"/>
            <a:ext cx="1783080" cy="822960"/>
          </a:xfrm>
          <a:prstGeom prst="rect">
            <a:avLst/>
          </a:prstGeom>
          <a:noFill/>
          <a:ln/>
        </p:spPr>
        <p:txBody>
          <a:bodyPr wrap="square" rtlCol="0" anchor="ctr"/>
          <a:lstStyle/>
          <a:p>
            <a:pPr marL="0" indent="0" algn="ctr">
              <a:buNone/>
            </a:pPr>
            <a:r>
              <a:rPr lang="en-US" sz="1300" b="1" dirty="0">
                <a:solidFill>
                  <a:schemeClr val="bg1"/>
                </a:solidFill>
              </a:rPr>
              <a:t>Sort and remove duplicates</a:t>
            </a:r>
            <a:endParaRPr lang="en-US" sz="1300" dirty="0"/>
          </a:p>
        </p:txBody>
      </p:sp>
      <p:sp>
        <p:nvSpPr>
          <p:cNvPr id="10" name="Arrow 2"/>
          <p:cNvSpPr/>
          <p:nvPr/>
        </p:nvSpPr>
        <p:spPr>
          <a:xfrm>
            <a:off x="4434840" y="4082476"/>
            <a:ext cx="274320" cy="274320"/>
          </a:xfrm>
          <a:prstGeom prst="rightArrow">
            <a:avLst/>
          </a:prstGeom>
          <a:solidFill>
            <a:schemeClr val="accent3"/>
          </a:solidFill>
          <a:ln w="12700">
            <a:solidFill>
              <a:schemeClr val="accent3"/>
            </a:solidFill>
            <a:prstDash val="solid"/>
          </a:ln>
        </p:spPr>
        <p:txBody>
          <a:bodyPr/>
          <a:lstStyle/>
          <a:p>
            <a:endParaRPr lang="pt-PT"/>
          </a:p>
        </p:txBody>
      </p:sp>
      <p:sp>
        <p:nvSpPr>
          <p:cNvPr id="11" name="Step 3"/>
          <p:cNvSpPr/>
          <p:nvPr/>
        </p:nvSpPr>
        <p:spPr>
          <a:xfrm>
            <a:off x="4754880" y="3808156"/>
            <a:ext cx="1783080" cy="822960"/>
          </a:xfrm>
          <a:prstGeom prst="rect">
            <a:avLst/>
          </a:prstGeom>
          <a:solidFill>
            <a:schemeClr val="accent1"/>
          </a:solidFill>
          <a:ln w="12700">
            <a:solidFill>
              <a:schemeClr val="accent1"/>
            </a:solidFill>
            <a:prstDash val="solid"/>
          </a:ln>
        </p:spPr>
        <p:txBody>
          <a:bodyPr/>
          <a:lstStyle/>
          <a:p>
            <a:endParaRPr lang="pt-PT"/>
          </a:p>
        </p:txBody>
      </p:sp>
      <p:sp>
        <p:nvSpPr>
          <p:cNvPr id="12" name="Step 3 text"/>
          <p:cNvSpPr txBox="1"/>
          <p:nvPr/>
        </p:nvSpPr>
        <p:spPr>
          <a:xfrm>
            <a:off x="4754880" y="3808156"/>
            <a:ext cx="1783080" cy="822960"/>
          </a:xfrm>
          <a:prstGeom prst="rect">
            <a:avLst/>
          </a:prstGeom>
          <a:noFill/>
          <a:ln/>
        </p:spPr>
        <p:txBody>
          <a:bodyPr wrap="square" rtlCol="0" anchor="ctr"/>
          <a:lstStyle/>
          <a:p>
            <a:pPr marL="0" indent="0" algn="ctr">
              <a:buNone/>
            </a:pPr>
            <a:r>
              <a:rPr lang="en-US" sz="1300" b="1" dirty="0">
                <a:solidFill>
                  <a:schemeClr val="bg1"/>
                </a:solidFill>
              </a:rPr>
              <a:t>Assign country group</a:t>
            </a:r>
            <a:endParaRPr lang="en-US" sz="1300" dirty="0"/>
          </a:p>
        </p:txBody>
      </p:sp>
      <p:sp>
        <p:nvSpPr>
          <p:cNvPr id="13" name="Arrow 3"/>
          <p:cNvSpPr/>
          <p:nvPr/>
        </p:nvSpPr>
        <p:spPr>
          <a:xfrm>
            <a:off x="6583680" y="4082476"/>
            <a:ext cx="274320" cy="274320"/>
          </a:xfrm>
          <a:prstGeom prst="rightArrow">
            <a:avLst/>
          </a:prstGeom>
          <a:solidFill>
            <a:schemeClr val="accent3"/>
          </a:solidFill>
          <a:ln w="12700">
            <a:solidFill>
              <a:schemeClr val="accent3"/>
            </a:solidFill>
            <a:prstDash val="solid"/>
          </a:ln>
        </p:spPr>
        <p:txBody>
          <a:bodyPr/>
          <a:lstStyle/>
          <a:p>
            <a:endParaRPr lang="pt-PT"/>
          </a:p>
        </p:txBody>
      </p:sp>
      <p:sp>
        <p:nvSpPr>
          <p:cNvPr id="14" name="Step 4"/>
          <p:cNvSpPr/>
          <p:nvPr/>
        </p:nvSpPr>
        <p:spPr>
          <a:xfrm>
            <a:off x="6903720" y="3808156"/>
            <a:ext cx="1783080" cy="822960"/>
          </a:xfrm>
          <a:prstGeom prst="rect">
            <a:avLst/>
          </a:prstGeom>
          <a:solidFill>
            <a:schemeClr val="accent1"/>
          </a:solidFill>
          <a:ln w="12700">
            <a:solidFill>
              <a:schemeClr val="accent1"/>
            </a:solidFill>
            <a:prstDash val="solid"/>
          </a:ln>
        </p:spPr>
        <p:txBody>
          <a:bodyPr/>
          <a:lstStyle/>
          <a:p>
            <a:endParaRPr lang="pt-PT"/>
          </a:p>
        </p:txBody>
      </p:sp>
      <p:sp>
        <p:nvSpPr>
          <p:cNvPr id="15" name="Step 4 text"/>
          <p:cNvSpPr txBox="1"/>
          <p:nvPr/>
        </p:nvSpPr>
        <p:spPr>
          <a:xfrm>
            <a:off x="6903720" y="3808156"/>
            <a:ext cx="1783080" cy="822960"/>
          </a:xfrm>
          <a:prstGeom prst="rect">
            <a:avLst/>
          </a:prstGeom>
          <a:noFill/>
          <a:ln/>
        </p:spPr>
        <p:txBody>
          <a:bodyPr wrap="square" rtlCol="0" anchor="ctr"/>
          <a:lstStyle/>
          <a:p>
            <a:pPr marL="0" indent="0" algn="ctr">
              <a:buNone/>
            </a:pPr>
            <a:r>
              <a:rPr lang="en-US" sz="1300" b="1" dirty="0">
                <a:solidFill>
                  <a:schemeClr val="bg1"/>
                </a:solidFill>
              </a:rPr>
              <a:t>Write CSV and staging</a:t>
            </a:r>
            <a:endParaRPr lang="en-US" sz="1300" dirty="0"/>
          </a:p>
        </p:txBody>
      </p:sp>
      <p:sp>
        <p:nvSpPr>
          <p:cNvPr id="16" name="Pipeline note"/>
          <p:cNvSpPr/>
          <p:nvPr/>
        </p:nvSpPr>
        <p:spPr>
          <a:xfrm>
            <a:off x="457200" y="4913242"/>
            <a:ext cx="8229600" cy="615129"/>
          </a:xfrm>
          <a:prstGeom prst="rect">
            <a:avLst/>
          </a:prstGeom>
          <a:solidFill>
            <a:schemeClr val="bg2"/>
          </a:solidFill>
          <a:ln w="9525">
            <a:solidFill>
              <a:schemeClr val="accent3"/>
            </a:solidFill>
            <a:prstDash val="solid"/>
          </a:ln>
        </p:spPr>
        <p:txBody>
          <a:bodyPr/>
          <a:lstStyle/>
          <a:p>
            <a:endParaRPr lang="pt-PT"/>
          </a:p>
        </p:txBody>
      </p:sp>
      <p:sp>
        <p:nvSpPr>
          <p:cNvPr id="17" name="Pipeline note text"/>
          <p:cNvSpPr txBox="1"/>
          <p:nvPr/>
        </p:nvSpPr>
        <p:spPr>
          <a:xfrm>
            <a:off x="457200" y="4916990"/>
            <a:ext cx="8229600" cy="615130"/>
          </a:xfrm>
          <a:prstGeom prst="rect">
            <a:avLst/>
          </a:prstGeom>
          <a:noFill/>
          <a:ln/>
        </p:spPr>
        <p:txBody>
          <a:bodyPr wrap="square" rtlCol="0" anchor="ctr"/>
          <a:lstStyle/>
          <a:p>
            <a:pPr marL="0" indent="0">
              <a:spcAft>
                <a:spcPts val="400"/>
              </a:spcAft>
              <a:buNone/>
            </a:pPr>
            <a:r>
              <a:rPr lang="en-US" sz="1200" dirty="0"/>
              <a:t>The pipeline extracts distinct countries from the three data sources and sorts them by code, and eliminates all duplicates, leaving 16 countries, and each one is assigned its country group with a value mapper. The resulting mapping is written both to a csv file and to the staging table</a:t>
            </a:r>
          </a:p>
        </p:txBody>
      </p:sp>
      <p:pic>
        <p:nvPicPr>
          <p:cNvPr id="19" name="Imagem 18" descr="Uma imagem com file, diagrama, Tipo de letra, Gráfico&#10;&#10;Descrição gerada automaticamente">
            <a:extLst>
              <a:ext uri="{FF2B5EF4-FFF2-40B4-BE49-F238E27FC236}">
                <a16:creationId xmlns:a16="http://schemas.microsoft.com/office/drawing/2014/main" id="{F94D7FBE-49B4-3B7E-2118-37E05A667CEB}"/>
              </a:ext>
            </a:extLst>
          </p:cNvPr>
          <p:cNvPicPr>
            <a:picLocks noChangeAspect="1"/>
          </p:cNvPicPr>
          <p:nvPr/>
        </p:nvPicPr>
        <p:blipFill>
          <a:blip r:embed="rId3">
            <a:clrChange>
              <a:clrFrom>
                <a:srgbClr val="EBEBEB"/>
              </a:clrFrom>
              <a:clrTo>
                <a:srgbClr val="EBEBEB">
                  <a:alpha val="0"/>
                </a:srgbClr>
              </a:clrTo>
            </a:clrChange>
          </a:blip>
          <a:stretch>
            <a:fillRect/>
          </a:stretch>
        </p:blipFill>
        <p:spPr>
          <a:xfrm>
            <a:off x="685800" y="1325880"/>
            <a:ext cx="7772400" cy="2299396"/>
          </a:xfrm>
          <a:prstGeom prst="rect">
            <a:avLst/>
          </a:prstGeom>
        </p:spPr>
      </p:pic>
    </p:spTree>
    <p:extLst>
      <p:ext uri="{BB962C8B-B14F-4D97-AF65-F5344CB8AC3E}">
        <p14:creationId xmlns:p14="http://schemas.microsoft.com/office/powerpoint/2010/main" val="1242328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868680"/>
          </a:xfrm>
          <a:prstGeom prst="rect">
            <a:avLst/>
          </a:prstGeom>
          <a:noFill/>
          <a:ln/>
        </p:spPr>
        <p:txBody>
          <a:bodyPr wrap="square" lIns="0" tIns="0" rIns="0" bIns="0" rtlCol="0" anchor="ctr"/>
          <a:lstStyle/>
          <a:p>
            <a:pPr marL="0" indent="0" algn="ctr">
              <a:buNone/>
            </a:pPr>
            <a:r>
              <a:rPr lang="en-US" sz="3000" b="1" dirty="0">
                <a:solidFill>
                  <a:schemeClr val="accent1"/>
                </a:solidFill>
              </a:rPr>
              <a:t>Key transform configurations</a:t>
            </a:r>
            <a:endParaRPr lang="en-US" sz="3000" dirty="0"/>
          </a:p>
        </p:txBody>
      </p:sp>
      <p:sp>
        <p:nvSpPr>
          <p:cNvPr id="7" name="Notes Unique rows"/>
          <p:cNvSpPr/>
          <p:nvPr/>
        </p:nvSpPr>
        <p:spPr>
          <a:xfrm>
            <a:off x="830007" y="5019130"/>
            <a:ext cx="3557639" cy="706448"/>
          </a:xfrm>
          <a:prstGeom prst="rect">
            <a:avLst/>
          </a:prstGeom>
          <a:solidFill>
            <a:schemeClr val="bg2"/>
          </a:solidFill>
          <a:ln w="9525">
            <a:solidFill>
              <a:schemeClr val="accent3"/>
            </a:solidFill>
            <a:prstDash val="solid"/>
          </a:ln>
        </p:spPr>
        <p:txBody>
          <a:bodyPr/>
          <a:lstStyle/>
          <a:p>
            <a:endParaRPr lang="pt-PT"/>
          </a:p>
        </p:txBody>
      </p:sp>
      <p:sp>
        <p:nvSpPr>
          <p:cNvPr id="8" name="Notes Unique rows text"/>
          <p:cNvSpPr txBox="1"/>
          <p:nvPr/>
        </p:nvSpPr>
        <p:spPr>
          <a:xfrm>
            <a:off x="830007" y="5019130"/>
            <a:ext cx="3557639" cy="706448"/>
          </a:xfrm>
          <a:prstGeom prst="rect">
            <a:avLst/>
          </a:prstGeom>
          <a:noFill/>
          <a:ln/>
        </p:spPr>
        <p:txBody>
          <a:bodyPr wrap="square" rtlCol="0" anchor="ctr"/>
          <a:lstStyle/>
          <a:p>
            <a:pPr marL="0" indent="0">
              <a:spcAft>
                <a:spcPts val="400"/>
              </a:spcAft>
              <a:buNone/>
            </a:pPr>
            <a:r>
              <a:rPr lang="en-US" sz="1200" dirty="0">
                <a:solidFill>
                  <a:schemeClr val="tx1"/>
                </a:solidFill>
              </a:rPr>
              <a:t>Unique rows only removes consecutive duplicates</a:t>
            </a:r>
            <a:endParaRPr lang="en-US" sz="1200" dirty="0"/>
          </a:p>
          <a:p>
            <a:pPr marL="0" indent="0">
              <a:spcAft>
                <a:spcPts val="400"/>
              </a:spcAft>
              <a:buNone/>
            </a:pPr>
            <a:r>
              <a:rPr lang="en-US" sz="1200" dirty="0">
                <a:solidFill>
                  <a:schemeClr val="tx1"/>
                </a:solidFill>
              </a:rPr>
              <a:t>n_sources counts in how many sources each country appears</a:t>
            </a:r>
            <a:endParaRPr lang="en-US" sz="1200" dirty="0"/>
          </a:p>
        </p:txBody>
      </p:sp>
      <p:sp>
        <p:nvSpPr>
          <p:cNvPr id="9" name="Notes Value mapper"/>
          <p:cNvSpPr/>
          <p:nvPr/>
        </p:nvSpPr>
        <p:spPr>
          <a:xfrm>
            <a:off x="4638039" y="5197328"/>
            <a:ext cx="4240489" cy="296447"/>
          </a:xfrm>
          <a:prstGeom prst="rect">
            <a:avLst/>
          </a:prstGeom>
          <a:solidFill>
            <a:schemeClr val="bg2"/>
          </a:solidFill>
          <a:ln w="9525">
            <a:solidFill>
              <a:schemeClr val="accent3"/>
            </a:solidFill>
            <a:prstDash val="solid"/>
          </a:ln>
        </p:spPr>
        <p:txBody>
          <a:bodyPr/>
          <a:lstStyle/>
          <a:p>
            <a:endParaRPr lang="pt-PT"/>
          </a:p>
        </p:txBody>
      </p:sp>
      <p:sp>
        <p:nvSpPr>
          <p:cNvPr id="10" name="Notes Value mapper text"/>
          <p:cNvSpPr txBox="1"/>
          <p:nvPr/>
        </p:nvSpPr>
        <p:spPr>
          <a:xfrm>
            <a:off x="4638040" y="5197328"/>
            <a:ext cx="4240489" cy="296447"/>
          </a:xfrm>
          <a:prstGeom prst="rect">
            <a:avLst/>
          </a:prstGeom>
          <a:noFill/>
          <a:ln/>
        </p:spPr>
        <p:txBody>
          <a:bodyPr wrap="square" rtlCol="0" anchor="ctr"/>
          <a:lstStyle/>
          <a:p>
            <a:pPr marL="0" indent="0">
              <a:spcAft>
                <a:spcPts val="400"/>
              </a:spcAft>
              <a:buNone/>
            </a:pPr>
            <a:r>
              <a:rPr lang="en-US" sz="1200" dirty="0">
                <a:solidFill>
                  <a:schemeClr val="tx1"/>
                </a:solidFill>
              </a:rPr>
              <a:t>16 mappings</a:t>
            </a:r>
            <a:r>
              <a:rPr lang="en-US" sz="1200" dirty="0"/>
              <a:t>, d</a:t>
            </a:r>
            <a:r>
              <a:rPr lang="en-US" sz="1200" dirty="0">
                <a:solidFill>
                  <a:schemeClr val="tx1"/>
                </a:solidFill>
              </a:rPr>
              <a:t>efault UNMAPPED makes any missing code visible</a:t>
            </a:r>
            <a:endParaRPr lang="en-US" sz="1200" dirty="0"/>
          </a:p>
        </p:txBody>
      </p:sp>
      <p:pic>
        <p:nvPicPr>
          <p:cNvPr id="22" name="Imagem 21" descr="Uma imagem com texto, captura de ecrã, software, Página web&#10;&#10;Descrição gerada automaticamente">
            <a:extLst>
              <a:ext uri="{FF2B5EF4-FFF2-40B4-BE49-F238E27FC236}">
                <a16:creationId xmlns:a16="http://schemas.microsoft.com/office/drawing/2014/main" id="{CBF49F64-1E64-67D2-6893-25D86F51324D}"/>
              </a:ext>
            </a:extLst>
          </p:cNvPr>
          <p:cNvPicPr>
            <a:picLocks noChangeAspect="1"/>
          </p:cNvPicPr>
          <p:nvPr/>
        </p:nvPicPr>
        <p:blipFill>
          <a:blip r:embed="rId3"/>
          <a:stretch>
            <a:fillRect/>
          </a:stretch>
        </p:blipFill>
        <p:spPr>
          <a:xfrm>
            <a:off x="568544" y="1418185"/>
            <a:ext cx="4069495" cy="3325760"/>
          </a:xfrm>
          <a:prstGeom prst="rect">
            <a:avLst/>
          </a:prstGeom>
        </p:spPr>
      </p:pic>
      <p:pic>
        <p:nvPicPr>
          <p:cNvPr id="24" name="Imagem 23" descr="Uma imagem com texto, captura de ecrã, software, número&#10;&#10;Descrição gerada automaticamente">
            <a:extLst>
              <a:ext uri="{FF2B5EF4-FFF2-40B4-BE49-F238E27FC236}">
                <a16:creationId xmlns:a16="http://schemas.microsoft.com/office/drawing/2014/main" id="{F5547B17-8AAD-24A0-5C09-7DF9FDE42843}"/>
              </a:ext>
            </a:extLst>
          </p:cNvPr>
          <p:cNvPicPr>
            <a:picLocks noChangeAspect="1"/>
          </p:cNvPicPr>
          <p:nvPr/>
        </p:nvPicPr>
        <p:blipFill>
          <a:blip r:embed="rId4"/>
          <a:stretch>
            <a:fillRect/>
          </a:stretch>
        </p:blipFill>
        <p:spPr>
          <a:xfrm>
            <a:off x="5074858" y="1418185"/>
            <a:ext cx="3500598" cy="3323420"/>
          </a:xfrm>
          <a:prstGeom prst="rect">
            <a:avLst/>
          </a:prstGeom>
        </p:spPr>
      </p:pic>
    </p:spTree>
    <p:extLst>
      <p:ext uri="{BB962C8B-B14F-4D97-AF65-F5344CB8AC3E}">
        <p14:creationId xmlns:p14="http://schemas.microsoft.com/office/powerpoint/2010/main" val="3725568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868680"/>
          </a:xfrm>
          <a:prstGeom prst="rect">
            <a:avLst/>
          </a:prstGeom>
          <a:noFill/>
          <a:ln/>
        </p:spPr>
        <p:txBody>
          <a:bodyPr wrap="square" lIns="0" tIns="0" rIns="0" bIns="0" rtlCol="0" anchor="ctr"/>
          <a:lstStyle/>
          <a:p>
            <a:pPr marL="0" indent="0" algn="ctr">
              <a:buNone/>
            </a:pPr>
            <a:r>
              <a:rPr lang="en-US" sz="3000" b="1" dirty="0"/>
              <a:t>After running the pipeline</a:t>
            </a:r>
          </a:p>
        </p:txBody>
      </p:sp>
      <p:sp>
        <p:nvSpPr>
          <p:cNvPr id="3" name="Stat Maddison"/>
          <p:cNvSpPr/>
          <p:nvPr/>
        </p:nvSpPr>
        <p:spPr>
          <a:xfrm>
            <a:off x="457200" y="1392686"/>
            <a:ext cx="2606040" cy="1280160"/>
          </a:xfrm>
          <a:prstGeom prst="rect">
            <a:avLst/>
          </a:prstGeom>
          <a:solidFill>
            <a:schemeClr val="bg2"/>
          </a:solidFill>
          <a:ln w="12700">
            <a:solidFill>
              <a:schemeClr val="bg2"/>
            </a:solidFill>
            <a:prstDash val="solid"/>
          </a:ln>
        </p:spPr>
        <p:txBody>
          <a:bodyPr/>
          <a:lstStyle/>
          <a:p>
            <a:endParaRPr lang="pt-PT"/>
          </a:p>
        </p:txBody>
      </p:sp>
      <p:sp>
        <p:nvSpPr>
          <p:cNvPr id="4" name="Stat Maddison text"/>
          <p:cNvSpPr txBox="1"/>
          <p:nvPr/>
        </p:nvSpPr>
        <p:spPr>
          <a:xfrm>
            <a:off x="548640" y="1392686"/>
            <a:ext cx="2423160" cy="1280160"/>
          </a:xfrm>
          <a:prstGeom prst="rect">
            <a:avLst/>
          </a:prstGeom>
          <a:noFill/>
          <a:ln/>
        </p:spPr>
        <p:txBody>
          <a:bodyPr wrap="square" rtlCol="0" anchor="ctr"/>
          <a:lstStyle/>
          <a:p>
            <a:pPr marL="0" indent="0" algn="ctr">
              <a:buNone/>
            </a:pPr>
            <a:r>
              <a:rPr lang="en-US" sz="3000" b="1" dirty="0">
                <a:solidFill>
                  <a:schemeClr val="accent1"/>
                </a:solidFill>
              </a:rPr>
              <a:t>15</a:t>
            </a:r>
            <a:endParaRPr lang="en-US" sz="3000" dirty="0"/>
          </a:p>
          <a:p>
            <a:pPr marL="0" indent="0" algn="ctr">
              <a:buNone/>
            </a:pPr>
            <a:r>
              <a:rPr lang="en-US" sz="1400" b="1" dirty="0">
                <a:solidFill>
                  <a:schemeClr val="tx1"/>
                </a:solidFill>
              </a:rPr>
              <a:t>Maddison</a:t>
            </a:r>
            <a:endParaRPr lang="en-US" sz="3000" dirty="0"/>
          </a:p>
          <a:p>
            <a:pPr marL="0" indent="0" algn="ctr">
              <a:buNone/>
            </a:pPr>
            <a:r>
              <a:rPr lang="en-US" sz="1200" dirty="0">
                <a:solidFill>
                  <a:schemeClr val="accent2"/>
                </a:solidFill>
              </a:rPr>
              <a:t>EU aggregate missing</a:t>
            </a:r>
            <a:endParaRPr lang="en-US" sz="3000" dirty="0"/>
          </a:p>
        </p:txBody>
      </p:sp>
      <p:sp>
        <p:nvSpPr>
          <p:cNvPr id="5" name="Stat WDI"/>
          <p:cNvSpPr/>
          <p:nvPr/>
        </p:nvSpPr>
        <p:spPr>
          <a:xfrm>
            <a:off x="3268980" y="1392686"/>
            <a:ext cx="2606040" cy="1280160"/>
          </a:xfrm>
          <a:prstGeom prst="rect">
            <a:avLst/>
          </a:prstGeom>
          <a:solidFill>
            <a:schemeClr val="bg2"/>
          </a:solidFill>
          <a:ln w="12700">
            <a:solidFill>
              <a:schemeClr val="bg2"/>
            </a:solidFill>
            <a:prstDash val="solid"/>
          </a:ln>
        </p:spPr>
        <p:txBody>
          <a:bodyPr/>
          <a:lstStyle/>
          <a:p>
            <a:endParaRPr lang="pt-PT"/>
          </a:p>
        </p:txBody>
      </p:sp>
      <p:sp>
        <p:nvSpPr>
          <p:cNvPr id="6" name="Stat WDI text"/>
          <p:cNvSpPr txBox="1"/>
          <p:nvPr/>
        </p:nvSpPr>
        <p:spPr>
          <a:xfrm>
            <a:off x="3360420" y="1392686"/>
            <a:ext cx="2423160" cy="1280160"/>
          </a:xfrm>
          <a:prstGeom prst="rect">
            <a:avLst/>
          </a:prstGeom>
          <a:noFill/>
          <a:ln/>
        </p:spPr>
        <p:txBody>
          <a:bodyPr wrap="square" rtlCol="0" anchor="ctr"/>
          <a:lstStyle/>
          <a:p>
            <a:pPr marL="0" indent="0" algn="ctr">
              <a:buNone/>
            </a:pPr>
            <a:r>
              <a:rPr lang="en-US" sz="3000" b="1" dirty="0">
                <a:solidFill>
                  <a:schemeClr val="accent1"/>
                </a:solidFill>
              </a:rPr>
              <a:t>16</a:t>
            </a:r>
            <a:endParaRPr lang="en-US" sz="3000" dirty="0"/>
          </a:p>
          <a:p>
            <a:pPr marL="0" indent="0" algn="ctr">
              <a:buNone/>
            </a:pPr>
            <a:r>
              <a:rPr lang="en-US" sz="1400" b="1" dirty="0">
                <a:solidFill>
                  <a:schemeClr val="tx1"/>
                </a:solidFill>
              </a:rPr>
              <a:t>WDI</a:t>
            </a:r>
            <a:endParaRPr lang="en-US" sz="3000" dirty="0"/>
          </a:p>
          <a:p>
            <a:pPr marL="0" indent="0" algn="ctr">
              <a:buNone/>
            </a:pPr>
            <a:r>
              <a:rPr lang="en-US" sz="1200" dirty="0">
                <a:solidFill>
                  <a:schemeClr val="accent2"/>
                </a:solidFill>
              </a:rPr>
              <a:t>15 countries + EU</a:t>
            </a:r>
            <a:endParaRPr lang="en-US" sz="3000" dirty="0"/>
          </a:p>
        </p:txBody>
      </p:sp>
      <p:sp>
        <p:nvSpPr>
          <p:cNvPr id="7" name="Stat Events"/>
          <p:cNvSpPr/>
          <p:nvPr/>
        </p:nvSpPr>
        <p:spPr>
          <a:xfrm>
            <a:off x="6080760" y="1392686"/>
            <a:ext cx="2606040" cy="1280160"/>
          </a:xfrm>
          <a:prstGeom prst="rect">
            <a:avLst/>
          </a:prstGeom>
          <a:solidFill>
            <a:schemeClr val="bg2"/>
          </a:solidFill>
          <a:ln w="12700">
            <a:solidFill>
              <a:schemeClr val="bg2"/>
            </a:solidFill>
            <a:prstDash val="solid"/>
          </a:ln>
        </p:spPr>
        <p:txBody>
          <a:bodyPr/>
          <a:lstStyle/>
          <a:p>
            <a:endParaRPr lang="pt-PT"/>
          </a:p>
        </p:txBody>
      </p:sp>
      <p:sp>
        <p:nvSpPr>
          <p:cNvPr id="8" name="Stat Events text"/>
          <p:cNvSpPr txBox="1"/>
          <p:nvPr/>
        </p:nvSpPr>
        <p:spPr>
          <a:xfrm>
            <a:off x="6172200" y="1392686"/>
            <a:ext cx="2423160" cy="1280160"/>
          </a:xfrm>
          <a:prstGeom prst="rect">
            <a:avLst/>
          </a:prstGeom>
          <a:noFill/>
          <a:ln/>
        </p:spPr>
        <p:txBody>
          <a:bodyPr wrap="square" rtlCol="0" anchor="ctr"/>
          <a:lstStyle/>
          <a:p>
            <a:pPr marL="0" indent="0" algn="ctr">
              <a:buNone/>
            </a:pPr>
            <a:r>
              <a:rPr lang="en-US" sz="3000" b="1" dirty="0">
                <a:solidFill>
                  <a:schemeClr val="accent1"/>
                </a:solidFill>
              </a:rPr>
              <a:t>16</a:t>
            </a:r>
            <a:endParaRPr lang="en-US" sz="3000" dirty="0"/>
          </a:p>
          <a:p>
            <a:pPr marL="0" indent="0" algn="ctr">
              <a:buNone/>
            </a:pPr>
            <a:r>
              <a:rPr lang="en-US" sz="1400" b="1" dirty="0">
                <a:solidFill>
                  <a:schemeClr val="tx1"/>
                </a:solidFill>
              </a:rPr>
              <a:t>Events</a:t>
            </a:r>
            <a:endParaRPr lang="en-US" sz="3000" dirty="0"/>
          </a:p>
          <a:p>
            <a:pPr marL="0" indent="0" algn="ctr">
              <a:buNone/>
            </a:pPr>
            <a:r>
              <a:rPr lang="en-US" sz="1200" dirty="0">
                <a:solidFill>
                  <a:schemeClr val="accent2"/>
                </a:solidFill>
              </a:rPr>
              <a:t>15 countries + EU</a:t>
            </a:r>
            <a:endParaRPr lang="en-US" sz="3000" dirty="0"/>
          </a:p>
        </p:txBody>
      </p:sp>
      <p:sp>
        <p:nvSpPr>
          <p:cNvPr id="13" name="Counts note"/>
          <p:cNvSpPr/>
          <p:nvPr/>
        </p:nvSpPr>
        <p:spPr>
          <a:xfrm>
            <a:off x="1103917" y="5377212"/>
            <a:ext cx="6936166" cy="309816"/>
          </a:xfrm>
          <a:prstGeom prst="rect">
            <a:avLst/>
          </a:prstGeom>
          <a:solidFill>
            <a:schemeClr val="bg2"/>
          </a:solidFill>
          <a:ln w="9525">
            <a:solidFill>
              <a:schemeClr val="accent3"/>
            </a:solidFill>
            <a:prstDash val="solid"/>
          </a:ln>
        </p:spPr>
        <p:txBody>
          <a:bodyPr/>
          <a:lstStyle/>
          <a:p>
            <a:endParaRPr lang="pt-PT"/>
          </a:p>
        </p:txBody>
      </p:sp>
      <p:sp>
        <p:nvSpPr>
          <p:cNvPr id="14" name="Counts note text"/>
          <p:cNvSpPr txBox="1"/>
          <p:nvPr/>
        </p:nvSpPr>
        <p:spPr>
          <a:xfrm>
            <a:off x="1103917" y="5377212"/>
            <a:ext cx="6936166" cy="309816"/>
          </a:xfrm>
          <a:prstGeom prst="rect">
            <a:avLst/>
          </a:prstGeom>
          <a:noFill/>
          <a:ln/>
        </p:spPr>
        <p:txBody>
          <a:bodyPr wrap="square" rtlCol="0" anchor="ctr"/>
          <a:lstStyle/>
          <a:p>
            <a:pPr marL="0" indent="0">
              <a:spcAft>
                <a:spcPts val="400"/>
              </a:spcAft>
              <a:buNone/>
            </a:pPr>
            <a:r>
              <a:rPr lang="en-US" sz="1200" dirty="0">
                <a:solidFill>
                  <a:schemeClr val="tx1"/>
                </a:solidFill>
              </a:rPr>
              <a:t>Every country appears in all 3 sources (n_sources = 3), the EU aggregate appears in 2, as it is not in Maddison</a:t>
            </a:r>
            <a:endParaRPr lang="en-US" sz="1200" dirty="0"/>
          </a:p>
        </p:txBody>
      </p:sp>
      <p:pic>
        <p:nvPicPr>
          <p:cNvPr id="16" name="Imagem 15" descr="Uma imagem com texto, Tipo de letra, número, recibo&#10;&#10;Descrição gerada automaticamente">
            <a:extLst>
              <a:ext uri="{FF2B5EF4-FFF2-40B4-BE49-F238E27FC236}">
                <a16:creationId xmlns:a16="http://schemas.microsoft.com/office/drawing/2014/main" id="{4AB5B42A-377F-5380-2A7B-FB54C5B3A2EB}"/>
              </a:ext>
            </a:extLst>
          </p:cNvPr>
          <p:cNvPicPr>
            <a:picLocks noChangeAspect="1"/>
          </p:cNvPicPr>
          <p:nvPr/>
        </p:nvPicPr>
        <p:blipFill>
          <a:blip r:embed="rId3"/>
          <a:stretch>
            <a:fillRect/>
          </a:stretch>
        </p:blipFill>
        <p:spPr>
          <a:xfrm>
            <a:off x="457200" y="3195538"/>
            <a:ext cx="4962832" cy="1517807"/>
          </a:xfrm>
          <a:prstGeom prst="rect">
            <a:avLst/>
          </a:prstGeom>
        </p:spPr>
      </p:pic>
      <p:pic>
        <p:nvPicPr>
          <p:cNvPr id="18" name="Imagem 17" descr="Uma imagem com texto, captura de ecrã, número&#10;&#10;Descrição gerada automaticamente">
            <a:extLst>
              <a:ext uri="{FF2B5EF4-FFF2-40B4-BE49-F238E27FC236}">
                <a16:creationId xmlns:a16="http://schemas.microsoft.com/office/drawing/2014/main" id="{32ADC55F-08D7-C370-2869-75E46919F51E}"/>
              </a:ext>
            </a:extLst>
          </p:cNvPr>
          <p:cNvPicPr>
            <a:picLocks noChangeAspect="1"/>
          </p:cNvPicPr>
          <p:nvPr/>
        </p:nvPicPr>
        <p:blipFill>
          <a:blip r:embed="rId4"/>
          <a:stretch>
            <a:fillRect/>
          </a:stretch>
        </p:blipFill>
        <p:spPr>
          <a:xfrm>
            <a:off x="5602912" y="2922532"/>
            <a:ext cx="2921655" cy="2086896"/>
          </a:xfrm>
          <a:prstGeom prst="rect">
            <a:avLst/>
          </a:prstGeom>
        </p:spPr>
      </p:pic>
    </p:spTree>
    <p:extLst>
      <p:ext uri="{BB962C8B-B14F-4D97-AF65-F5344CB8AC3E}">
        <p14:creationId xmlns:p14="http://schemas.microsoft.com/office/powerpoint/2010/main" val="647722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94960"/>
            <a:ext cx="8229600" cy="868680"/>
          </a:xfrm>
          <a:prstGeom prst="rect">
            <a:avLst/>
          </a:prstGeom>
          <a:noFill/>
          <a:ln/>
        </p:spPr>
        <p:txBody>
          <a:bodyPr wrap="square" lIns="0" tIns="0" rIns="0" bIns="0" rtlCol="0" anchor="ctr"/>
          <a:lstStyle/>
          <a:p>
            <a:pPr marL="0" indent="0" algn="ctr">
              <a:buNone/>
            </a:pPr>
            <a:r>
              <a:rPr lang="en-US" sz="3000" b="1" dirty="0">
                <a:solidFill>
                  <a:schemeClr val="accent1"/>
                </a:solidFill>
              </a:rPr>
              <a:t>Unified country mapping</a:t>
            </a:r>
            <a:endParaRPr lang="en-US" sz="3000" dirty="0"/>
          </a:p>
        </p:txBody>
      </p:sp>
      <p:graphicFrame>
        <p:nvGraphicFramePr>
          <p:cNvPr id="7" name="Groups table"/>
          <p:cNvGraphicFramePr>
            <a:graphicFrameLocks noGrp="1"/>
          </p:cNvGraphicFramePr>
          <p:nvPr>
            <p:extLst>
              <p:ext uri="{D42A27DB-BD31-4B8C-83A1-F6EECF244321}">
                <p14:modId xmlns:p14="http://schemas.microsoft.com/office/powerpoint/2010/main" val="220074019"/>
              </p:ext>
            </p:extLst>
          </p:nvPr>
        </p:nvGraphicFramePr>
        <p:xfrm>
          <a:off x="4312429" y="1142999"/>
          <a:ext cx="4374371" cy="3406877"/>
        </p:xfrm>
        <a:graphic>
          <a:graphicData uri="http://schemas.openxmlformats.org/drawingml/2006/table">
            <a:tbl>
              <a:tblPr/>
              <a:tblGrid>
                <a:gridCol w="1771282">
                  <a:extLst>
                    <a:ext uri="{9D8B030D-6E8A-4147-A177-3AD203B41FA5}">
                      <a16:colId xmlns:a16="http://schemas.microsoft.com/office/drawing/2014/main" val="20000"/>
                    </a:ext>
                  </a:extLst>
                </a:gridCol>
                <a:gridCol w="2145306">
                  <a:extLst>
                    <a:ext uri="{9D8B030D-6E8A-4147-A177-3AD203B41FA5}">
                      <a16:colId xmlns:a16="http://schemas.microsoft.com/office/drawing/2014/main" val="20001"/>
                    </a:ext>
                  </a:extLst>
                </a:gridCol>
                <a:gridCol w="457783">
                  <a:extLst>
                    <a:ext uri="{9D8B030D-6E8A-4147-A177-3AD203B41FA5}">
                      <a16:colId xmlns:a16="http://schemas.microsoft.com/office/drawing/2014/main" val="20002"/>
                    </a:ext>
                  </a:extLst>
                </a:gridCol>
              </a:tblGrid>
              <a:tr h="353306">
                <a:tc>
                  <a:txBody>
                    <a:bodyPr/>
                    <a:lstStyle/>
                    <a:p>
                      <a:pPr marL="0" indent="0">
                        <a:buNone/>
                      </a:pPr>
                      <a:r>
                        <a:rPr lang="en-US" sz="1300" b="1" dirty="0">
                          <a:solidFill>
                            <a:schemeClr val="bg1"/>
                          </a:solidFill>
                        </a:rPr>
                        <a:t>Country group</a:t>
                      </a:r>
                      <a:endParaRPr lang="en-US" sz="13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Countries</a:t>
                      </a:r>
                      <a:endParaRPr lang="en-US" sz="13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bg1"/>
                          </a:solidFill>
                        </a:rPr>
                        <a:t>n</a:t>
                      </a:r>
                      <a:endParaRPr lang="en-US" sz="13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45838">
                <a:tc>
                  <a:txBody>
                    <a:bodyPr/>
                    <a:lstStyle/>
                    <a:p>
                      <a:pPr marL="0" indent="0">
                        <a:buNone/>
                      </a:pPr>
                      <a:r>
                        <a:rPr lang="en-US" sz="1200" b="1" dirty="0">
                          <a:solidFill>
                            <a:schemeClr val="accent1"/>
                          </a:solidFill>
                        </a:rPr>
                        <a:t>Focus</a:t>
                      </a:r>
                      <a:endParaRPr lang="en-US" sz="12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Portugal</a:t>
                      </a:r>
                      <a:endParaRPr lang="en-US" sz="12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tx1"/>
                          </a:solidFill>
                        </a:rPr>
                        <a:t>1</a:t>
                      </a:r>
                      <a:endParaRPr lang="en-US" sz="12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715024">
                <a:tc>
                  <a:txBody>
                    <a:bodyPr/>
                    <a:lstStyle/>
                    <a:p>
                      <a:pPr marL="0" indent="0">
                        <a:buNone/>
                      </a:pPr>
                      <a:r>
                        <a:rPr lang="en-US" sz="1200" b="1" dirty="0">
                          <a:solidFill>
                            <a:schemeClr val="accent1"/>
                          </a:solidFill>
                        </a:rPr>
                        <a:t>Western Europe</a:t>
                      </a:r>
                      <a:endParaRPr lang="en-US" sz="12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ESP, FRA, DEU, BEL, ITA, IRL, GRC</a:t>
                      </a:r>
                      <a:endParaRPr lang="en-US" sz="12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tx1"/>
                          </a:solidFill>
                        </a:rPr>
                        <a:t>7</a:t>
                      </a:r>
                      <a:endParaRPr lang="en-US" sz="12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656139">
                <a:tc>
                  <a:txBody>
                    <a:bodyPr/>
                    <a:lstStyle/>
                    <a:p>
                      <a:pPr marL="0" indent="0">
                        <a:buNone/>
                      </a:pPr>
                      <a:r>
                        <a:rPr lang="en-US" sz="1200" b="1" dirty="0">
                          <a:solidFill>
                            <a:schemeClr val="accent1"/>
                          </a:solidFill>
                        </a:rPr>
                        <a:t>Central / Eastern Europe</a:t>
                      </a:r>
                      <a:endParaRPr lang="en-US" sz="12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POL, CZE, HUN, ROU</a:t>
                      </a:r>
                      <a:endParaRPr lang="en-US" sz="12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tx1"/>
                          </a:solidFill>
                        </a:rPr>
                        <a:t>4</a:t>
                      </a:r>
                      <a:endParaRPr lang="en-US" sz="12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527279">
                <a:tc>
                  <a:txBody>
                    <a:bodyPr/>
                    <a:lstStyle/>
                    <a:p>
                      <a:pPr marL="0" indent="0">
                        <a:buNone/>
                      </a:pPr>
                      <a:r>
                        <a:rPr lang="en-US" sz="1200" b="1" dirty="0">
                          <a:solidFill>
                            <a:schemeClr val="accent1"/>
                          </a:solidFill>
                        </a:rPr>
                        <a:t>Post-Soviet</a:t>
                      </a:r>
                      <a:endParaRPr lang="en-US" sz="12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EST, LVA, LTU</a:t>
                      </a:r>
                      <a:endParaRPr lang="en-US" sz="12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tx1"/>
                          </a:solidFill>
                        </a:rPr>
                        <a:t>3</a:t>
                      </a:r>
                      <a:endParaRPr lang="en-US" sz="12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709291">
                <a:tc>
                  <a:txBody>
                    <a:bodyPr/>
                    <a:lstStyle/>
                    <a:p>
                      <a:pPr marL="0" indent="0">
                        <a:buNone/>
                      </a:pPr>
                      <a:r>
                        <a:rPr lang="en-US" sz="1200" b="1" dirty="0">
                          <a:solidFill>
                            <a:schemeClr val="accent1"/>
                          </a:solidFill>
                        </a:rPr>
                        <a:t>Benchmark</a:t>
                      </a:r>
                      <a:endParaRPr lang="en-US" sz="12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European Union</a:t>
                      </a:r>
                      <a:endParaRPr lang="en-US" sz="12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tx1"/>
                          </a:solidFill>
                        </a:rPr>
                        <a:t>1</a:t>
                      </a:r>
                      <a:endParaRPr lang="en-US" sz="1200" dirty="0"/>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Mapping outputs"/>
          <p:cNvSpPr/>
          <p:nvPr/>
        </p:nvSpPr>
        <p:spPr>
          <a:xfrm>
            <a:off x="4452539" y="5039081"/>
            <a:ext cx="4108900" cy="675919"/>
          </a:xfrm>
          <a:prstGeom prst="rect">
            <a:avLst/>
          </a:prstGeom>
          <a:solidFill>
            <a:schemeClr val="bg2"/>
          </a:solidFill>
          <a:ln w="9525">
            <a:solidFill>
              <a:schemeClr val="accent3"/>
            </a:solidFill>
            <a:prstDash val="solid"/>
          </a:ln>
        </p:spPr>
        <p:txBody>
          <a:bodyPr/>
          <a:lstStyle/>
          <a:p>
            <a:endParaRPr lang="pt-PT"/>
          </a:p>
        </p:txBody>
      </p:sp>
      <p:sp>
        <p:nvSpPr>
          <p:cNvPr id="9" name="Mapping outputs text"/>
          <p:cNvSpPr txBox="1"/>
          <p:nvPr/>
        </p:nvSpPr>
        <p:spPr>
          <a:xfrm>
            <a:off x="4452539" y="5039081"/>
            <a:ext cx="4108900" cy="675919"/>
          </a:xfrm>
          <a:prstGeom prst="rect">
            <a:avLst/>
          </a:prstGeom>
          <a:noFill/>
          <a:ln/>
        </p:spPr>
        <p:txBody>
          <a:bodyPr wrap="square" rtlCol="0" anchor="ctr"/>
          <a:lstStyle/>
          <a:p>
            <a:pPr marL="0" indent="0">
              <a:spcAft>
                <a:spcPts val="400"/>
              </a:spcAft>
              <a:buNone/>
            </a:pPr>
            <a:r>
              <a:rPr lang="en-US" sz="1200" dirty="0"/>
              <a:t>The final mapping contains 16 rows, one per country, each with its code, name and one of the five country groups, it is stored both in the csv file and in the database table</a:t>
            </a:r>
          </a:p>
        </p:txBody>
      </p:sp>
      <p:pic>
        <p:nvPicPr>
          <p:cNvPr id="13" name="Imagem 12" descr="Uma imagem com texto, captura de ecrã, Tipo de letra, menu&#10;&#10;Descrição gerada automaticamente">
            <a:extLst>
              <a:ext uri="{FF2B5EF4-FFF2-40B4-BE49-F238E27FC236}">
                <a16:creationId xmlns:a16="http://schemas.microsoft.com/office/drawing/2014/main" id="{A7F0432F-520F-9299-566C-7BDA7B4A086C}"/>
              </a:ext>
            </a:extLst>
          </p:cNvPr>
          <p:cNvPicPr>
            <a:picLocks noChangeAspect="1"/>
          </p:cNvPicPr>
          <p:nvPr/>
        </p:nvPicPr>
        <p:blipFill>
          <a:blip r:embed="rId3"/>
          <a:stretch>
            <a:fillRect/>
          </a:stretch>
        </p:blipFill>
        <p:spPr>
          <a:xfrm>
            <a:off x="576661" y="3196642"/>
            <a:ext cx="3318387" cy="2898202"/>
          </a:xfrm>
          <a:prstGeom prst="rect">
            <a:avLst/>
          </a:prstGeom>
        </p:spPr>
      </p:pic>
      <p:pic>
        <p:nvPicPr>
          <p:cNvPr id="15" name="Imagem 14" descr="Uma imagem com texto, captura de ecrã, Tipo de letra&#10;&#10;Descrição gerada automaticamente">
            <a:extLst>
              <a:ext uri="{FF2B5EF4-FFF2-40B4-BE49-F238E27FC236}">
                <a16:creationId xmlns:a16="http://schemas.microsoft.com/office/drawing/2014/main" id="{D4B56225-E3A1-680B-BAE6-670639C2EB37}"/>
              </a:ext>
            </a:extLst>
          </p:cNvPr>
          <p:cNvPicPr>
            <a:picLocks noChangeAspect="1"/>
          </p:cNvPicPr>
          <p:nvPr/>
        </p:nvPicPr>
        <p:blipFill>
          <a:blip r:embed="rId4"/>
          <a:stretch>
            <a:fillRect/>
          </a:stretch>
        </p:blipFill>
        <p:spPr>
          <a:xfrm>
            <a:off x="457200" y="1143000"/>
            <a:ext cx="3557311" cy="1874282"/>
          </a:xfrm>
          <a:prstGeom prst="rect">
            <a:avLst/>
          </a:prstGeom>
        </p:spPr>
      </p:pic>
    </p:spTree>
    <p:extLst>
      <p:ext uri="{BB962C8B-B14F-4D97-AF65-F5344CB8AC3E}">
        <p14:creationId xmlns:p14="http://schemas.microsoft.com/office/powerpoint/2010/main" val="2915350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85354" y="2468880"/>
            <a:ext cx="7973291" cy="1188720"/>
          </a:xfrm>
          <a:prstGeom prst="rect">
            <a:avLst/>
          </a:prstGeom>
          <a:noFill/>
          <a:ln/>
        </p:spPr>
        <p:txBody>
          <a:bodyPr wrap="square" lIns="0" tIns="0" rIns="0" bIns="0" rtlCol="0" anchor="ctr"/>
          <a:lstStyle/>
          <a:p>
            <a:pPr marL="0" indent="0" algn="ctr">
              <a:buNone/>
            </a:pPr>
            <a:r>
              <a:rPr lang="en-US" sz="4400" b="1" dirty="0">
                <a:solidFill>
                  <a:schemeClr val="accent1"/>
                </a:solidFill>
              </a:rPr>
              <a:t>Task 3 – Data Warehouse Design</a:t>
            </a:r>
            <a:endParaRPr lang="en-US" sz="4400" b="1" dirty="0"/>
          </a:p>
        </p:txBody>
      </p:sp>
      <p:sp>
        <p:nvSpPr>
          <p:cNvPr id="3" name="Text 0"/>
          <p:cNvSpPr>
            <a:spLocks noGrp="1"/>
          </p:cNvSpPr>
          <p:nvPr>
            <p:ph type="body" idx="102" hasCustomPrompt="1"/>
          </p:nvPr>
        </p:nvSpPr>
        <p:spPr>
          <a:xfrm>
            <a:off x="685800" y="3657600"/>
            <a:ext cx="7772400" cy="731520"/>
          </a:xfrm>
          <a:prstGeom prst="rect">
            <a:avLst/>
          </a:prstGeom>
          <a:noFill/>
          <a:ln/>
        </p:spPr>
        <p:txBody>
          <a:bodyPr wrap="square" lIns="0" tIns="0" rIns="0" bIns="0" rtlCol="0" anchor="t"/>
          <a:lstStyle/>
          <a:p>
            <a:pPr marL="0" indent="0" algn="ctr">
              <a:buNone/>
            </a:pPr>
            <a:r>
              <a:rPr lang="en-US" sz="1800" dirty="0">
                <a:solidFill>
                  <a:schemeClr val="accent2"/>
                </a:solidFill>
              </a:rPr>
              <a:t>Star schema with three fact tables, three dimensions and an events bridge</a:t>
            </a:r>
            <a:endParaRPr lang="en-US" sz="1800" dirty="0"/>
          </a:p>
        </p:txBody>
      </p:sp>
    </p:spTree>
    <p:extLst>
      <p:ext uri="{BB962C8B-B14F-4D97-AF65-F5344CB8AC3E}">
        <p14:creationId xmlns:p14="http://schemas.microsoft.com/office/powerpoint/2010/main" val="3077372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868680"/>
          </a:xfrm>
          <a:prstGeom prst="rect">
            <a:avLst/>
          </a:prstGeom>
          <a:noFill/>
          <a:ln/>
        </p:spPr>
        <p:txBody>
          <a:bodyPr wrap="square" lIns="0" tIns="0" rIns="0" bIns="0" rtlCol="0" anchor="ctr"/>
          <a:lstStyle/>
          <a:p>
            <a:pPr marL="0" indent="0" algn="ctr">
              <a:buNone/>
            </a:pPr>
            <a:r>
              <a:rPr lang="en-US" sz="3000" b="1" dirty="0">
                <a:solidFill>
                  <a:schemeClr val="accent1"/>
                </a:solidFill>
              </a:rPr>
              <a:t>Star schema of the data warehouse</a:t>
            </a:r>
            <a:endParaRPr lang="en-US" sz="3000" dirty="0"/>
          </a:p>
        </p:txBody>
      </p:sp>
      <p:sp>
        <p:nvSpPr>
          <p:cNvPr id="4" name="Schema note"/>
          <p:cNvSpPr/>
          <p:nvPr/>
        </p:nvSpPr>
        <p:spPr>
          <a:xfrm>
            <a:off x="1280897" y="5715001"/>
            <a:ext cx="6582205" cy="263996"/>
          </a:xfrm>
          <a:prstGeom prst="rect">
            <a:avLst/>
          </a:prstGeom>
          <a:solidFill>
            <a:schemeClr val="bg2"/>
          </a:solidFill>
          <a:ln w="9525">
            <a:solidFill>
              <a:schemeClr val="accent3"/>
            </a:solidFill>
            <a:prstDash val="solid"/>
          </a:ln>
        </p:spPr>
        <p:txBody>
          <a:bodyPr/>
          <a:lstStyle/>
          <a:p>
            <a:endParaRPr lang="pt-PT"/>
          </a:p>
        </p:txBody>
      </p:sp>
      <p:sp>
        <p:nvSpPr>
          <p:cNvPr id="5" name="Schema note text"/>
          <p:cNvSpPr txBox="1"/>
          <p:nvPr/>
        </p:nvSpPr>
        <p:spPr>
          <a:xfrm>
            <a:off x="1280897" y="5715000"/>
            <a:ext cx="6582205" cy="263996"/>
          </a:xfrm>
          <a:prstGeom prst="rect">
            <a:avLst/>
          </a:prstGeom>
          <a:noFill/>
          <a:ln/>
        </p:spPr>
        <p:txBody>
          <a:bodyPr wrap="square" rtlCol="0" anchor="ctr"/>
          <a:lstStyle/>
          <a:p>
            <a:pPr marL="0" indent="0">
              <a:spcAft>
                <a:spcPts val="400"/>
              </a:spcAft>
              <a:buNone/>
            </a:pPr>
            <a:r>
              <a:rPr lang="en-US" sz="1200" dirty="0">
                <a:solidFill>
                  <a:schemeClr val="tx1"/>
                </a:solidFill>
              </a:rPr>
              <a:t>7 tables in a separate database (aid_dw), 3 facts, 3 dimensions with surrogate keys, and BRIDGE_EVENT</a:t>
            </a:r>
            <a:endParaRPr lang="en-US" sz="1200" dirty="0"/>
          </a:p>
        </p:txBody>
      </p:sp>
      <p:pic>
        <p:nvPicPr>
          <p:cNvPr id="7" name="Imagem 6" descr="Uma imagem com texto, design, captura de ecrã&#10;&#10;Descrição gerada automaticamente">
            <a:extLst>
              <a:ext uri="{FF2B5EF4-FFF2-40B4-BE49-F238E27FC236}">
                <a16:creationId xmlns:a16="http://schemas.microsoft.com/office/drawing/2014/main" id="{78561625-D088-8584-139C-514660A54DC2}"/>
              </a:ext>
            </a:extLst>
          </p:cNvPr>
          <p:cNvPicPr>
            <a:picLocks noChangeAspect="1"/>
          </p:cNvPicPr>
          <p:nvPr/>
        </p:nvPicPr>
        <p:blipFill>
          <a:blip r:embed="rId3"/>
          <a:stretch>
            <a:fillRect/>
          </a:stretch>
        </p:blipFill>
        <p:spPr>
          <a:xfrm>
            <a:off x="2127794" y="1143000"/>
            <a:ext cx="4888412" cy="4170143"/>
          </a:xfrm>
          <a:prstGeom prst="rect">
            <a:avLst/>
          </a:prstGeom>
        </p:spPr>
      </p:pic>
    </p:spTree>
    <p:extLst>
      <p:ext uri="{BB962C8B-B14F-4D97-AF65-F5344CB8AC3E}">
        <p14:creationId xmlns:p14="http://schemas.microsoft.com/office/powerpoint/2010/main" val="2835641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868680"/>
          </a:xfrm>
          <a:prstGeom prst="rect">
            <a:avLst/>
          </a:prstGeom>
          <a:noFill/>
          <a:ln/>
        </p:spPr>
        <p:txBody>
          <a:bodyPr wrap="square" lIns="0" tIns="0" rIns="0" bIns="0" rtlCol="0" anchor="ctr"/>
          <a:lstStyle/>
          <a:p>
            <a:pPr marL="0" indent="0" algn="ctr">
              <a:buNone/>
            </a:pPr>
            <a:r>
              <a:rPr lang="en-US" sz="3000" b="1" dirty="0">
                <a:solidFill>
                  <a:schemeClr val="accent1"/>
                </a:solidFill>
              </a:rPr>
              <a:t>Three fact tables, two grains</a:t>
            </a:r>
            <a:endParaRPr lang="en-US" sz="3000" dirty="0"/>
          </a:p>
        </p:txBody>
      </p:sp>
      <p:graphicFrame>
        <p:nvGraphicFramePr>
          <p:cNvPr id="4" name="Facts table"/>
          <p:cNvGraphicFramePr>
            <a:graphicFrameLocks noGrp="1"/>
          </p:cNvGraphicFramePr>
          <p:nvPr>
            <p:extLst>
              <p:ext uri="{D42A27DB-BD31-4B8C-83A1-F6EECF244321}">
                <p14:modId xmlns:p14="http://schemas.microsoft.com/office/powerpoint/2010/main" val="3482572624"/>
              </p:ext>
            </p:extLst>
          </p:nvPr>
        </p:nvGraphicFramePr>
        <p:xfrm>
          <a:off x="457200" y="1482212"/>
          <a:ext cx="8229600" cy="2414311"/>
        </p:xfrm>
        <a:graphic>
          <a:graphicData uri="http://schemas.openxmlformats.org/drawingml/2006/table">
            <a:tbl>
              <a:tblPr/>
              <a:tblGrid>
                <a:gridCol w="160020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56911">
                <a:tc>
                  <a:txBody>
                    <a:bodyPr/>
                    <a:lstStyle/>
                    <a:p>
                      <a:pPr marL="0" indent="0">
                        <a:buNone/>
                      </a:pPr>
                      <a:r>
                        <a:rPr lang="en-US" sz="1300" b="1" dirty="0">
                          <a:solidFill>
                            <a:schemeClr val="bg1"/>
                          </a:solidFill>
                        </a:rPr>
                        <a:t>Fact table</a:t>
                      </a:r>
                      <a:endParaRPr lang="en-US" sz="13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Grain</a:t>
                      </a:r>
                      <a:endParaRPr lang="en-US" sz="13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Measures</a:t>
                      </a:r>
                      <a:endParaRPr lang="en-US" sz="13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Source</a:t>
                      </a:r>
                      <a:endParaRPr lang="en-US" sz="13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85800">
                <a:tc>
                  <a:txBody>
                    <a:bodyPr/>
                    <a:lstStyle/>
                    <a:p>
                      <a:pPr marL="0" indent="0">
                        <a:buNone/>
                      </a:pPr>
                      <a:r>
                        <a:rPr lang="en-US" sz="1200" b="1" dirty="0">
                          <a:solidFill>
                            <a:schemeClr val="accent1"/>
                          </a:solidFill>
                        </a:rPr>
                        <a:t>FACT_ECONOMY</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Country × Year</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gdp_per_capita, gdp, gdp_growth_pct, exports_pct_gdp, imports_pct_gdp</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Maddison and WDI</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marL="0" indent="0">
                        <a:buNone/>
                      </a:pPr>
                      <a:r>
                        <a:rPr lang="en-US" sz="1200" b="1" dirty="0">
                          <a:solidFill>
                            <a:schemeClr val="accent1"/>
                          </a:solidFill>
                        </a:rPr>
                        <a:t>FACT_SOCIETY</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Country × Year</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population, gni_per_capita, life_expectancy, urban_pop_pct</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Maddison and WDI</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marL="0" indent="0">
                        <a:buNone/>
                      </a:pPr>
                      <a:r>
                        <a:rPr lang="en-US" sz="1200" b="1" dirty="0">
                          <a:solidFill>
                            <a:schemeClr val="accent1"/>
                          </a:solidFill>
                        </a:rPr>
                        <a:t>FACT_SECTOR</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Country × Year × Sector</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value_added_pct_gdp, value_added_usd, employment_pct</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WDI</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Why three facts"/>
          <p:cNvSpPr/>
          <p:nvPr/>
        </p:nvSpPr>
        <p:spPr>
          <a:xfrm>
            <a:off x="548640" y="4504895"/>
            <a:ext cx="3794760" cy="1045661"/>
          </a:xfrm>
          <a:prstGeom prst="rect">
            <a:avLst/>
          </a:prstGeom>
          <a:solidFill>
            <a:schemeClr val="bg2"/>
          </a:solidFill>
          <a:ln w="9525">
            <a:solidFill>
              <a:schemeClr val="accent3"/>
            </a:solidFill>
            <a:prstDash val="solid"/>
          </a:ln>
        </p:spPr>
        <p:txBody>
          <a:bodyPr/>
          <a:lstStyle/>
          <a:p>
            <a:endParaRPr lang="pt-PT"/>
          </a:p>
        </p:txBody>
      </p:sp>
      <p:sp>
        <p:nvSpPr>
          <p:cNvPr id="5" name="Why three facts text"/>
          <p:cNvSpPr txBox="1"/>
          <p:nvPr/>
        </p:nvSpPr>
        <p:spPr>
          <a:xfrm>
            <a:off x="548640" y="4504895"/>
            <a:ext cx="3794760" cy="1045661"/>
          </a:xfrm>
          <a:prstGeom prst="rect">
            <a:avLst/>
          </a:prstGeom>
          <a:noFill/>
          <a:ln/>
        </p:spPr>
        <p:txBody>
          <a:bodyPr wrap="square" rtlCol="0" anchor="t"/>
          <a:lstStyle/>
          <a:p>
            <a:pPr marL="0" indent="0">
              <a:spcAft>
                <a:spcPts val="400"/>
              </a:spcAft>
              <a:buNone/>
            </a:pPr>
            <a:r>
              <a:rPr lang="en-US" sz="1200" b="1" dirty="0">
                <a:solidFill>
                  <a:schemeClr val="accent1"/>
                </a:solidFill>
              </a:rPr>
              <a:t>Why three fact tables?</a:t>
            </a:r>
            <a:endParaRPr lang="en-US" sz="1200" dirty="0"/>
          </a:p>
          <a:p>
            <a:pPr marL="0" indent="0">
              <a:spcAft>
                <a:spcPts val="400"/>
              </a:spcAft>
              <a:buNone/>
            </a:pPr>
            <a:r>
              <a:rPr lang="en-US" sz="1200" dirty="0">
                <a:solidFill>
                  <a:schemeClr val="tx1"/>
                </a:solidFill>
              </a:rPr>
              <a:t>Economy and society are different subject areas</a:t>
            </a:r>
            <a:r>
              <a:rPr lang="en-US" sz="1200" dirty="0"/>
              <a:t>, </a:t>
            </a:r>
            <a:r>
              <a:rPr lang="en-US" sz="1200" dirty="0">
                <a:solidFill>
                  <a:schemeClr val="tx1"/>
                </a:solidFill>
              </a:rPr>
              <a:t>sector data has a finer grain. A single table would repeat country-level measures across sectors and aggregate them incorrectly</a:t>
            </a:r>
            <a:endParaRPr lang="en-US" sz="1200" dirty="0"/>
          </a:p>
        </p:txBody>
      </p:sp>
      <p:sp>
        <p:nvSpPr>
          <p:cNvPr id="6" name="Why DIM_SECTOR"/>
          <p:cNvSpPr/>
          <p:nvPr/>
        </p:nvSpPr>
        <p:spPr>
          <a:xfrm>
            <a:off x="4800602" y="4669340"/>
            <a:ext cx="3794760" cy="706448"/>
          </a:xfrm>
          <a:prstGeom prst="rect">
            <a:avLst/>
          </a:prstGeom>
          <a:solidFill>
            <a:schemeClr val="bg2"/>
          </a:solidFill>
          <a:ln w="9525">
            <a:solidFill>
              <a:schemeClr val="accent3"/>
            </a:solidFill>
            <a:prstDash val="solid"/>
          </a:ln>
        </p:spPr>
        <p:txBody>
          <a:bodyPr/>
          <a:lstStyle/>
          <a:p>
            <a:endParaRPr lang="pt-PT"/>
          </a:p>
        </p:txBody>
      </p:sp>
      <p:sp>
        <p:nvSpPr>
          <p:cNvPr id="7" name="Why DIM_SECTOR text"/>
          <p:cNvSpPr txBox="1"/>
          <p:nvPr/>
        </p:nvSpPr>
        <p:spPr>
          <a:xfrm>
            <a:off x="4800602" y="4669340"/>
            <a:ext cx="3794760" cy="706448"/>
          </a:xfrm>
          <a:prstGeom prst="rect">
            <a:avLst/>
          </a:prstGeom>
          <a:noFill/>
          <a:ln/>
        </p:spPr>
        <p:txBody>
          <a:bodyPr wrap="square" rtlCol="0" anchor="t"/>
          <a:lstStyle/>
          <a:p>
            <a:pPr marL="0" indent="0">
              <a:spcAft>
                <a:spcPts val="400"/>
              </a:spcAft>
              <a:buNone/>
            </a:pPr>
            <a:r>
              <a:rPr lang="en-US" sz="1200" b="1" dirty="0">
                <a:solidFill>
                  <a:schemeClr val="accent1"/>
                </a:solidFill>
              </a:rPr>
              <a:t>Why DIM_SECTOR only in FACT_SECTOR?</a:t>
            </a:r>
            <a:endParaRPr lang="en-US" sz="1200" dirty="0"/>
          </a:p>
          <a:p>
            <a:pPr marL="0" indent="0">
              <a:spcAft>
                <a:spcPts val="400"/>
              </a:spcAft>
              <a:buNone/>
            </a:pPr>
            <a:r>
              <a:rPr lang="en-US" sz="1200" dirty="0">
                <a:solidFill>
                  <a:schemeClr val="tx1"/>
                </a:solidFill>
              </a:rPr>
              <a:t>Only sector indicators are measured by sector. GDP, population or life expectancy do not belong to any sector</a:t>
            </a:r>
            <a:endParaRPr lang="en-US" sz="1200" dirty="0"/>
          </a:p>
        </p:txBody>
      </p:sp>
    </p:spTree>
    <p:extLst>
      <p:ext uri="{BB962C8B-B14F-4D97-AF65-F5344CB8AC3E}">
        <p14:creationId xmlns:p14="http://schemas.microsoft.com/office/powerpoint/2010/main" val="1776938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868680"/>
          </a:xfrm>
          <a:prstGeom prst="rect">
            <a:avLst/>
          </a:prstGeom>
          <a:noFill/>
          <a:ln/>
        </p:spPr>
        <p:txBody>
          <a:bodyPr wrap="square" lIns="0" tIns="0" rIns="0" bIns="0" rtlCol="0" anchor="ctr"/>
          <a:lstStyle/>
          <a:p>
            <a:pPr marL="0" indent="0" algn="ctr">
              <a:buNone/>
            </a:pPr>
            <a:r>
              <a:rPr lang="en-US" sz="3000" b="1" dirty="0">
                <a:solidFill>
                  <a:schemeClr val="accent1"/>
                </a:solidFill>
              </a:rPr>
              <a:t>Dimensions with surrogate keys</a:t>
            </a:r>
            <a:endParaRPr lang="en-US" sz="3000" dirty="0"/>
          </a:p>
        </p:txBody>
      </p:sp>
      <p:graphicFrame>
        <p:nvGraphicFramePr>
          <p:cNvPr id="5" name="Dimensions table"/>
          <p:cNvGraphicFramePr>
            <a:graphicFrameLocks noGrp="1"/>
          </p:cNvGraphicFramePr>
          <p:nvPr>
            <p:extLst>
              <p:ext uri="{D42A27DB-BD31-4B8C-83A1-F6EECF244321}">
                <p14:modId xmlns:p14="http://schemas.microsoft.com/office/powerpoint/2010/main" val="1987329265"/>
              </p:ext>
            </p:extLst>
          </p:nvPr>
        </p:nvGraphicFramePr>
        <p:xfrm>
          <a:off x="457200" y="1501386"/>
          <a:ext cx="8229600" cy="2299274"/>
        </p:xfrm>
        <a:graphic>
          <a:graphicData uri="http://schemas.openxmlformats.org/drawingml/2006/table">
            <a:tbl>
              <a:tblPr/>
              <a:tblGrid>
                <a:gridCol w="141732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379034">
                <a:tc>
                  <a:txBody>
                    <a:bodyPr/>
                    <a:lstStyle/>
                    <a:p>
                      <a:pPr marL="0" indent="0">
                        <a:buNone/>
                      </a:pPr>
                      <a:r>
                        <a:rPr lang="en-US" sz="1300" b="1" dirty="0">
                          <a:solidFill>
                            <a:schemeClr val="bg1"/>
                          </a:solidFill>
                        </a:rPr>
                        <a:t>Dimension</a:t>
                      </a:r>
                      <a:endParaRPr lang="en-US" sz="13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Surrogate key</a:t>
                      </a:r>
                      <a:endParaRPr lang="en-US" sz="13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Natural key (unique)</a:t>
                      </a:r>
                      <a:endParaRPr lang="en-US" sz="13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Attributes</a:t>
                      </a:r>
                      <a:endParaRPr lang="en-US" sz="13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Hierarchy</a:t>
                      </a:r>
                      <a:endParaRPr lang="en-US" sz="13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40080">
                <a:tc>
                  <a:txBody>
                    <a:bodyPr/>
                    <a:lstStyle/>
                    <a:p>
                      <a:pPr marL="0" indent="0">
                        <a:buNone/>
                      </a:pPr>
                      <a:r>
                        <a:rPr lang="en-US" sz="1200" b="1" dirty="0">
                          <a:solidFill>
                            <a:schemeClr val="accent1"/>
                          </a:solidFill>
                        </a:rPr>
                        <a:t>DIM_COUNTRY</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country_key</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iso3_code</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country_name, country_group</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Country group → Country</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200" b="1" dirty="0">
                          <a:solidFill>
                            <a:schemeClr val="accent1"/>
                          </a:solidFill>
                        </a:rPr>
                        <a:t>DIM_TIME</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time_key</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year</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decade</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Decade → Year</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buNone/>
                      </a:pPr>
                      <a:r>
                        <a:rPr lang="en-US" sz="1200" b="1" dirty="0">
                          <a:solidFill>
                            <a:schemeClr val="accent1"/>
                          </a:solidFill>
                        </a:rPr>
                        <a:t>DIM_SECTOR</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sector_key</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sector_name</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broad_sector</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Broad sector → Sector</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Conformed dims"/>
          <p:cNvSpPr/>
          <p:nvPr/>
        </p:nvSpPr>
        <p:spPr>
          <a:xfrm>
            <a:off x="548639" y="4384696"/>
            <a:ext cx="2423159" cy="1060409"/>
          </a:xfrm>
          <a:prstGeom prst="rect">
            <a:avLst/>
          </a:prstGeom>
          <a:solidFill>
            <a:schemeClr val="bg2"/>
          </a:solidFill>
          <a:ln w="9525">
            <a:solidFill>
              <a:schemeClr val="accent3"/>
            </a:solidFill>
            <a:prstDash val="solid"/>
          </a:ln>
        </p:spPr>
        <p:txBody>
          <a:bodyPr/>
          <a:lstStyle/>
          <a:p>
            <a:endParaRPr lang="pt-PT"/>
          </a:p>
        </p:txBody>
      </p:sp>
      <p:sp>
        <p:nvSpPr>
          <p:cNvPr id="3" name="Conformed dims text"/>
          <p:cNvSpPr txBox="1"/>
          <p:nvPr/>
        </p:nvSpPr>
        <p:spPr>
          <a:xfrm>
            <a:off x="548639" y="4384696"/>
            <a:ext cx="2423159" cy="1060409"/>
          </a:xfrm>
          <a:prstGeom prst="rect">
            <a:avLst/>
          </a:prstGeom>
          <a:noFill/>
          <a:ln/>
        </p:spPr>
        <p:txBody>
          <a:bodyPr wrap="square" rtlCol="0" anchor="t"/>
          <a:lstStyle/>
          <a:p>
            <a:pPr marL="0" indent="0">
              <a:spcAft>
                <a:spcPts val="400"/>
              </a:spcAft>
              <a:buNone/>
            </a:pPr>
            <a:r>
              <a:rPr lang="en-US" sz="1200" b="1" dirty="0">
                <a:solidFill>
                  <a:schemeClr val="accent1"/>
                </a:solidFill>
              </a:rPr>
              <a:t>Shared by all facts</a:t>
            </a:r>
            <a:endParaRPr lang="en-US" sz="1200" dirty="0"/>
          </a:p>
          <a:p>
            <a:pPr marL="0" indent="0">
              <a:spcAft>
                <a:spcPts val="400"/>
              </a:spcAft>
              <a:buNone/>
            </a:pPr>
            <a:r>
              <a:rPr lang="en-US" sz="1200" dirty="0">
                <a:solidFill>
                  <a:schemeClr val="tx1"/>
                </a:solidFill>
              </a:rPr>
              <a:t>DIM_COUNTRY and DIM_TIME are conformed</a:t>
            </a:r>
            <a:r>
              <a:rPr lang="en-US" sz="1200" dirty="0"/>
              <a:t>, </a:t>
            </a:r>
            <a:r>
              <a:rPr lang="en-US" sz="1200" dirty="0">
                <a:solidFill>
                  <a:schemeClr val="tx1"/>
                </a:solidFill>
              </a:rPr>
              <a:t>the three facts can be compared by country group, country, decade and year</a:t>
            </a:r>
            <a:endParaRPr lang="en-US" sz="1200" dirty="0"/>
          </a:p>
        </p:txBody>
      </p:sp>
      <p:sp>
        <p:nvSpPr>
          <p:cNvPr id="6" name="Sector hierarchy"/>
          <p:cNvSpPr/>
          <p:nvPr/>
        </p:nvSpPr>
        <p:spPr>
          <a:xfrm>
            <a:off x="3360420" y="4384696"/>
            <a:ext cx="2423160" cy="1060409"/>
          </a:xfrm>
          <a:prstGeom prst="rect">
            <a:avLst/>
          </a:prstGeom>
          <a:solidFill>
            <a:schemeClr val="bg2"/>
          </a:solidFill>
          <a:ln w="9525">
            <a:solidFill>
              <a:schemeClr val="accent3"/>
            </a:solidFill>
            <a:prstDash val="solid"/>
          </a:ln>
        </p:spPr>
        <p:txBody>
          <a:bodyPr/>
          <a:lstStyle/>
          <a:p>
            <a:endParaRPr lang="pt-PT"/>
          </a:p>
        </p:txBody>
      </p:sp>
      <p:sp>
        <p:nvSpPr>
          <p:cNvPr id="7" name="Sector hierarchy text"/>
          <p:cNvSpPr txBox="1"/>
          <p:nvPr/>
        </p:nvSpPr>
        <p:spPr>
          <a:xfrm>
            <a:off x="3360420" y="4384696"/>
            <a:ext cx="2423160" cy="1060409"/>
          </a:xfrm>
          <a:prstGeom prst="rect">
            <a:avLst/>
          </a:prstGeom>
          <a:noFill/>
          <a:ln/>
        </p:spPr>
        <p:txBody>
          <a:bodyPr wrap="square" rtlCol="0" anchor="t"/>
          <a:lstStyle/>
          <a:p>
            <a:pPr marL="0" indent="0">
              <a:spcAft>
                <a:spcPts val="400"/>
              </a:spcAft>
              <a:buNone/>
            </a:pPr>
            <a:r>
              <a:rPr lang="en-US" sz="1200" b="1" dirty="0">
                <a:solidFill>
                  <a:schemeClr val="accent1"/>
                </a:solidFill>
              </a:rPr>
              <a:t>Sector hierarchy</a:t>
            </a:r>
            <a:endParaRPr lang="en-US" sz="1200" dirty="0"/>
          </a:p>
          <a:p>
            <a:pPr marL="0" indent="0">
              <a:spcAft>
                <a:spcPts val="400"/>
              </a:spcAft>
              <a:buNone/>
            </a:pPr>
            <a:r>
              <a:rPr lang="en-US" sz="1200" dirty="0">
                <a:solidFill>
                  <a:schemeClr val="tx1"/>
                </a:solidFill>
              </a:rPr>
              <a:t>Primary → Agriculture, Secondary → Industry, Manufacturing, Tertiary → Services. Manufacturing is part of industry, never summed</a:t>
            </a:r>
            <a:endParaRPr lang="en-US" sz="1200" dirty="0"/>
          </a:p>
        </p:txBody>
      </p:sp>
      <p:sp>
        <p:nvSpPr>
          <p:cNvPr id="8" name="Integrity rules"/>
          <p:cNvSpPr/>
          <p:nvPr/>
        </p:nvSpPr>
        <p:spPr>
          <a:xfrm>
            <a:off x="6172200" y="4384696"/>
            <a:ext cx="2423160" cy="1060409"/>
          </a:xfrm>
          <a:prstGeom prst="rect">
            <a:avLst/>
          </a:prstGeom>
          <a:solidFill>
            <a:schemeClr val="bg2"/>
          </a:solidFill>
          <a:ln w="9525">
            <a:solidFill>
              <a:schemeClr val="accent3"/>
            </a:solidFill>
            <a:prstDash val="solid"/>
          </a:ln>
        </p:spPr>
        <p:txBody>
          <a:bodyPr/>
          <a:lstStyle/>
          <a:p>
            <a:endParaRPr lang="pt-PT"/>
          </a:p>
        </p:txBody>
      </p:sp>
      <p:sp>
        <p:nvSpPr>
          <p:cNvPr id="9" name="Integrity rules text"/>
          <p:cNvSpPr txBox="1"/>
          <p:nvPr/>
        </p:nvSpPr>
        <p:spPr>
          <a:xfrm>
            <a:off x="6172200" y="4384696"/>
            <a:ext cx="2423160" cy="1060409"/>
          </a:xfrm>
          <a:prstGeom prst="rect">
            <a:avLst/>
          </a:prstGeom>
          <a:noFill/>
          <a:ln/>
        </p:spPr>
        <p:txBody>
          <a:bodyPr wrap="square" rtlCol="0" anchor="t"/>
          <a:lstStyle/>
          <a:p>
            <a:pPr marL="0" indent="0">
              <a:spcAft>
                <a:spcPts val="400"/>
              </a:spcAft>
              <a:buNone/>
            </a:pPr>
            <a:r>
              <a:rPr lang="en-US" sz="1200" b="1" dirty="0">
                <a:solidFill>
                  <a:schemeClr val="accent1"/>
                </a:solidFill>
              </a:rPr>
              <a:t>Integrity rules</a:t>
            </a:r>
            <a:endParaRPr lang="en-US" sz="1200" dirty="0"/>
          </a:p>
          <a:p>
            <a:pPr marL="0" indent="0">
              <a:spcAft>
                <a:spcPts val="400"/>
              </a:spcAft>
              <a:buNone/>
            </a:pPr>
            <a:r>
              <a:rPr lang="en-US" sz="1200" dirty="0">
                <a:solidFill>
                  <a:schemeClr val="tx1"/>
                </a:solidFill>
              </a:rPr>
              <a:t>CHECK constraints on country_group, decade and broad_sector, unique natural keys, foreign keys from every fact</a:t>
            </a:r>
            <a:endParaRPr lang="en-US" sz="1200" dirty="0"/>
          </a:p>
        </p:txBody>
      </p:sp>
    </p:spTree>
    <p:extLst>
      <p:ext uri="{BB962C8B-B14F-4D97-AF65-F5344CB8AC3E}">
        <p14:creationId xmlns:p14="http://schemas.microsoft.com/office/powerpoint/2010/main" val="3692967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274320"/>
            <a:ext cx="8229600" cy="868680"/>
          </a:xfrm>
          <a:prstGeom prst="rect">
            <a:avLst/>
          </a:prstGeom>
          <a:noFill/>
          <a:ln/>
        </p:spPr>
        <p:txBody>
          <a:bodyPr wrap="square" lIns="0" tIns="0" rIns="0" bIns="0" rtlCol="0" anchor="ctr"/>
          <a:lstStyle/>
          <a:p>
            <a:pPr marL="0" indent="0" algn="ctr">
              <a:buNone/>
            </a:pPr>
            <a:r>
              <a:rPr lang="en-US" sz="3000" b="1" dirty="0">
                <a:solidFill>
                  <a:schemeClr val="accent1"/>
                </a:solidFill>
              </a:rPr>
              <a:t>Events integrated as a bridge table</a:t>
            </a:r>
            <a:endParaRPr lang="en-US" sz="3000" dirty="0"/>
          </a:p>
        </p:txBody>
      </p:sp>
      <p:graphicFrame>
        <p:nvGraphicFramePr>
          <p:cNvPr id="6" name="Events options table"/>
          <p:cNvGraphicFramePr>
            <a:graphicFrameLocks noGrp="1"/>
          </p:cNvGraphicFramePr>
          <p:nvPr>
            <p:extLst>
              <p:ext uri="{D42A27DB-BD31-4B8C-83A1-F6EECF244321}">
                <p14:modId xmlns:p14="http://schemas.microsoft.com/office/powerpoint/2010/main" val="2102640141"/>
              </p:ext>
            </p:extLst>
          </p:nvPr>
        </p:nvGraphicFramePr>
        <p:xfrm>
          <a:off x="457200" y="1685741"/>
          <a:ext cx="8229600" cy="2264664"/>
        </p:xfrm>
        <a:graphic>
          <a:graphicData uri="http://schemas.openxmlformats.org/drawingml/2006/table">
            <a:tbl>
              <a:tblPr/>
              <a:tblGrid>
                <a:gridCol w="29260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229288">
                <a:tc>
                  <a:txBody>
                    <a:bodyPr/>
                    <a:lstStyle/>
                    <a:p>
                      <a:pPr marL="0" indent="0">
                        <a:buNone/>
                      </a:pPr>
                      <a:r>
                        <a:rPr lang="en-US" sz="1300" b="1" dirty="0">
                          <a:solidFill>
                            <a:schemeClr val="bg1"/>
                          </a:solidFill>
                        </a:rPr>
                        <a:t>Option</a:t>
                      </a:r>
                      <a:endParaRPr lang="en-US" sz="13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Assessment</a:t>
                      </a:r>
                      <a:endParaRPr lang="en-US" sz="13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bg1"/>
                          </a:solidFill>
                        </a:rPr>
                        <a:t>Choice</a:t>
                      </a:r>
                      <a:endParaRPr lang="en-US" sz="13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40080">
                <a:tc>
                  <a:txBody>
                    <a:bodyPr/>
                    <a:lstStyle/>
                    <a:p>
                      <a:pPr marL="0" indent="0">
                        <a:buNone/>
                      </a:pPr>
                      <a:r>
                        <a:rPr lang="en-US" sz="1200" b="1" dirty="0">
                          <a:solidFill>
                            <a:schemeClr val="accent1"/>
                          </a:solidFill>
                        </a:rPr>
                        <a:t>1. Standalone table joined by year</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Simple, but loses the link to the country</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accent2"/>
                          </a:solidFill>
                        </a:rPr>
                        <a:t>–</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200" b="1" dirty="0">
                          <a:solidFill>
                            <a:schemeClr val="accent1"/>
                          </a:solidFill>
                        </a:rPr>
                        <a:t>2. Bridge to DIM_TIME and DIM_COUNTRY</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Keeps country and year, allows several events per country-year</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t>Chosen</a:t>
                      </a: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buNone/>
                      </a:pPr>
                      <a:r>
                        <a:rPr lang="en-US" sz="1200" b="1" dirty="0">
                          <a:solidFill>
                            <a:schemeClr val="accent1"/>
                          </a:solidFill>
                        </a:rPr>
                        <a:t>3. New DIM_EVENT dimension</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chemeClr val="tx1"/>
                          </a:solidFill>
                        </a:rPr>
                        <a:t>Does not fit the country-year grain</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accent2"/>
                          </a:solidFill>
                        </a:rPr>
                        <a:t>–</a:t>
                      </a:r>
                      <a:endParaRPr lang="en-US" sz="1200" dirty="0"/>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Bridge note"/>
          <p:cNvSpPr/>
          <p:nvPr/>
        </p:nvSpPr>
        <p:spPr>
          <a:xfrm>
            <a:off x="1434279" y="4493145"/>
            <a:ext cx="6275439" cy="824435"/>
          </a:xfrm>
          <a:prstGeom prst="rect">
            <a:avLst/>
          </a:prstGeom>
          <a:solidFill>
            <a:schemeClr val="bg2"/>
          </a:solidFill>
          <a:ln w="9525">
            <a:solidFill>
              <a:schemeClr val="accent3"/>
            </a:solidFill>
            <a:prstDash val="solid"/>
          </a:ln>
        </p:spPr>
        <p:txBody>
          <a:bodyPr/>
          <a:lstStyle/>
          <a:p>
            <a:endParaRPr lang="pt-PT"/>
          </a:p>
        </p:txBody>
      </p:sp>
      <p:sp>
        <p:nvSpPr>
          <p:cNvPr id="7" name="Bridge note text"/>
          <p:cNvSpPr txBox="1"/>
          <p:nvPr/>
        </p:nvSpPr>
        <p:spPr>
          <a:xfrm>
            <a:off x="1434281" y="4493146"/>
            <a:ext cx="6275438" cy="824434"/>
          </a:xfrm>
          <a:prstGeom prst="rect">
            <a:avLst/>
          </a:prstGeom>
          <a:noFill/>
          <a:ln/>
        </p:spPr>
        <p:txBody>
          <a:bodyPr wrap="square" rtlCol="0" anchor="ctr"/>
          <a:lstStyle/>
          <a:p>
            <a:pPr marL="0" indent="0">
              <a:spcAft>
                <a:spcPts val="400"/>
              </a:spcAft>
              <a:buNone/>
            </a:pPr>
            <a:r>
              <a:rPr lang="en-US" sz="1200" dirty="0">
                <a:solidFill>
                  <a:schemeClr val="tx1"/>
                </a:solidFill>
              </a:rPr>
              <a:t>BRIDGE_EVENT - one row per event, with country_key, time_key, description, category and impact</a:t>
            </a:r>
            <a:endParaRPr lang="en-US" sz="1200" dirty="0"/>
          </a:p>
          <a:p>
            <a:pPr marL="0" indent="0">
              <a:spcAft>
                <a:spcPts val="400"/>
              </a:spcAft>
              <a:buNone/>
            </a:pPr>
            <a:r>
              <a:rPr lang="en-US" sz="1200" dirty="0">
                <a:solidFill>
                  <a:schemeClr val="tx1"/>
                </a:solidFill>
              </a:rPr>
              <a:t>source_event_id links each row to stg_events and prevents double loading</a:t>
            </a:r>
            <a:endParaRPr lang="en-US" sz="1200" dirty="0"/>
          </a:p>
          <a:p>
            <a:pPr marL="0" indent="0">
              <a:spcAft>
                <a:spcPts val="400"/>
              </a:spcAft>
              <a:buNone/>
            </a:pPr>
            <a:r>
              <a:rPr lang="en-US" sz="1200" dirty="0">
                <a:solidFill>
                  <a:schemeClr val="tx1"/>
                </a:solidFill>
              </a:rPr>
              <a:t>Events are queried separately from the measures, to avoid multiplying them</a:t>
            </a:r>
            <a:endParaRPr lang="en-US" sz="1200" dirty="0"/>
          </a:p>
        </p:txBody>
      </p:sp>
    </p:spTree>
    <p:extLst>
      <p:ext uri="{BB962C8B-B14F-4D97-AF65-F5344CB8AC3E}">
        <p14:creationId xmlns:p14="http://schemas.microsoft.com/office/powerpoint/2010/main" val="4190607033"/>
      </p:ext>
    </p:extLst>
  </p:cSld>
  <p:clrMapOvr>
    <a:masterClrMapping/>
  </p:clrMapOvr>
</p:sld>
</file>

<file path=ppt/theme/theme1.xml><?xml version="1.0" encoding="utf-8"?>
<a:theme xmlns:a="http://schemas.openxmlformats.org/drawingml/2006/main" name="AID IST">
  <a:themeElements>
    <a:clrScheme name="AID IST">
      <a:dk1>
        <a:srgbClr val="262626"/>
      </a:dk1>
      <a:lt1>
        <a:srgbClr val="FFFFFF"/>
      </a:lt1>
      <a:dk2>
        <a:srgbClr val="0A6E94"/>
      </a:dk2>
      <a:lt2>
        <a:srgbClr val="F2F2F2"/>
      </a:lt2>
      <a:accent1>
        <a:srgbClr val="00A4D8"/>
      </a:accent1>
      <a:accent2>
        <a:srgbClr val="7F7F7F"/>
      </a:accent2>
      <a:accent3>
        <a:srgbClr val="D9D9D9"/>
      </a:accent3>
      <a:accent4>
        <a:srgbClr val="E8710A"/>
      </a:accent4>
      <a:accent5>
        <a:srgbClr val="2E9E5B"/>
      </a:accent5>
      <a:accent6>
        <a:srgbClr val="005A80"/>
      </a:accent6>
      <a:hlink>
        <a:srgbClr val="00A4D8"/>
      </a:hlink>
      <a:folHlink>
        <a:srgbClr val="7F7F7F"/>
      </a:folHlink>
    </a:clrScheme>
    <a:fontScheme name="AID IST">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602</TotalTime>
  <Words>1363</Words>
  <Application>Microsoft Macintosh PowerPoint</Application>
  <PresentationFormat>Apresentação no Ecrã (4:3)</PresentationFormat>
  <Paragraphs>234</Paragraphs>
  <Slides>21</Slides>
  <Notes>21</Notes>
  <HiddenSlides>0</HiddenSlides>
  <MMClips>0</MMClips>
  <ScaleCrop>false</ScaleCrop>
  <HeadingPairs>
    <vt:vector size="6" baseType="variant">
      <vt:variant>
        <vt:lpstr>Tipos de letra usados</vt:lpstr>
      </vt:variant>
      <vt:variant>
        <vt:i4>4</vt:i4>
      </vt:variant>
      <vt:variant>
        <vt:lpstr>Tema</vt:lpstr>
      </vt:variant>
      <vt:variant>
        <vt:i4>1</vt:i4>
      </vt:variant>
      <vt:variant>
        <vt:lpstr>Títulos dos diapositivos</vt:lpstr>
      </vt:variant>
      <vt:variant>
        <vt:i4>21</vt:i4>
      </vt:variant>
    </vt:vector>
  </HeadingPairs>
  <TitlesOfParts>
    <vt:vector size="26" baseType="lpstr">
      <vt:lpstr>Arial</vt:lpstr>
      <vt:lpstr>Calibri</vt:lpstr>
      <vt:lpstr>Courier New</vt:lpstr>
      <vt:lpstr>Wingdings</vt:lpstr>
      <vt:lpstr>AID IST</vt:lpstr>
      <vt:lpstr>Data Analysis and Integration</vt:lpstr>
      <vt:lpstr>Contents</vt:lpstr>
      <vt:lpstr>Task 1 – Staging and Data Profiling</vt:lpstr>
      <vt:lpstr>Staging schema with precise data types</vt:lpstr>
      <vt:lpstr>Load pipeline (one branch per source)</vt:lpstr>
      <vt:lpstr>Key transform configurations</vt:lpstr>
      <vt:lpstr>An unprotected comma</vt:lpstr>
      <vt:lpstr>All rows loaded into staging</vt:lpstr>
      <vt:lpstr>Profiling - six sections of queries (overview)</vt:lpstr>
      <vt:lpstr>Profiling (query screenshots)</vt:lpstr>
      <vt:lpstr>Data dictionaries</vt:lpstr>
      <vt:lpstr>Task 2 – Country-Code Reconciliation</vt:lpstr>
      <vt:lpstr>Reconciliation pipeline</vt:lpstr>
      <vt:lpstr>Key transform configurations</vt:lpstr>
      <vt:lpstr>After running the pipeline</vt:lpstr>
      <vt:lpstr>Unified country mapping</vt:lpstr>
      <vt:lpstr>Task 3 – Data Warehouse Design</vt:lpstr>
      <vt:lpstr>Star schema of the data warehouse</vt:lpstr>
      <vt:lpstr>Three fact tables, two grains</vt:lpstr>
      <vt:lpstr>Dimensions with surrogate keys</vt:lpstr>
      <vt:lpstr>Events integrated as a bridge table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 2026/27 Project - Group 20</dc:title>
  <dc:subject>PptxGenJS Presentation</dc:subject>
  <dc:creator>Group 20</dc:creator>
  <cp:lastModifiedBy>Maximilian Xavier (ITS)</cp:lastModifiedBy>
  <cp:revision>33</cp:revision>
  <dcterms:created xsi:type="dcterms:W3CDTF">2026-10-13T17:35:57Z</dcterms:created>
  <dcterms:modified xsi:type="dcterms:W3CDTF">2026-10-17T16:10:38Z</dcterms:modified>
</cp:coreProperties>
</file>