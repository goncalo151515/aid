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8" r:id="rId12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D24A071-2482-75C3-9696-DEA15241FE29}">
          <p14:sldIdLst>
            <p14:sldId id="256"/>
            <p14:sldId id="270"/>
          </p14:sldIdLst>
        </p14:section>
        <p14:section name="Task 1" id="{0C936867-B92E-6AD0-078A-78B2A96FBC4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9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41"/>
    <p:restoredTop sz="94632"/>
  </p:normalViewPr>
  <p:slideViewPr>
    <p:cSldViewPr snapToGrid="0" snapToObjects="1">
      <p:cViewPr varScale="1">
        <p:scale>
          <a:sx n="173" d="100"/>
          <a:sy n="173" d="100"/>
        </p:scale>
        <p:origin x="18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725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936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1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D_TITLE">
    <p:bg>
      <p:bgPr>
        <a:solidFill>
          <a:srgbClr val="00A4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2194560" cy="85039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3657600"/>
            <a:ext cx="80467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D_SEC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09360"/>
            <a:ext cx="301752" cy="36576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85800" y="23774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400" dirty="0">
                <a:solidFill>
                  <a:schemeClr val="accent1"/>
                </a:solidFill>
              </a:defRPr>
            </a:lvl1pPr>
          </a:lstStyle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D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09360"/>
            <a:ext cx="301752" cy="36576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dirty="0">
                <a:solidFill>
                  <a:schemeClr val="accent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 and Integration</a:t>
            </a: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36576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Portugal's Economic and Human Development - A Century of Transformation</a:t>
            </a:r>
            <a:endParaRPr lang="en-US" sz="1800" dirty="0"/>
          </a:p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buNone/>
            </a:pPr>
            <a:endParaRPr lang="en-US" sz="1800" dirty="0"/>
          </a:p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26/27 – Group 20</a:t>
            </a:r>
            <a:endParaRPr lang="en-US" sz="1800" dirty="0"/>
          </a:p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Gonçalo Xavier (</a:t>
            </a:r>
            <a:r>
              <a:rPr lang="en-US" sz="1600" dirty="0"/>
              <a:t>109560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</a:t>
            </a:r>
            <a:r>
              <a:rPr lang="en-US" sz="1600" dirty="0"/>
              <a:t>&amp;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Rita Líbano Monteiro (110754)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Contents</a:t>
            </a:r>
            <a:endParaRPr lang="en-US" sz="3000" b="1" dirty="0"/>
          </a:p>
        </p:txBody>
      </p:sp>
      <p:sp>
        <p:nvSpPr>
          <p:cNvPr id="5" name="Task 1 item text"/>
          <p:cNvSpPr txBox="1"/>
          <p:nvPr/>
        </p:nvSpPr>
        <p:spPr>
          <a:xfrm>
            <a:off x="1143000" y="189280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1.   </a:t>
            </a:r>
            <a:r>
              <a:rPr lang="en-US" sz="1400" b="1" dirty="0">
                <a:solidFill>
                  <a:schemeClr val="accent1"/>
                </a:solidFill>
              </a:rPr>
              <a:t>Staging and Data Profiling</a:t>
            </a:r>
          </a:p>
        </p:txBody>
      </p:sp>
      <p:sp>
        <p:nvSpPr>
          <p:cNvPr id="8" name="Task 2 item text"/>
          <p:cNvSpPr txBox="1"/>
          <p:nvPr/>
        </p:nvSpPr>
        <p:spPr>
          <a:xfrm>
            <a:off x="1143000" y="279806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2.   </a:t>
            </a:r>
            <a:r>
              <a:rPr lang="en-US" sz="1400" b="1" dirty="0">
                <a:solidFill>
                  <a:schemeClr val="accent1"/>
                </a:solidFill>
              </a:rPr>
              <a:t>t2</a:t>
            </a:r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8" name="Task 2 item text">
            <a:extLst>
              <a:ext uri="{FF2B5EF4-FFF2-40B4-BE49-F238E27FC236}">
                <a16:creationId xmlns:a16="http://schemas.microsoft.com/office/drawing/2014/main" id="{3B0CEE02-DA03-69B3-C076-C131583FAF03}"/>
              </a:ext>
            </a:extLst>
          </p:cNvPr>
          <p:cNvSpPr txBox="1"/>
          <p:nvPr/>
        </p:nvSpPr>
        <p:spPr>
          <a:xfrm>
            <a:off x="1115569" y="370332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3.   </a:t>
            </a:r>
            <a:r>
              <a:rPr lang="en-US" sz="1400" b="1" dirty="0">
                <a:solidFill>
                  <a:schemeClr val="accent1"/>
                </a:solidFill>
              </a:rPr>
              <a:t>t3</a:t>
            </a:r>
          </a:p>
        </p:txBody>
      </p:sp>
      <p:sp>
        <p:nvSpPr>
          <p:cNvPr id="29" name="Task 2 item text">
            <a:extLst>
              <a:ext uri="{FF2B5EF4-FFF2-40B4-BE49-F238E27FC236}">
                <a16:creationId xmlns:a16="http://schemas.microsoft.com/office/drawing/2014/main" id="{633436ED-7896-2586-4565-B86FA19C6F5D}"/>
              </a:ext>
            </a:extLst>
          </p:cNvPr>
          <p:cNvSpPr txBox="1"/>
          <p:nvPr/>
        </p:nvSpPr>
        <p:spPr>
          <a:xfrm>
            <a:off x="1115569" y="460857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4.   </a:t>
            </a:r>
            <a:r>
              <a:rPr lang="en-US" sz="1400" b="1" dirty="0">
                <a:solidFill>
                  <a:schemeClr val="accent1"/>
                </a:solidFill>
              </a:rPr>
              <a:t>t4</a:t>
            </a:r>
          </a:p>
        </p:txBody>
      </p:sp>
      <p:sp>
        <p:nvSpPr>
          <p:cNvPr id="30" name="Task 2 item text">
            <a:extLst>
              <a:ext uri="{FF2B5EF4-FFF2-40B4-BE49-F238E27FC236}">
                <a16:creationId xmlns:a16="http://schemas.microsoft.com/office/drawing/2014/main" id="{782A6004-B64F-6BA4-285A-CA928124065B}"/>
              </a:ext>
            </a:extLst>
          </p:cNvPr>
          <p:cNvSpPr txBox="1"/>
          <p:nvPr/>
        </p:nvSpPr>
        <p:spPr>
          <a:xfrm>
            <a:off x="5262715" y="189280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5.   </a:t>
            </a:r>
            <a:r>
              <a:rPr lang="en-US" sz="1400" b="1" dirty="0">
                <a:solidFill>
                  <a:schemeClr val="accent1"/>
                </a:solidFill>
              </a:rPr>
              <a:t>t2</a:t>
            </a:r>
          </a:p>
        </p:txBody>
      </p:sp>
      <p:sp>
        <p:nvSpPr>
          <p:cNvPr id="31" name="Task 2 item text">
            <a:extLst>
              <a:ext uri="{FF2B5EF4-FFF2-40B4-BE49-F238E27FC236}">
                <a16:creationId xmlns:a16="http://schemas.microsoft.com/office/drawing/2014/main" id="{FE8F97F8-5D5E-8FB8-8B2B-FBD701D0C010}"/>
              </a:ext>
            </a:extLst>
          </p:cNvPr>
          <p:cNvSpPr txBox="1"/>
          <p:nvPr/>
        </p:nvSpPr>
        <p:spPr>
          <a:xfrm>
            <a:off x="5262715" y="279806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6.   </a:t>
            </a:r>
            <a:r>
              <a:rPr lang="en-US" sz="1400" b="1" dirty="0">
                <a:solidFill>
                  <a:schemeClr val="accent1"/>
                </a:solidFill>
              </a:rPr>
              <a:t>t2</a:t>
            </a:r>
          </a:p>
        </p:txBody>
      </p:sp>
      <p:sp>
        <p:nvSpPr>
          <p:cNvPr id="32" name="Task 2 item text">
            <a:extLst>
              <a:ext uri="{FF2B5EF4-FFF2-40B4-BE49-F238E27FC236}">
                <a16:creationId xmlns:a16="http://schemas.microsoft.com/office/drawing/2014/main" id="{8A5095FB-3F9C-2355-F858-0D8F2866DAA9}"/>
              </a:ext>
            </a:extLst>
          </p:cNvPr>
          <p:cNvSpPr txBox="1"/>
          <p:nvPr/>
        </p:nvSpPr>
        <p:spPr>
          <a:xfrm>
            <a:off x="5262715" y="370332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7.   </a:t>
            </a:r>
            <a:r>
              <a:rPr lang="en-US" sz="1400" b="1" dirty="0">
                <a:solidFill>
                  <a:schemeClr val="accent1"/>
                </a:solidFill>
              </a:rPr>
              <a:t>t2</a:t>
            </a:r>
          </a:p>
        </p:txBody>
      </p:sp>
      <p:sp>
        <p:nvSpPr>
          <p:cNvPr id="33" name="Task 2 item text">
            <a:extLst>
              <a:ext uri="{FF2B5EF4-FFF2-40B4-BE49-F238E27FC236}">
                <a16:creationId xmlns:a16="http://schemas.microsoft.com/office/drawing/2014/main" id="{043C8BFC-E581-4943-5DF2-8CBD53BCA43C}"/>
              </a:ext>
            </a:extLst>
          </p:cNvPr>
          <p:cNvSpPr txBox="1"/>
          <p:nvPr/>
        </p:nvSpPr>
        <p:spPr>
          <a:xfrm>
            <a:off x="5262715" y="460857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i="1" dirty="0">
                <a:solidFill>
                  <a:schemeClr val="accent1"/>
                </a:solidFill>
              </a:rPr>
              <a:t>8.   </a:t>
            </a:r>
            <a:r>
              <a:rPr lang="en-US" sz="1400" b="1" dirty="0">
                <a:solidFill>
                  <a:schemeClr val="accent1"/>
                </a:solidFill>
              </a:rPr>
              <a:t>t2</a:t>
            </a:r>
          </a:p>
        </p:txBody>
      </p:sp>
    </p:spTree>
    <p:extLst>
      <p:ext uri="{BB962C8B-B14F-4D97-AF65-F5344CB8AC3E}">
        <p14:creationId xmlns:p14="http://schemas.microsoft.com/office/powerpoint/2010/main" val="2079837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85354" y="2468880"/>
            <a:ext cx="797329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</a:rPr>
              <a:t>Task 1 – Staging and Data Profiling</a:t>
            </a:r>
            <a:endParaRPr lang="en-US" sz="4400" b="1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accent2"/>
                </a:solidFill>
              </a:rPr>
              <a:t>Staging database, load pipeline, exploratory queries and data dictionaries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ranch Maddison">
            <a:extLst>
              <a:ext uri="{FF2B5EF4-FFF2-40B4-BE49-F238E27FC236}">
                <a16:creationId xmlns:a16="http://schemas.microsoft.com/office/drawing/2014/main" id="{6055F861-9C4F-0E4C-0661-A8AAAEB50783}"/>
              </a:ext>
            </a:extLst>
          </p:cNvPr>
          <p:cNvSpPr/>
          <p:nvPr/>
        </p:nvSpPr>
        <p:spPr>
          <a:xfrm>
            <a:off x="3833296" y="1147287"/>
            <a:ext cx="4542906" cy="914755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1" name="Regex">
            <a:extLst>
              <a:ext uri="{FF2B5EF4-FFF2-40B4-BE49-F238E27FC236}">
                <a16:creationId xmlns:a16="http://schemas.microsoft.com/office/drawing/2014/main" id="{18A12302-CBD2-A38D-6B11-9B5A5A99CD89}"/>
              </a:ext>
            </a:extLst>
          </p:cNvPr>
          <p:cNvSpPr/>
          <p:nvPr/>
        </p:nvSpPr>
        <p:spPr>
          <a:xfrm>
            <a:off x="3833296" y="1141638"/>
            <a:ext cx="4542906" cy="9204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Staging schema with precise data types</a:t>
            </a:r>
            <a:endParaRPr lang="en-US" sz="3000" b="1" dirty="0"/>
          </a:p>
        </p:txBody>
      </p:sp>
      <p:pic>
        <p:nvPicPr>
          <p:cNvPr id="28" name="Imagem 27" descr="Uma imagem com texto, captura de ecrã, software&#10;&#10;Descrição gerada automaticamente">
            <a:extLst>
              <a:ext uri="{FF2B5EF4-FFF2-40B4-BE49-F238E27FC236}">
                <a16:creationId xmlns:a16="http://schemas.microsoft.com/office/drawing/2014/main" id="{6926A1C8-FC44-D5A9-C386-85BCB7EC3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3065499" cy="4721979"/>
          </a:xfrm>
          <a:prstGeom prst="rect">
            <a:avLst/>
          </a:prstGeom>
        </p:spPr>
      </p:pic>
      <p:sp>
        <p:nvSpPr>
          <p:cNvPr id="30" name="CaixaDeTexto 29">
            <a:extLst>
              <a:ext uri="{FF2B5EF4-FFF2-40B4-BE49-F238E27FC236}">
                <a16:creationId xmlns:a16="http://schemas.microsoft.com/office/drawing/2014/main" id="{B14B41C3-2A8B-5333-57AD-5D3B19A77ED8}"/>
              </a:ext>
            </a:extLst>
          </p:cNvPr>
          <p:cNvSpPr txBox="1"/>
          <p:nvPr/>
        </p:nvSpPr>
        <p:spPr>
          <a:xfrm>
            <a:off x="3833296" y="1143000"/>
            <a:ext cx="45429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Maddison and Wdi use the same composite primary key, each row is one value per country, indicator and year, so country and the indicator alone repeat every year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0D49A8A-C46B-D7F9-E61B-BF4D904D9105}"/>
              </a:ext>
            </a:extLst>
          </p:cNvPr>
          <p:cNvSpPr txBox="1"/>
          <p:nvPr/>
        </p:nvSpPr>
        <p:spPr>
          <a:xfrm>
            <a:off x="3833296" y="1785043"/>
            <a:ext cx="4542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Events has no natural key so it was necessary to create a surrogate key</a:t>
            </a:r>
          </a:p>
        </p:txBody>
      </p:sp>
      <p:pic>
        <p:nvPicPr>
          <p:cNvPr id="35" name="Imagem 34" descr="Uma imagem com texto, recibo, algebra&#10;&#10;Descrição gerada automaticamente">
            <a:extLst>
              <a:ext uri="{FF2B5EF4-FFF2-40B4-BE49-F238E27FC236}">
                <a16:creationId xmlns:a16="http://schemas.microsoft.com/office/drawing/2014/main" id="{B10BFFA8-1724-CCDE-4BEF-58DEB3B49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909" y="5118768"/>
            <a:ext cx="4872451" cy="1009321"/>
          </a:xfrm>
          <a:prstGeom prst="rect">
            <a:avLst/>
          </a:prstGeom>
        </p:spPr>
      </p:pic>
      <p:pic>
        <p:nvPicPr>
          <p:cNvPr id="37" name="Imagem 36" descr="Uma imagem com texto, menu, preto e branco, captura de ecrã&#10;&#10;Descrição gerada automaticamente">
            <a:extLst>
              <a:ext uri="{FF2B5EF4-FFF2-40B4-BE49-F238E27FC236}">
                <a16:creationId xmlns:a16="http://schemas.microsoft.com/office/drawing/2014/main" id="{C50145E9-7967-3FB9-209F-C548F89D66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2909" y="2216727"/>
            <a:ext cx="3530600" cy="1784350"/>
          </a:xfrm>
          <a:prstGeom prst="rect">
            <a:avLst/>
          </a:prstGeom>
        </p:spPr>
      </p:pic>
      <p:pic>
        <p:nvPicPr>
          <p:cNvPr id="39" name="Imagem 38" descr="Uma imagem com texto, preto e branco, captura de ecrã, menu&#10;&#10;Descrição gerada automaticamente">
            <a:extLst>
              <a:ext uri="{FF2B5EF4-FFF2-40B4-BE49-F238E27FC236}">
                <a16:creationId xmlns:a16="http://schemas.microsoft.com/office/drawing/2014/main" id="{6055BB66-E168-7B69-8A4E-DDA7A1EFEB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779" y="3187098"/>
            <a:ext cx="3573423" cy="19373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ranch WDI"/>
          <p:cNvSpPr/>
          <p:nvPr/>
        </p:nvSpPr>
        <p:spPr>
          <a:xfrm>
            <a:off x="5987935" y="4925928"/>
            <a:ext cx="2331720" cy="70796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Regex">
            <a:extLst>
              <a:ext uri="{FF2B5EF4-FFF2-40B4-BE49-F238E27FC236}">
                <a16:creationId xmlns:a16="http://schemas.microsoft.com/office/drawing/2014/main" id="{FA6DC315-90E9-3E50-4CF1-07C0A6144F05}"/>
              </a:ext>
            </a:extLst>
          </p:cNvPr>
          <p:cNvSpPr/>
          <p:nvPr/>
        </p:nvSpPr>
        <p:spPr>
          <a:xfrm>
            <a:off x="5987935" y="4920384"/>
            <a:ext cx="2331720" cy="70796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Branch WDI text"/>
          <p:cNvSpPr txBox="1"/>
          <p:nvPr/>
        </p:nvSpPr>
        <p:spPr>
          <a:xfrm>
            <a:off x="5987935" y="4920383"/>
            <a:ext cx="2331720" cy="7079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WDI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CSV file input → Table output (stg_wdi)</a:t>
            </a:r>
            <a:endParaRPr lang="en-US" sz="1200" dirty="0"/>
          </a:p>
        </p:txBody>
      </p:sp>
      <p:sp>
        <p:nvSpPr>
          <p:cNvPr id="7" name="Branch Events"/>
          <p:cNvSpPr/>
          <p:nvPr/>
        </p:nvSpPr>
        <p:spPr>
          <a:xfrm>
            <a:off x="3417570" y="4925934"/>
            <a:ext cx="2308860" cy="707969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Regex">
            <a:extLst>
              <a:ext uri="{FF2B5EF4-FFF2-40B4-BE49-F238E27FC236}">
                <a16:creationId xmlns:a16="http://schemas.microsoft.com/office/drawing/2014/main" id="{1555EEB7-983C-8E5A-1032-2F5B709AF460}"/>
              </a:ext>
            </a:extLst>
          </p:cNvPr>
          <p:cNvSpPr/>
          <p:nvPr/>
        </p:nvSpPr>
        <p:spPr>
          <a:xfrm>
            <a:off x="3417570" y="4925934"/>
            <a:ext cx="2308860" cy="70796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Branch Events text"/>
          <p:cNvSpPr txBox="1"/>
          <p:nvPr/>
        </p:nvSpPr>
        <p:spPr>
          <a:xfrm>
            <a:off x="3417570" y="4925937"/>
            <a:ext cx="2308860" cy="7079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Events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CSV file input → Regex evaluation → Filter rows → Table output</a:t>
            </a:r>
            <a:endParaRPr lang="en-US" sz="1200" dirty="0"/>
          </a:p>
        </p:txBody>
      </p:sp>
      <p:sp>
        <p:nvSpPr>
          <p:cNvPr id="5" name="Branch Maddison"/>
          <p:cNvSpPr/>
          <p:nvPr/>
        </p:nvSpPr>
        <p:spPr>
          <a:xfrm>
            <a:off x="840971" y="4925933"/>
            <a:ext cx="2315094" cy="707967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gex">
            <a:extLst>
              <a:ext uri="{FF2B5EF4-FFF2-40B4-BE49-F238E27FC236}">
                <a16:creationId xmlns:a16="http://schemas.microsoft.com/office/drawing/2014/main" id="{FDC5463C-914F-A047-2209-84AFA9034FA5}"/>
              </a:ext>
            </a:extLst>
          </p:cNvPr>
          <p:cNvSpPr/>
          <p:nvPr/>
        </p:nvSpPr>
        <p:spPr>
          <a:xfrm>
            <a:off x="847205" y="4925930"/>
            <a:ext cx="2308860" cy="70796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Branch Maddison text"/>
          <p:cNvSpPr txBox="1"/>
          <p:nvPr/>
        </p:nvSpPr>
        <p:spPr>
          <a:xfrm>
            <a:off x="840970" y="4925933"/>
            <a:ext cx="2315095" cy="7079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Maddison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CSV file input → Table output (stg_maddison)</a:t>
            </a:r>
            <a:endParaRPr lang="en-US" sz="1200" dirty="0"/>
          </a:p>
        </p:txBody>
      </p:sp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Load pipeline</a:t>
            </a:r>
            <a:r>
              <a:rPr lang="en-US" b="1" dirty="0"/>
              <a:t> (</a:t>
            </a:r>
            <a:r>
              <a:rPr lang="en-US" sz="3000" b="1" dirty="0">
                <a:solidFill>
                  <a:schemeClr val="accent1"/>
                </a:solidFill>
              </a:rPr>
              <a:t>one branch per source)</a:t>
            </a:r>
            <a:endParaRPr lang="en-US" sz="3000" b="1" dirty="0"/>
          </a:p>
        </p:txBody>
      </p:sp>
      <p:pic>
        <p:nvPicPr>
          <p:cNvPr id="22" name="Imagem 21" descr="Uma imagem com texto, captura de ecrã, Tipo de letra, diagrama&#10;&#10;Descrição gerada automaticamente">
            <a:extLst>
              <a:ext uri="{FF2B5EF4-FFF2-40B4-BE49-F238E27FC236}">
                <a16:creationId xmlns:a16="http://schemas.microsoft.com/office/drawing/2014/main" id="{773EB7F1-DD83-C818-84FB-A7EB4C235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24096"/>
            <a:ext cx="7772400" cy="3292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gex">
            <a:extLst>
              <a:ext uri="{FF2B5EF4-FFF2-40B4-BE49-F238E27FC236}">
                <a16:creationId xmlns:a16="http://schemas.microsoft.com/office/drawing/2014/main" id="{BAAAA5AE-6EF8-1F35-7DAE-312EE086EE9E}"/>
              </a:ext>
            </a:extLst>
          </p:cNvPr>
          <p:cNvSpPr/>
          <p:nvPr/>
        </p:nvSpPr>
        <p:spPr>
          <a:xfrm>
            <a:off x="5416434" y="4872644"/>
            <a:ext cx="2798617" cy="54448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gex">
            <a:extLst>
              <a:ext uri="{FF2B5EF4-FFF2-40B4-BE49-F238E27FC236}">
                <a16:creationId xmlns:a16="http://schemas.microsoft.com/office/drawing/2014/main" id="{26827578-8DEE-E02E-B17A-7254B0AA9E71}"/>
              </a:ext>
            </a:extLst>
          </p:cNvPr>
          <p:cNvSpPr/>
          <p:nvPr/>
        </p:nvSpPr>
        <p:spPr>
          <a:xfrm>
            <a:off x="928949" y="4803796"/>
            <a:ext cx="2798617" cy="687185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Key transform configurations</a:t>
            </a:r>
            <a:endParaRPr lang="en-US" sz="3000" b="1" dirty="0"/>
          </a:p>
        </p:txBody>
      </p:sp>
      <p:sp>
        <p:nvSpPr>
          <p:cNvPr id="7" name="Notes CSV input"/>
          <p:cNvSpPr txBox="1"/>
          <p:nvPr/>
        </p:nvSpPr>
        <p:spPr>
          <a:xfrm>
            <a:off x="928948" y="4803796"/>
            <a:ext cx="2798618" cy="6871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chemeClr val="tx1"/>
                </a:solidFill>
              </a:rPr>
              <a:t>Path with ${PROJECT_HOME}, not an absolute path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chemeClr val="tx1"/>
                </a:solidFill>
              </a:rPr>
              <a:t>year is Integer, value is BigNumber</a:t>
            </a:r>
            <a:endParaRPr lang="en-US" sz="1200" dirty="0"/>
          </a:p>
        </p:txBody>
      </p:sp>
      <p:sp>
        <p:nvSpPr>
          <p:cNvPr id="8" name="Notes Table output"/>
          <p:cNvSpPr txBox="1"/>
          <p:nvPr/>
        </p:nvSpPr>
        <p:spPr>
          <a:xfrm>
            <a:off x="5416431" y="4872644"/>
            <a:ext cx="2798617" cy="5541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chemeClr val="tx1"/>
                </a:solidFill>
              </a:rPr>
              <a:t>Truncate table</a:t>
            </a:r>
            <a:r>
              <a:rPr lang="en-US" sz="1200" dirty="0"/>
              <a:t>, </a:t>
            </a:r>
            <a:r>
              <a:rPr lang="en-US" sz="1200" dirty="0">
                <a:solidFill>
                  <a:schemeClr val="tx1"/>
                </a:solidFill>
              </a:rPr>
              <a:t>the load can be re-run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chemeClr val="tx1"/>
                </a:solidFill>
              </a:rPr>
              <a:t>Explicit mapping; event_id left to MySQL</a:t>
            </a:r>
            <a:endParaRPr lang="en-US" sz="1200" dirty="0"/>
          </a:p>
        </p:txBody>
      </p:sp>
      <p:pic>
        <p:nvPicPr>
          <p:cNvPr id="10" name="Imagem 9" descr="Uma imagem com texto, captura de ecrã, número, Tipo de letra&#10;&#10;Descrição gerada automaticamente">
            <a:extLst>
              <a:ext uri="{FF2B5EF4-FFF2-40B4-BE49-F238E27FC236}">
                <a16:creationId xmlns:a16="http://schemas.microsoft.com/office/drawing/2014/main" id="{9FE96F54-8205-C863-CDC0-9BB7956F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72" y="1359781"/>
            <a:ext cx="4170219" cy="3227234"/>
          </a:xfrm>
          <a:prstGeom prst="rect">
            <a:avLst/>
          </a:prstGeom>
        </p:spPr>
      </p:pic>
      <p:pic>
        <p:nvPicPr>
          <p:cNvPr id="12" name="Imagem 11" descr="Uma imagem com texto, captura de ecrã, software, número&#10;&#10;Descrição gerada automaticamente">
            <a:extLst>
              <a:ext uri="{FF2B5EF4-FFF2-40B4-BE49-F238E27FC236}">
                <a16:creationId xmlns:a16="http://schemas.microsoft.com/office/drawing/2014/main" id="{DD30F656-AFD7-C512-B80F-B230940C0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710" y="1378846"/>
            <a:ext cx="4322618" cy="31891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chemeClr val="accent1"/>
                </a:solidFill>
              </a:rPr>
              <a:t>An unprotected comma</a:t>
            </a:r>
            <a:endParaRPr lang="en-US" sz="3000" b="1"/>
          </a:p>
        </p:txBody>
      </p:sp>
      <p:sp>
        <p:nvSpPr>
          <p:cNvPr id="3" name="Problem line box"/>
          <p:cNvSpPr/>
          <p:nvPr/>
        </p:nvSpPr>
        <p:spPr>
          <a:xfrm>
            <a:off x="548641" y="1105420"/>
            <a:ext cx="8046721" cy="320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roblem line text"/>
          <p:cNvSpPr txBox="1"/>
          <p:nvPr/>
        </p:nvSpPr>
        <p:spPr>
          <a:xfrm>
            <a:off x="548640" y="11054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chemeClr val="tx1"/>
                </a:solidFill>
                <a:ea typeface="Courier New" pitchFamily="34" charset="-122"/>
                <a:cs typeface="Courier New" pitchFamily="34" charset="-120"/>
              </a:rPr>
              <a:t>1990,IRL,Ireland,Celtic Tiger boom begins; strong FDI</a:t>
            </a:r>
            <a:r>
              <a:rPr lang="en-US" sz="1600" b="1" i="1">
                <a:solidFill>
                  <a:schemeClr val="accent4"/>
                </a:solidFill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100" i="1">
                <a:solidFill>
                  <a:schemeClr val="tx1"/>
                </a:solidFill>
                <a:ea typeface="Courier New" pitchFamily="34" charset="-122"/>
                <a:cs typeface="Courier New" pitchFamily="34" charset="-120"/>
              </a:rPr>
              <a:t> IT and pharmaceuticals growth through the 1990s,Economy,High growth</a:t>
            </a:r>
            <a:endParaRPr lang="en-US" sz="1100" i="1"/>
          </a:p>
        </p:txBody>
      </p:sp>
      <p:sp>
        <p:nvSpPr>
          <p:cNvPr id="6" name="Step 1"/>
          <p:cNvSpPr/>
          <p:nvPr/>
        </p:nvSpPr>
        <p:spPr>
          <a:xfrm>
            <a:off x="457200" y="2453466"/>
            <a:ext cx="1783080" cy="8229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tep 1 text"/>
          <p:cNvSpPr txBox="1"/>
          <p:nvPr/>
        </p:nvSpPr>
        <p:spPr>
          <a:xfrm>
            <a:off x="457200" y="2453466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chemeClr val="bg1"/>
                </a:solidFill>
              </a:rPr>
              <a:t>Read the whole line (delimiter |)</a:t>
            </a:r>
            <a:endParaRPr lang="en-US" sz="1300"/>
          </a:p>
        </p:txBody>
      </p:sp>
      <p:sp>
        <p:nvSpPr>
          <p:cNvPr id="8" name="Arrow 1"/>
          <p:cNvSpPr/>
          <p:nvPr/>
        </p:nvSpPr>
        <p:spPr>
          <a:xfrm>
            <a:off x="2286000" y="2727786"/>
            <a:ext cx="274320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tep 2"/>
          <p:cNvSpPr/>
          <p:nvPr/>
        </p:nvSpPr>
        <p:spPr>
          <a:xfrm>
            <a:off x="2606040" y="2453466"/>
            <a:ext cx="1783080" cy="8229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tep 2 text"/>
          <p:cNvSpPr txBox="1"/>
          <p:nvPr/>
        </p:nvSpPr>
        <p:spPr>
          <a:xfrm>
            <a:off x="2606040" y="2453466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Regex split into 6 fields</a:t>
            </a:r>
            <a:endParaRPr lang="en-US" sz="1300" dirty="0"/>
          </a:p>
        </p:txBody>
      </p:sp>
      <p:sp>
        <p:nvSpPr>
          <p:cNvPr id="11" name="Arrow 2"/>
          <p:cNvSpPr/>
          <p:nvPr/>
        </p:nvSpPr>
        <p:spPr>
          <a:xfrm>
            <a:off x="4434840" y="2727786"/>
            <a:ext cx="274320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tep 3"/>
          <p:cNvSpPr/>
          <p:nvPr/>
        </p:nvSpPr>
        <p:spPr>
          <a:xfrm>
            <a:off x="4754880" y="2453466"/>
            <a:ext cx="1783080" cy="8229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tep 3 text"/>
          <p:cNvSpPr txBox="1"/>
          <p:nvPr/>
        </p:nvSpPr>
        <p:spPr>
          <a:xfrm>
            <a:off x="4754880" y="2453466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Filter is_valid = Y</a:t>
            </a:r>
            <a:endParaRPr lang="en-US" sz="1300" dirty="0"/>
          </a:p>
        </p:txBody>
      </p:sp>
      <p:sp>
        <p:nvSpPr>
          <p:cNvPr id="14" name="Arrow 3"/>
          <p:cNvSpPr/>
          <p:nvPr/>
        </p:nvSpPr>
        <p:spPr>
          <a:xfrm>
            <a:off x="6583680" y="2727786"/>
            <a:ext cx="274320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tep 4"/>
          <p:cNvSpPr/>
          <p:nvPr/>
        </p:nvSpPr>
        <p:spPr>
          <a:xfrm>
            <a:off x="6903720" y="2453466"/>
            <a:ext cx="1783080" cy="8229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tep 4 text"/>
          <p:cNvSpPr txBox="1"/>
          <p:nvPr/>
        </p:nvSpPr>
        <p:spPr>
          <a:xfrm>
            <a:off x="6903720" y="2453466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Table output stg_events</a:t>
            </a:r>
            <a:endParaRPr lang="en-US" sz="1300" dirty="0"/>
          </a:p>
        </p:txBody>
      </p:sp>
      <p:sp>
        <p:nvSpPr>
          <p:cNvPr id="17" name="Regex"/>
          <p:cNvSpPr/>
          <p:nvPr/>
        </p:nvSpPr>
        <p:spPr>
          <a:xfrm>
            <a:off x="457200" y="3429000"/>
            <a:ext cx="8229600" cy="502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gex text"/>
          <p:cNvSpPr txBox="1"/>
          <p:nvPr/>
        </p:nvSpPr>
        <p:spPr>
          <a:xfrm>
            <a:off x="548640" y="34747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^(\d{4}),([A-Z]{3}),([^,]*),(.*),([^,]*),([^,]*)$</a:t>
            </a:r>
            <a:endParaRPr lang="en-US" sz="1300"/>
          </a:p>
        </p:txBody>
      </p:sp>
      <p:sp>
        <p:nvSpPr>
          <p:cNvPr id="24" name="Regex">
            <a:extLst>
              <a:ext uri="{FF2B5EF4-FFF2-40B4-BE49-F238E27FC236}">
                <a16:creationId xmlns:a16="http://schemas.microsoft.com/office/drawing/2014/main" id="{6715F41A-C512-D750-74CA-01638F0A736C}"/>
              </a:ext>
            </a:extLst>
          </p:cNvPr>
          <p:cNvSpPr/>
          <p:nvPr/>
        </p:nvSpPr>
        <p:spPr>
          <a:xfrm>
            <a:off x="457200" y="1607993"/>
            <a:ext cx="8229600" cy="6172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r>
              <a:rPr lang="en-US" sz="1200" dirty="0"/>
              <a:t>We noted the presence of an unprotected comma in line 362 of the events csv file, which split that row into 7 fields instead of 6. Instead of editing the source file, the load pipeline reads each line and splits it with a regular expression that allows commas, only in the event field </a:t>
            </a:r>
          </a:p>
        </p:txBody>
      </p:sp>
      <p:pic>
        <p:nvPicPr>
          <p:cNvPr id="29" name="Imagem 28" descr="Uma imagem com texto, recibo, captura de ecrã&#10;&#10;Descrição gerada automaticamente">
            <a:extLst>
              <a:ext uri="{FF2B5EF4-FFF2-40B4-BE49-F238E27FC236}">
                <a16:creationId xmlns:a16="http://schemas.microsoft.com/office/drawing/2014/main" id="{CFE47FE9-D5A2-9B5C-42CE-1E8485391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2521"/>
            <a:ext cx="7772400" cy="20863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All rows loaded into staging</a:t>
            </a:r>
            <a:endParaRPr lang="en-US" sz="3000" b="1" dirty="0"/>
          </a:p>
        </p:txBody>
      </p:sp>
      <p:sp>
        <p:nvSpPr>
          <p:cNvPr id="3" name="Stat Maddison"/>
          <p:cNvSpPr/>
          <p:nvPr/>
        </p:nvSpPr>
        <p:spPr>
          <a:xfrm>
            <a:off x="457200" y="1470211"/>
            <a:ext cx="26060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tat Maddison text"/>
          <p:cNvSpPr txBox="1"/>
          <p:nvPr/>
        </p:nvSpPr>
        <p:spPr>
          <a:xfrm>
            <a:off x="548640" y="1470211"/>
            <a:ext cx="2423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4,349</a:t>
            </a:r>
            <a:endParaRPr lang="en-US" sz="30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stg_maddison</a:t>
            </a:r>
            <a:endParaRPr lang="en-US" sz="30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4,350 lines incl. header</a:t>
            </a:r>
            <a:endParaRPr lang="en-US" sz="3000" dirty="0"/>
          </a:p>
        </p:txBody>
      </p:sp>
      <p:sp>
        <p:nvSpPr>
          <p:cNvPr id="5" name="Stat Events"/>
          <p:cNvSpPr/>
          <p:nvPr/>
        </p:nvSpPr>
        <p:spPr>
          <a:xfrm>
            <a:off x="3268980" y="1470211"/>
            <a:ext cx="26060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Stat Events text"/>
          <p:cNvSpPr txBox="1"/>
          <p:nvPr/>
        </p:nvSpPr>
        <p:spPr>
          <a:xfrm>
            <a:off x="3360420" y="1470211"/>
            <a:ext cx="2423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387</a:t>
            </a:r>
            <a:endParaRPr lang="en-US" sz="30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stg_events</a:t>
            </a:r>
            <a:endParaRPr lang="en-US" sz="30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388 lines incl. header</a:t>
            </a:r>
            <a:endParaRPr lang="en-US" sz="3000" dirty="0"/>
          </a:p>
        </p:txBody>
      </p:sp>
      <p:sp>
        <p:nvSpPr>
          <p:cNvPr id="7" name="Stat WDI"/>
          <p:cNvSpPr/>
          <p:nvPr/>
        </p:nvSpPr>
        <p:spPr>
          <a:xfrm>
            <a:off x="6080760" y="1470211"/>
            <a:ext cx="26060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Stat WDI text"/>
          <p:cNvSpPr txBox="1"/>
          <p:nvPr/>
        </p:nvSpPr>
        <p:spPr>
          <a:xfrm>
            <a:off x="6172200" y="1470211"/>
            <a:ext cx="2423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11,371</a:t>
            </a:r>
            <a:endParaRPr lang="en-US" sz="30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stg_wdi</a:t>
            </a:r>
            <a:endParaRPr lang="en-US" sz="30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11,372 lines incl. header</a:t>
            </a:r>
            <a:endParaRPr lang="en-US" sz="3000" dirty="0"/>
          </a:p>
        </p:txBody>
      </p:sp>
      <p:pic>
        <p:nvPicPr>
          <p:cNvPr id="14" name="Imagem 13" descr="Uma imagem com texto, captura de ecrã, branco, recibo&#10;&#10;Descrição gerada automaticamente">
            <a:extLst>
              <a:ext uri="{FF2B5EF4-FFF2-40B4-BE49-F238E27FC236}">
                <a16:creationId xmlns:a16="http://schemas.microsoft.com/office/drawing/2014/main" id="{284E8ED2-8F49-B60B-7C3D-A009F2C3C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63" y="3429000"/>
            <a:ext cx="7772400" cy="1935358"/>
          </a:xfrm>
          <a:prstGeom prst="rect">
            <a:avLst/>
          </a:prstGeom>
        </p:spPr>
      </p:pic>
      <p:pic>
        <p:nvPicPr>
          <p:cNvPr id="16" name="Imagem 15" descr="Uma imagem com texto, Tipo de letra, captura de ecrã, branco&#10;&#10;Descrição gerada automaticamente">
            <a:extLst>
              <a:ext uri="{FF2B5EF4-FFF2-40B4-BE49-F238E27FC236}">
                <a16:creationId xmlns:a16="http://schemas.microsoft.com/office/drawing/2014/main" id="{BE6F3C4D-44F8-4030-FFF1-842820AA9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9933" y="4121728"/>
            <a:ext cx="3497704" cy="18762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Profiling</a:t>
            </a:r>
            <a:r>
              <a:rPr lang="en-US" b="1" dirty="0"/>
              <a:t> - </a:t>
            </a:r>
            <a:r>
              <a:rPr lang="en-US" sz="3000" b="1" dirty="0">
                <a:solidFill>
                  <a:schemeClr val="accent1"/>
                </a:solidFill>
              </a:rPr>
              <a:t>six sections of queries (overview)</a:t>
            </a:r>
            <a:endParaRPr lang="en-US" sz="3000" b="1" dirty="0"/>
          </a:p>
        </p:txBody>
      </p:sp>
      <p:graphicFrame>
        <p:nvGraphicFramePr>
          <p:cNvPr id="10" name="Profil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440036"/>
              </p:ext>
            </p:extLst>
          </p:nvPr>
        </p:nvGraphicFramePr>
        <p:xfrm>
          <a:off x="457200" y="1669473"/>
          <a:ext cx="8229600" cy="374599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9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Section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Key fact found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 Row count per table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Which countries are in each source?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EU missing only in Maddison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 Year ranges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Which years per source and country?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1900–2025 overall but some gaps in the East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3. WDI coverage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Since when is each indicator available?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Sectors from 1995 and employment from 1991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4. Missing values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Where is data missing?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 NULLs missing data = absent rows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5. Data integrity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Are there duplicates? Consistent values?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 duplicates gdp = gdppc × pop × 1000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6. Historical events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are events distributed?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Portugal 125 of 387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>
            <a:extLst>
              <a:ext uri="{FF2B5EF4-FFF2-40B4-BE49-F238E27FC236}">
                <a16:creationId xmlns:a16="http://schemas.microsoft.com/office/drawing/2014/main" id="{BC6D05F9-6F8E-F646-466C-CFC49988CC71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62345" y="274320"/>
            <a:ext cx="90123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Profiling</a:t>
            </a:r>
            <a:r>
              <a:rPr lang="en-US" b="1" dirty="0"/>
              <a:t> - </a:t>
            </a:r>
            <a:r>
              <a:rPr lang="en-US" sz="3000" b="1" dirty="0">
                <a:solidFill>
                  <a:schemeClr val="accent1"/>
                </a:solidFill>
              </a:rPr>
              <a:t>six sections of queries (query screenshots)</a:t>
            </a:r>
            <a:endParaRPr lang="en-US" sz="3000" b="1" dirty="0"/>
          </a:p>
        </p:txBody>
      </p:sp>
      <p:pic>
        <p:nvPicPr>
          <p:cNvPr id="7" name="Imagem 6" descr="Uma imagem com texto, menu, captura de ecrã&#10;&#10;Descrição gerada automaticamente">
            <a:extLst>
              <a:ext uri="{FF2B5EF4-FFF2-40B4-BE49-F238E27FC236}">
                <a16:creationId xmlns:a16="http://schemas.microsoft.com/office/drawing/2014/main" id="{A738DBBC-69D1-6F9C-6E63-4B218003B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54676"/>
            <a:ext cx="2432684" cy="4121727"/>
          </a:xfrm>
          <a:prstGeom prst="rect">
            <a:avLst/>
          </a:prstGeom>
        </p:spPr>
      </p:pic>
      <p:pic>
        <p:nvPicPr>
          <p:cNvPr id="9" name="Imagem 8" descr="Uma imagem com texto, captura de ecrã, padrão, branco&#10;&#10;Descrição gerada automaticamente">
            <a:extLst>
              <a:ext uri="{FF2B5EF4-FFF2-40B4-BE49-F238E27FC236}">
                <a16:creationId xmlns:a16="http://schemas.microsoft.com/office/drawing/2014/main" id="{B76258B6-028A-0735-71D0-E6EA703AF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941" y="1060223"/>
            <a:ext cx="5321300" cy="2055317"/>
          </a:xfrm>
          <a:prstGeom prst="rect">
            <a:avLst/>
          </a:prstGeom>
        </p:spPr>
      </p:pic>
      <p:pic>
        <p:nvPicPr>
          <p:cNvPr id="12" name="Imagem 11" descr="Uma imagem com texto, captura de ecrã, Tipo de letra, branco&#10;&#10;Descrição gerada automaticamente">
            <a:extLst>
              <a:ext uri="{FF2B5EF4-FFF2-40B4-BE49-F238E27FC236}">
                <a16:creationId xmlns:a16="http://schemas.microsoft.com/office/drawing/2014/main" id="{79DE8B3B-50EC-4611-496D-DDBB8B9F5A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65" y="4969739"/>
            <a:ext cx="2451100" cy="990600"/>
          </a:xfrm>
          <a:prstGeom prst="rect">
            <a:avLst/>
          </a:prstGeom>
        </p:spPr>
      </p:pic>
      <p:pic>
        <p:nvPicPr>
          <p:cNvPr id="14" name="Imagem 13" descr="Uma imagem com texto, Tipo de letra, captura de ecrã, file&#10;&#10;Descrição gerada automaticamente">
            <a:extLst>
              <a:ext uri="{FF2B5EF4-FFF2-40B4-BE49-F238E27FC236}">
                <a16:creationId xmlns:a16="http://schemas.microsoft.com/office/drawing/2014/main" id="{17A041AD-6A51-6D3F-3914-3960D3E560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4762" y="2499301"/>
            <a:ext cx="4445000" cy="660400"/>
          </a:xfrm>
          <a:prstGeom prst="rect">
            <a:avLst/>
          </a:prstGeom>
        </p:spPr>
      </p:pic>
      <p:pic>
        <p:nvPicPr>
          <p:cNvPr id="16" name="Imagem 15" descr="Uma imagem com texto, menu, número, captura de ecrã&#10;&#10;Descrição gerada automaticamente">
            <a:extLst>
              <a:ext uri="{FF2B5EF4-FFF2-40B4-BE49-F238E27FC236}">
                <a16:creationId xmlns:a16="http://schemas.microsoft.com/office/drawing/2014/main" id="{B07C1EC8-26D1-176A-E646-A742FD6F72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9653" y="3056369"/>
            <a:ext cx="4690110" cy="2192880"/>
          </a:xfrm>
          <a:prstGeom prst="rect">
            <a:avLst/>
          </a:prstGeom>
        </p:spPr>
      </p:pic>
      <p:pic>
        <p:nvPicPr>
          <p:cNvPr id="18" name="Imagem 17" descr="Uma imagem com texto, documento, menu, recibo&#10;&#10;Descrição gerada automaticamente">
            <a:extLst>
              <a:ext uri="{FF2B5EF4-FFF2-40B4-BE49-F238E27FC236}">
                <a16:creationId xmlns:a16="http://schemas.microsoft.com/office/drawing/2014/main" id="{C265A673-DB84-3321-314E-9400835F5E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2073" y="1054677"/>
            <a:ext cx="1849582" cy="5385546"/>
          </a:xfrm>
          <a:prstGeom prst="rect">
            <a:avLst/>
          </a:prstGeom>
        </p:spPr>
      </p:pic>
      <p:pic>
        <p:nvPicPr>
          <p:cNvPr id="20" name="Imagem 19" descr="Uma imagem com texto, captura de ecrã, número, Tipo de letra&#10;&#10;Descrição gerada automaticamente">
            <a:extLst>
              <a:ext uri="{FF2B5EF4-FFF2-40B4-BE49-F238E27FC236}">
                <a16:creationId xmlns:a16="http://schemas.microsoft.com/office/drawing/2014/main" id="{F126E790-61B0-8F9F-7F3B-0E0C3C93F3E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9653" y="4193600"/>
            <a:ext cx="1858241" cy="1965606"/>
          </a:xfrm>
          <a:prstGeom prst="rect">
            <a:avLst/>
          </a:prstGeom>
        </p:spPr>
      </p:pic>
      <p:pic>
        <p:nvPicPr>
          <p:cNvPr id="22" name="Imagem 21" descr="Uma imagem com texto, menu, captura de ecrã, número&#10;&#10;Descrição gerada automaticamente">
            <a:extLst>
              <a:ext uri="{FF2B5EF4-FFF2-40B4-BE49-F238E27FC236}">
                <a16:creationId xmlns:a16="http://schemas.microsoft.com/office/drawing/2014/main" id="{09FE09BF-D47A-0EB7-E4EA-A7969722D0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8841" y="3493035"/>
            <a:ext cx="1669792" cy="3171001"/>
          </a:xfrm>
          <a:prstGeom prst="rect">
            <a:avLst/>
          </a:prstGeom>
        </p:spPr>
      </p:pic>
      <p:pic>
        <p:nvPicPr>
          <p:cNvPr id="24" name="Imagem 23" descr="Uma imagem com texto, captura de ecrã, recibo, Tipo de letra&#10;&#10;Descrição gerada automaticamente">
            <a:extLst>
              <a:ext uri="{FF2B5EF4-FFF2-40B4-BE49-F238E27FC236}">
                <a16:creationId xmlns:a16="http://schemas.microsoft.com/office/drawing/2014/main" id="{DD4A73B7-02A0-914A-2489-E71A5DBDDB7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100" y="5698857"/>
            <a:ext cx="2903105" cy="741366"/>
          </a:xfrm>
          <a:prstGeom prst="rect">
            <a:avLst/>
          </a:prstGeom>
        </p:spPr>
      </p:pic>
      <p:pic>
        <p:nvPicPr>
          <p:cNvPr id="28" name="Imagem 27" descr="Uma imagem com texto, menu, captura de ecrã, Tipo de letra&#10;&#10;Descrição gerada automaticamente">
            <a:extLst>
              <a:ext uri="{FF2B5EF4-FFF2-40B4-BE49-F238E27FC236}">
                <a16:creationId xmlns:a16="http://schemas.microsoft.com/office/drawing/2014/main" id="{8656F021-6889-D713-5A1B-F8105173B0B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65813" y="5003983"/>
            <a:ext cx="3068782" cy="1800561"/>
          </a:xfrm>
          <a:prstGeom prst="rect">
            <a:avLst/>
          </a:prstGeom>
        </p:spPr>
      </p:pic>
      <p:pic>
        <p:nvPicPr>
          <p:cNvPr id="26" name="Imagem 25" descr="Uma imagem com texto, Tipo de letra, captura de ecrã, branco&#10;&#10;Descrição gerada automaticamente">
            <a:extLst>
              <a:ext uri="{FF2B5EF4-FFF2-40B4-BE49-F238E27FC236}">
                <a16:creationId xmlns:a16="http://schemas.microsoft.com/office/drawing/2014/main" id="{86C79C5F-62CB-21A8-52A7-784C5507EDF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7113" y="4717932"/>
            <a:ext cx="2004868" cy="50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98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</a:rPr>
              <a:t>Data dictionaries</a:t>
            </a:r>
            <a:endParaRPr lang="en-US" sz="3000" b="1" dirty="0"/>
          </a:p>
        </p:txBody>
      </p:sp>
      <p:sp>
        <p:nvSpPr>
          <p:cNvPr id="3" name="Dictionary Maddison"/>
          <p:cNvSpPr/>
          <p:nvPr/>
        </p:nvSpPr>
        <p:spPr>
          <a:xfrm>
            <a:off x="457200" y="1059873"/>
            <a:ext cx="2606040" cy="3931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4" name="Dictionary Maddison header"/>
          <p:cNvSpPr/>
          <p:nvPr/>
        </p:nvSpPr>
        <p:spPr>
          <a:xfrm>
            <a:off x="457200" y="1059873"/>
            <a:ext cx="2606040" cy="5943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Dictionary Maddison title"/>
          <p:cNvSpPr txBox="1"/>
          <p:nvPr/>
        </p:nvSpPr>
        <p:spPr>
          <a:xfrm>
            <a:off x="457200" y="1059873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Maddison</a:t>
            </a:r>
            <a:endParaRPr lang="en-US" sz="1800" dirty="0"/>
          </a:p>
        </p:txBody>
      </p:sp>
      <p:sp>
        <p:nvSpPr>
          <p:cNvPr id="6" name="Dictionary Maddison stats"/>
          <p:cNvSpPr txBox="1"/>
          <p:nvPr/>
        </p:nvSpPr>
        <p:spPr>
          <a:xfrm>
            <a:off x="594360" y="1745673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4,349 rows · 15 countries · 1900–2022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7" name="Dictionary Maddison bullets"/>
          <p:cNvSpPr txBox="1"/>
          <p:nvPr/>
        </p:nvSpPr>
        <p:spPr>
          <a:xfrm>
            <a:off x="594360" y="2414156"/>
            <a:ext cx="2331720" cy="16296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200" b="1" dirty="0">
                <a:solidFill>
                  <a:schemeClr val="accent1"/>
                </a:solidFill>
              </a:rPr>
              <a:t>Particularities and data quality:</a:t>
            </a:r>
          </a:p>
          <a:p>
            <a:pPr>
              <a:spcAft>
                <a:spcPts val="800"/>
              </a:spcAft>
              <a:buSzPct val="100000"/>
            </a:pPr>
            <a:endParaRPr lang="en-US" sz="1200" b="1" dirty="0">
              <a:solidFill>
                <a:schemeClr val="accent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EU missing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Missing data as absent rows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Romania – misalign indicators</a:t>
            </a:r>
          </a:p>
        </p:txBody>
      </p:sp>
      <p:sp>
        <p:nvSpPr>
          <p:cNvPr id="9" name="Dictionary WDI"/>
          <p:cNvSpPr/>
          <p:nvPr/>
        </p:nvSpPr>
        <p:spPr>
          <a:xfrm>
            <a:off x="3268980" y="1059873"/>
            <a:ext cx="2606040" cy="3931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Dictionary WDI header"/>
          <p:cNvSpPr/>
          <p:nvPr/>
        </p:nvSpPr>
        <p:spPr>
          <a:xfrm>
            <a:off x="3268980" y="1059873"/>
            <a:ext cx="2606040" cy="5943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Dictionary WDI title"/>
          <p:cNvSpPr txBox="1"/>
          <p:nvPr/>
        </p:nvSpPr>
        <p:spPr>
          <a:xfrm>
            <a:off x="3268980" y="1059873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WDI</a:t>
            </a:r>
            <a:endParaRPr lang="en-US" sz="1800" dirty="0"/>
          </a:p>
        </p:txBody>
      </p:sp>
      <p:sp>
        <p:nvSpPr>
          <p:cNvPr id="12" name="Dictionary WDI stats"/>
          <p:cNvSpPr txBox="1"/>
          <p:nvPr/>
        </p:nvSpPr>
        <p:spPr>
          <a:xfrm>
            <a:off x="3406140" y="1745673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11,371 rows · 16 entities · 1960–2025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13" name="Dictionary WDI bullets"/>
          <p:cNvSpPr txBox="1"/>
          <p:nvPr/>
        </p:nvSpPr>
        <p:spPr>
          <a:xfrm>
            <a:off x="3406140" y="2414155"/>
            <a:ext cx="2331720" cy="21384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200" b="1" dirty="0">
                <a:solidFill>
                  <a:schemeClr val="accent1"/>
                </a:solidFill>
              </a:rPr>
              <a:t>Particularities and data quality:</a:t>
            </a:r>
          </a:p>
          <a:p>
            <a:pPr>
              <a:spcAft>
                <a:spcPts val="800"/>
              </a:spcAft>
              <a:buSzPct val="100000"/>
            </a:pPr>
            <a:endParaRPr lang="en-US" sz="1200" b="1" dirty="0">
              <a:solidFill>
                <a:schemeClr val="accent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Missing data as absent rows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EU included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Manufacturing is part of industry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No employment for manufacturing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Extreme GDP growth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15" name="Dictionary Events"/>
          <p:cNvSpPr/>
          <p:nvPr/>
        </p:nvSpPr>
        <p:spPr>
          <a:xfrm>
            <a:off x="6080760" y="1059873"/>
            <a:ext cx="2606040" cy="3931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Dictionary Events header"/>
          <p:cNvSpPr/>
          <p:nvPr/>
        </p:nvSpPr>
        <p:spPr>
          <a:xfrm>
            <a:off x="6080760" y="1059873"/>
            <a:ext cx="2606040" cy="5943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Dictionary Events title"/>
          <p:cNvSpPr txBox="1"/>
          <p:nvPr/>
        </p:nvSpPr>
        <p:spPr>
          <a:xfrm>
            <a:off x="6080760" y="1059873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Events</a:t>
            </a:r>
            <a:endParaRPr lang="en-US" sz="1800" dirty="0"/>
          </a:p>
        </p:txBody>
      </p:sp>
      <p:sp>
        <p:nvSpPr>
          <p:cNvPr id="18" name="Dictionary Events stats"/>
          <p:cNvSpPr txBox="1"/>
          <p:nvPr/>
        </p:nvSpPr>
        <p:spPr>
          <a:xfrm>
            <a:off x="6217920" y="1745673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387 events · 16 entities · 1900–2025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19" name="Dictionary Events bullets"/>
          <p:cNvSpPr txBox="1"/>
          <p:nvPr/>
        </p:nvSpPr>
        <p:spPr>
          <a:xfrm>
            <a:off x="6217920" y="2414155"/>
            <a:ext cx="2331720" cy="2321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200" b="1" dirty="0">
                <a:solidFill>
                  <a:schemeClr val="accent1"/>
                </a:solidFill>
              </a:rPr>
              <a:t>Particularities and data quality:</a:t>
            </a:r>
          </a:p>
          <a:p>
            <a:pPr>
              <a:spcAft>
                <a:spcPts val="800"/>
              </a:spcAft>
              <a:buSzPct val="100000"/>
            </a:pPr>
            <a:endParaRPr lang="en-US" sz="1200" b="1" dirty="0">
              <a:solidFill>
                <a:schemeClr val="accent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Unprotected comma in one row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No natural key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Composite categories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No missing fields</a:t>
            </a:r>
          </a:p>
          <a:p>
            <a:pPr marL="342900" indent="-342900"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1200" dirty="0"/>
              <a:t>Coverage beyond the indicators</a:t>
            </a:r>
          </a:p>
        </p:txBody>
      </p:sp>
      <p:pic>
        <p:nvPicPr>
          <p:cNvPr id="23" name="Imagem 22" descr="Uma imagem com texto, recibo, captura de ecrã, documento&#10;&#10;Descrição gerada automaticamente">
            <a:extLst>
              <a:ext uri="{FF2B5EF4-FFF2-40B4-BE49-F238E27FC236}">
                <a16:creationId xmlns:a16="http://schemas.microsoft.com/office/drawing/2014/main" id="{61501DD5-09E6-CC88-13A8-651503E21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73" y="4016134"/>
            <a:ext cx="2384367" cy="2616543"/>
          </a:xfrm>
          <a:prstGeom prst="rect">
            <a:avLst/>
          </a:prstGeom>
        </p:spPr>
      </p:pic>
      <p:pic>
        <p:nvPicPr>
          <p:cNvPr id="26" name="Imagem 25" descr="Uma imagem com texto, recibo, documento, Tipo de letra&#10;&#10;Descrição gerada automaticamente">
            <a:extLst>
              <a:ext uri="{FF2B5EF4-FFF2-40B4-BE49-F238E27FC236}">
                <a16:creationId xmlns:a16="http://schemas.microsoft.com/office/drawing/2014/main" id="{F11F10CC-B0CA-1954-65E0-11F65781EE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1115" y="4763193"/>
            <a:ext cx="1562499" cy="1703174"/>
          </a:xfrm>
          <a:prstGeom prst="rect">
            <a:avLst/>
          </a:prstGeom>
        </p:spPr>
      </p:pic>
      <p:pic>
        <p:nvPicPr>
          <p:cNvPr id="28" name="Imagem 27" descr="Uma imagem com texto, captura de ecrã, recibo, Tipo de letra&#10;&#10;Descrição gerada automaticamente">
            <a:extLst>
              <a:ext uri="{FF2B5EF4-FFF2-40B4-BE49-F238E27FC236}">
                <a16:creationId xmlns:a16="http://schemas.microsoft.com/office/drawing/2014/main" id="{C40ADBE5-2A88-66D1-8C5A-20221B9C4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41" y="4735484"/>
            <a:ext cx="1622259" cy="18973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ID IST">
  <a:themeElements>
    <a:clrScheme name="AID IST">
      <a:dk1>
        <a:srgbClr val="262626"/>
      </a:dk1>
      <a:lt1>
        <a:srgbClr val="FFFFFF"/>
      </a:lt1>
      <a:dk2>
        <a:srgbClr val="0A6E94"/>
      </a:dk2>
      <a:lt2>
        <a:srgbClr val="F2F2F2"/>
      </a:lt2>
      <a:accent1>
        <a:srgbClr val="00A4D8"/>
      </a:accent1>
      <a:accent2>
        <a:srgbClr val="7F7F7F"/>
      </a:accent2>
      <a:accent3>
        <a:srgbClr val="D9D9D9"/>
      </a:accent3>
      <a:accent4>
        <a:srgbClr val="E8710A"/>
      </a:accent4>
      <a:accent5>
        <a:srgbClr val="2E9E5B"/>
      </a:accent5>
      <a:accent6>
        <a:srgbClr val="005A80"/>
      </a:accent6>
      <a:hlink>
        <a:srgbClr val="00A4D8"/>
      </a:hlink>
      <a:folHlink>
        <a:srgbClr val="7F7F7F"/>
      </a:folHlink>
    </a:clrScheme>
    <a:fontScheme name="AID IST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590</Words>
  <Application>Microsoft Macintosh PowerPoint</Application>
  <PresentationFormat>Apresentação no Ecrã (4:3)</PresentationFormat>
  <Paragraphs>111</Paragraphs>
  <Slides>11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 New</vt:lpstr>
      <vt:lpstr>Wingdings</vt:lpstr>
      <vt:lpstr>AID IST</vt:lpstr>
      <vt:lpstr>Data Analysis and Integration</vt:lpstr>
      <vt:lpstr>Contents</vt:lpstr>
      <vt:lpstr>Task 1 – Staging and Data Profiling</vt:lpstr>
      <vt:lpstr>Staging schema with precise data types</vt:lpstr>
      <vt:lpstr>Load pipeline (one branch per source)</vt:lpstr>
      <vt:lpstr>Key transform configurations</vt:lpstr>
      <vt:lpstr>An unprotected comma</vt:lpstr>
      <vt:lpstr>All rows loaded into staging</vt:lpstr>
      <vt:lpstr>Profiling - six sections of queries (overview)</vt:lpstr>
      <vt:lpstr>Profiling - six sections of queries (query screenshots)</vt:lpstr>
      <vt:lpstr>Data dictionaries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AID 2026/27 Project - Group 20</dc:title>
  <dc:subject>PptxGenJS Presentation</dc:subject>
  <dc:creator>Group 20</dc:creator>
  <cp:lastModifiedBy>Maximilian Xavier (ITS)</cp:lastModifiedBy>
  <cp:revision>14</cp:revision>
  <dcterms:created xsi:type="dcterms:W3CDTF">2026-10-13T17:35:57Z</dcterms:created>
  <dcterms:modified xsi:type="dcterms:W3CDTF">2026-10-14T14:00:29Z</dcterms:modified>
</cp:coreProperties>
</file>