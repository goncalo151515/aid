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70" r:id="rId3"/>
    <p:sldId id="258" r:id="rId4"/>
    <p:sldId id="259" r:id="rId5"/>
    <p:sldId id="260" r:id="rId6"/>
    <p:sldId id="261" r:id="rId7"/>
    <p:sldId id="262" r:id="rId8"/>
    <p:sldId id="263" r:id="rId9"/>
    <p:sldId id="264" r:id="rId10"/>
    <p:sldId id="269" r:id="rId11"/>
    <p:sldId id="268" r:id="rId12"/>
    <p:sldId id="275" r:id="rId13"/>
    <p:sldId id="257" r:id="rId14"/>
    <p:sldId id="272" r:id="rId15"/>
    <p:sldId id="273" r:id="rId16"/>
    <p:sldId id="274" r:id="rId17"/>
    <p:sldId id="282" r:id="rId18"/>
    <p:sldId id="277" r:id="rId19"/>
    <p:sldId id="278" r:id="rId20"/>
    <p:sldId id="279" r:id="rId21"/>
    <p:sldId id="280" r:id="rId22"/>
    <p:sldId id="292" r:id="rId23"/>
    <p:sldId id="284" r:id="rId24"/>
    <p:sldId id="285" r:id="rId25"/>
    <p:sldId id="286" r:id="rId26"/>
    <p:sldId id="287" r:id="rId27"/>
    <p:sldId id="288" r:id="rId28"/>
    <p:sldId id="289" r:id="rId29"/>
    <p:sldId id="290" r:id="rId30"/>
    <p:sldId id="291" r:id="rId31"/>
    <p:sldId id="293" r:id="rId32"/>
    <p:sldId id="294" r:id="rId33"/>
    <p:sldId id="295" r:id="rId34"/>
    <p:sldId id="296" r:id="rId35"/>
    <p:sldId id="297" r:id="rId36"/>
    <p:sldId id="298" r:id="rId37"/>
    <p:sldId id="299" r:id="rId38"/>
    <p:sldId id="300" r:id="rId39"/>
    <p:sldId id="301" r:id="rId40"/>
    <p:sldId id="265" r:id="rId41"/>
    <p:sldId id="266" r:id="rId42"/>
    <p:sldId id="267" r:id="rId43"/>
    <p:sldId id="302" r:id="rId44"/>
    <p:sldId id="303" r:id="rId45"/>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9D24A071-2482-75C3-9696-DEA15241FE29}">
          <p14:sldIdLst>
            <p14:sldId id="256"/>
            <p14:sldId id="270"/>
          </p14:sldIdLst>
        </p14:section>
        <p14:section name="slides" id="{0C936867-B92E-6AD0-078A-78B2A96FBC45}">
          <p14:sldIdLst>
            <p14:sldId id="258"/>
            <p14:sldId id="259"/>
            <p14:sldId id="260"/>
            <p14:sldId id="261"/>
            <p14:sldId id="262"/>
            <p14:sldId id="263"/>
            <p14:sldId id="264"/>
            <p14:sldId id="269"/>
            <p14:sldId id="268"/>
            <p14:sldId id="275"/>
            <p14:sldId id="257"/>
            <p14:sldId id="272"/>
            <p14:sldId id="273"/>
            <p14:sldId id="274"/>
            <p14:sldId id="282"/>
            <p14:sldId id="277"/>
            <p14:sldId id="278"/>
            <p14:sldId id="279"/>
            <p14:sldId id="280"/>
            <p14:sldId id="292"/>
            <p14:sldId id="284"/>
            <p14:sldId id="285"/>
            <p14:sldId id="286"/>
            <p14:sldId id="287"/>
            <p14:sldId id="288"/>
            <p14:sldId id="289"/>
            <p14:sldId id="290"/>
            <p14:sldId id="291"/>
            <p14:sldId id="293"/>
            <p14:sldId id="294"/>
            <p14:sldId id="295"/>
            <p14:sldId id="296"/>
            <p14:sldId id="297"/>
            <p14:sldId id="298"/>
            <p14:sldId id="299"/>
            <p14:sldId id="300"/>
            <p14:sldId id="301"/>
            <p14:sldId id="265"/>
            <p14:sldId id="266"/>
            <p14:sldId id="267"/>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222"/>
    <p:restoredTop sz="94632"/>
  </p:normalViewPr>
  <p:slideViewPr>
    <p:cSldViewPr snapToGrid="0" snapToObjects="1">
      <p:cViewPr varScale="1">
        <p:scale>
          <a:sx n="173" d="100"/>
          <a:sy n="173" d="100"/>
        </p:scale>
        <p:origin x="229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1725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2539365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988136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7466824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081028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4355361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6545690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508278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1394959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ER (task_03/schema_diagram.png), feito no dbdiagram.io.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6987226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Conteúdo retirado do design_justification.pdf.</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8540366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1971787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24 vem da query 6.4 do profiling (task_01/exploratory_queries.sql).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4371452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4986841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do workflow load_dw.hwf com todas as ações a verde.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516478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screenshots dos pipelines das dimensões. As configurações de cada um vão no slide seguinte.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8420789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6050666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baixo à esquerda: a configuração de um dos Database lookup. Podem também usar o resultado da query de verificação (IRL 1990 e PRT 1961).</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2194427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5914190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cima: os dois pipelines. Em baixo: as queries de verificação (PRT 1900 e 2000, EUU 2000).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42451620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mostra 3 dos 11 mapeamentos como exemplo. A query de verificação mostra PRT 1993 (só emprego) e PRT 2000 (4 setores).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6690389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do resultado da query das contagens depois do teste do zero.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71894671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440573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da árvore completa do schema.xml no Schema Workbench, com os 4 cubos e as 2 dimensões partilhadas expandidos.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3042924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Excerto simplificado do schema.xml (sem os atributos visible, type, uniqueMembers, levelType). Em alternativa, um screenshot do schema.xml no VS Code.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289280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do Saiku com o cubo Development aberto e uma consulta simples (por exemplo, GDP por Country), mostrando o painel das medidas e dimensões.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8968238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Gráfico de linhas da vista por ano (Year nas linhas, os 6 países nas colunas). Os cartões em baixo são os pontos de viragem anotados; podem também acrescentar setas no gráfico.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1413863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da vista por década (Decade nas linhas, os 6 países nas colunas). A tabela da direita é Portugal em % da média dos outros 5 países (events_explanation.pdf).</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2330474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da vista B1 (cubo Development, Country Group nas colunas com Focus e Western Europe, Year de 1975 a 2025 nas linhas, 4 medidas).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4773625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da vista B2 (cubo Development, Focus, Central/Eastern Europe e Post-Soviet nas colunas, Year de 1990 a 2025 nas linhas).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0008071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Esquerda: a tabela com Broad Sector nas linhas e Decade nas colunas, filtro Portugal. Direita: a mesma tabela depois do drill-down no Secondary.</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9414139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da vista C2 (Sector nas linhas, Country Group nas colunas, filtro Decade = 2010). Valores em % do PIB.</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30979928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468050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32240730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do resultado da query 1 no Saiku (modo MDX), com as 7 décadas e as 3 colunas. Se couber, incluir também a query no screenshot.</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5763914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do resultado da query 2 no Saiku (modo MDX), com as 7 linhas (Primary, Agriculture, Secondary, Industry, Manufacturing, Tertiary, Services) e as colunas 1995 e 2020.</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6265922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D_TITLE">
    <p:bg>
      <p:bgPr>
        <a:solidFill>
          <a:srgbClr val="00A4D8"/>
        </a:solid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2"/>
          <a:stretch>
            <a:fillRect/>
          </a:stretch>
        </p:blipFill>
        <p:spPr>
          <a:xfrm>
            <a:off x="548640" y="914400"/>
            <a:ext cx="2194560" cy="850392"/>
          </a:xfrm>
          <a:prstGeom prst="rect">
            <a:avLst/>
          </a:prstGeom>
        </p:spPr>
      </p:pic>
      <p:sp>
        <p:nvSpPr>
          <p:cNvPr id="3" name="Text 0"/>
          <p:cNvSpPr>
            <a:spLocks noGrp="1"/>
          </p:cNvSpPr>
          <p:nvPr>
            <p:ph type="title" idx="101" hasCustomPrompt="1"/>
          </p:nvPr>
        </p:nvSpPr>
        <p:spPr>
          <a:xfrm>
            <a:off x="548640" y="2743200"/>
            <a:ext cx="8046720" cy="822960"/>
          </a:xfrm>
          <a:prstGeom prst="rect">
            <a:avLst/>
          </a:prstGeom>
          <a:noFill/>
          <a:ln/>
        </p:spPr>
        <p:txBody>
          <a:bodyPr wrap="square" rtlCol="0"/>
          <a:lstStyle>
            <a:lvl1pPr marL="0" indent="0" algn="l">
              <a:buNone/>
              <a:defRPr lang="en-US" sz="3200" b="1" dirty="0">
                <a:solidFill>
                  <a:schemeClr val="bg1"/>
                </a:solidFill>
                <a:latin typeface="Arial" pitchFamily="34" charset="0"/>
                <a:ea typeface="Arial" pitchFamily="34" charset="-122"/>
                <a:cs typeface="Arial" pitchFamily="34" charset="-120"/>
              </a:defRPr>
            </a:lvl1pPr>
          </a:lstStyle>
          <a:p>
            <a:pPr marL="0" indent="0" algn="l">
              <a:buNone/>
            </a:pPr>
            <a:endParaRPr lang="en-US" sz="3200" dirty="0"/>
          </a:p>
        </p:txBody>
      </p:sp>
      <p:sp>
        <p:nvSpPr>
          <p:cNvPr id="4" name="Text 0"/>
          <p:cNvSpPr>
            <a:spLocks noGrp="1"/>
          </p:cNvSpPr>
          <p:nvPr>
            <p:ph type="body" idx="102" hasCustomPrompt="1"/>
          </p:nvPr>
        </p:nvSpPr>
        <p:spPr>
          <a:xfrm>
            <a:off x="548640" y="3657600"/>
            <a:ext cx="8046720" cy="1645920"/>
          </a:xfrm>
          <a:prstGeom prst="rect">
            <a:avLst/>
          </a:prstGeom>
          <a:noFill/>
          <a:ln/>
        </p:spPr>
        <p:txBody>
          <a:bodyPr wrap="square" rtlCol="0"/>
          <a:lstStyle>
            <a:lvl1pPr marL="0" indent="0" algn="l">
              <a:buNone/>
              <a:defRPr lang="en-US" sz="1800" dirty="0">
                <a:solidFill>
                  <a:schemeClr val="bg1"/>
                </a:solidFill>
                <a:latin typeface="Arial" pitchFamily="34" charset="0"/>
                <a:ea typeface="Arial" pitchFamily="34" charset="-122"/>
                <a:cs typeface="Arial" pitchFamily="34" charset="-120"/>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D_SECTION">
    <p:bg>
      <p:bgPr>
        <a:solidFill>
          <a:srgbClr val="FFFFFF"/>
        </a:solidFill>
        <a:effectLst/>
      </p:bgPr>
    </p:bg>
    <p:spTree>
      <p:nvGrpSpPr>
        <p:cNvPr id="1" name=""/>
        <p:cNvGrpSpPr/>
        <p:nvPr/>
      </p:nvGrpSpPr>
      <p:grpSpPr>
        <a:xfrm>
          <a:off x="0" y="0"/>
          <a:ext cx="0" cy="0"/>
          <a:chOff x="0" y="0"/>
          <a:chExt cx="0" cy="0"/>
        </a:xfrm>
      </p:grpSpPr>
      <p:pic>
        <p:nvPicPr>
          <p:cNvPr id="2" name="Image 0" descr="logo_blue.png"/>
          <p:cNvPicPr>
            <a:picLocks noChangeAspect="1"/>
          </p:cNvPicPr>
          <p:nvPr/>
        </p:nvPicPr>
        <p:blipFill>
          <a:blip r:embed="rId2"/>
          <a:stretch>
            <a:fillRect/>
          </a:stretch>
        </p:blipFill>
        <p:spPr>
          <a:xfrm>
            <a:off x="274320" y="6309360"/>
            <a:ext cx="301752" cy="365760"/>
          </a:xfrm>
          <a:prstGeom prst="rect">
            <a:avLst/>
          </a:prstGeom>
        </p:spPr>
      </p:pic>
      <p:sp>
        <p:nvSpPr>
          <p:cNvPr id="3" name="Text 0"/>
          <p:cNvSpPr>
            <a:spLocks noGrp="1"/>
          </p:cNvSpPr>
          <p:nvPr>
            <p:ph type="title" idx="101" hasCustomPrompt="1"/>
          </p:nvPr>
        </p:nvSpPr>
        <p:spPr>
          <a:xfrm>
            <a:off x="685800" y="2377440"/>
            <a:ext cx="7772400" cy="1188720"/>
          </a:xfrm>
          <a:prstGeom prst="rect">
            <a:avLst/>
          </a:prstGeom>
          <a:noFill/>
          <a:ln/>
        </p:spPr>
        <p:txBody>
          <a:bodyPr wrap="square" rtlCol="0"/>
          <a:lstStyle>
            <a:lvl1pPr marL="0" indent="0" algn="ctr">
              <a:buNone/>
              <a:defRPr lang="en-US" sz="4400" dirty="0">
                <a:solidFill>
                  <a:schemeClr val="accent1"/>
                </a:solidFill>
              </a:defRPr>
            </a:lvl1pPr>
          </a:lstStyle>
          <a:p>
            <a:pPr marL="0" indent="0" algn="ctr">
              <a:buNone/>
            </a:pPr>
            <a:endParaRPr lang="en-US" sz="4400" dirty="0"/>
          </a:p>
        </p:txBody>
      </p:sp>
      <p:sp>
        <p:nvSpPr>
          <p:cNvPr id="4" name="Text 0"/>
          <p:cNvSpPr>
            <a:spLocks noGrp="1"/>
          </p:cNvSpPr>
          <p:nvPr>
            <p:ph type="body" idx="102" hasCustomPrompt="1"/>
          </p:nvPr>
        </p:nvSpPr>
        <p:spPr>
          <a:xfrm>
            <a:off x="685800" y="3657600"/>
            <a:ext cx="7772400" cy="731520"/>
          </a:xfrm>
          <a:prstGeom prst="rect">
            <a:avLst/>
          </a:prstGeom>
          <a:noFill/>
          <a:ln/>
        </p:spPr>
        <p:txBody>
          <a:bodyPr wrap="square" rtlCol="0"/>
          <a:lstStyle>
            <a:lvl1pPr marL="0" indent="0" algn="ctr">
              <a:buNone/>
              <a:defRPr lang="en-US" sz="1800" dirty="0">
                <a:solidFill>
                  <a:schemeClr val="accent2"/>
                </a:solidFill>
              </a:defRPr>
            </a:lvl1pPr>
          </a:lstStyle>
          <a:p>
            <a:pPr marL="0" indent="0" algn="ctr">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D_CONTENT">
    <p:bg>
      <p:bgPr>
        <a:solidFill>
          <a:srgbClr val="FFFFFF"/>
        </a:solidFill>
        <a:effectLst/>
      </p:bgPr>
    </p:bg>
    <p:spTree>
      <p:nvGrpSpPr>
        <p:cNvPr id="1" name=""/>
        <p:cNvGrpSpPr/>
        <p:nvPr/>
      </p:nvGrpSpPr>
      <p:grpSpPr>
        <a:xfrm>
          <a:off x="0" y="0"/>
          <a:ext cx="0" cy="0"/>
          <a:chOff x="0" y="0"/>
          <a:chExt cx="0" cy="0"/>
        </a:xfrm>
      </p:grpSpPr>
      <p:pic>
        <p:nvPicPr>
          <p:cNvPr id="2" name="Image 0" descr="logo_blue.png"/>
          <p:cNvPicPr>
            <a:picLocks noChangeAspect="1"/>
          </p:cNvPicPr>
          <p:nvPr/>
        </p:nvPicPr>
        <p:blipFill>
          <a:blip r:embed="rId2"/>
          <a:stretch>
            <a:fillRect/>
          </a:stretch>
        </p:blipFill>
        <p:spPr>
          <a:xfrm>
            <a:off x="274320" y="6309360"/>
            <a:ext cx="301752" cy="365760"/>
          </a:xfrm>
          <a:prstGeom prst="rect">
            <a:avLst/>
          </a:prstGeom>
        </p:spPr>
      </p:pic>
      <p:sp>
        <p:nvSpPr>
          <p:cNvPr id="3" name="Text 0"/>
          <p:cNvSpPr>
            <a:spLocks noGrp="1"/>
          </p:cNvSpPr>
          <p:nvPr>
            <p:ph type="title" idx="101" hasCustomPrompt="1"/>
          </p:nvPr>
        </p:nvSpPr>
        <p:spPr>
          <a:xfrm>
            <a:off x="457200" y="274320"/>
            <a:ext cx="8229600" cy="868680"/>
          </a:xfrm>
          <a:prstGeom prst="rect">
            <a:avLst/>
          </a:prstGeom>
          <a:noFill/>
          <a:ln/>
        </p:spPr>
        <p:txBody>
          <a:bodyPr wrap="square" rtlCol="0"/>
          <a:lstStyle>
            <a:lvl1pPr marL="0" indent="0" algn="ctr">
              <a:buNone/>
              <a:defRPr lang="en-US" sz="3000" dirty="0">
                <a:solidFill>
                  <a:schemeClr val="accent1"/>
                </a:solidFill>
              </a:defRPr>
            </a:lvl1pPr>
          </a:lstStyle>
          <a:p>
            <a:pPr marL="0" indent="0" algn="ctr">
              <a:buNone/>
            </a:pPr>
            <a:endParaRPr lang="en-US" sz="3000" dirty="0"/>
          </a:p>
        </p:txBody>
      </p:sp>
      <p:sp>
        <p:nvSpPr>
          <p:cNvPr id="25" name="Slide Number Placeholder 0"/>
          <p:cNvSpPr>
            <a:spLocks noGrp="1"/>
          </p:cNvSpPr>
          <p:nvPr>
            <p:ph type="sldNum" sz="quarter" idx="4294967295"/>
          </p:nvPr>
        </p:nvSpPr>
        <p:spPr>
          <a:xfrm>
            <a:off x="83210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1"/>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1"/>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41.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743200"/>
            <a:ext cx="8046720" cy="822960"/>
          </a:xfrm>
          <a:prstGeom prst="rect">
            <a:avLst/>
          </a:prstGeom>
          <a:noFill/>
          <a:ln/>
        </p:spPr>
        <p:txBody>
          <a:bodyPr wrap="square" lIns="0" tIns="0" rIns="0" bIns="0" rtlCol="0" anchor="ctr"/>
          <a:lstStyle/>
          <a:p>
            <a:pPr marL="0" indent="0" algn="l">
              <a:buNone/>
            </a:pPr>
            <a:r>
              <a:rPr lang="en-US" sz="3200" b="1" dirty="0">
                <a:solidFill>
                  <a:schemeClr val="bg1"/>
                </a:solidFill>
                <a:latin typeface="Arial" pitchFamily="34" charset="0"/>
                <a:ea typeface="Arial" pitchFamily="34" charset="-122"/>
                <a:cs typeface="Arial" pitchFamily="34" charset="-120"/>
              </a:rPr>
              <a:t>Data Analysis and Integration</a:t>
            </a:r>
            <a:endParaRPr lang="en-US" sz="3200" dirty="0"/>
          </a:p>
        </p:txBody>
      </p:sp>
      <p:sp>
        <p:nvSpPr>
          <p:cNvPr id="3" name="Text 0"/>
          <p:cNvSpPr>
            <a:spLocks noGrp="1"/>
          </p:cNvSpPr>
          <p:nvPr>
            <p:ph type="body" idx="102" hasCustomPrompt="1"/>
          </p:nvPr>
        </p:nvSpPr>
        <p:spPr>
          <a:xfrm>
            <a:off x="548640" y="3657600"/>
            <a:ext cx="8046720" cy="1645920"/>
          </a:xfrm>
          <a:prstGeom prst="rect">
            <a:avLst/>
          </a:prstGeom>
          <a:noFill/>
          <a:ln/>
        </p:spPr>
        <p:txBody>
          <a:bodyPr wrap="square" lIns="0" tIns="0" rIns="0" bIns="0" rtlCol="0" anchor="t"/>
          <a:lstStyle/>
          <a:p>
            <a:pPr marL="0" indent="0" algn="l">
              <a:buNone/>
            </a:pPr>
            <a:r>
              <a:rPr lang="en-US" sz="1800" dirty="0">
                <a:solidFill>
                  <a:schemeClr val="bg1"/>
                </a:solidFill>
                <a:latin typeface="Arial" pitchFamily="34" charset="0"/>
                <a:ea typeface="Arial" pitchFamily="34" charset="-122"/>
                <a:cs typeface="Arial" pitchFamily="34" charset="-120"/>
              </a:rPr>
              <a:t>Portugal's Economic and Human Development - A Century of Transformation</a:t>
            </a:r>
            <a:endParaRPr lang="en-US" sz="1800" dirty="0"/>
          </a:p>
          <a:p>
            <a:pPr marL="0" indent="0" algn="l">
              <a:buNone/>
            </a:pPr>
            <a:r>
              <a:rPr lang="en-US" sz="1000" dirty="0">
                <a:solidFill>
                  <a:schemeClr val="bg1"/>
                </a:solidFill>
                <a:latin typeface="Arial" pitchFamily="34" charset="0"/>
                <a:ea typeface="Arial" pitchFamily="34" charset="-122"/>
                <a:cs typeface="Arial" pitchFamily="34" charset="-120"/>
              </a:rPr>
              <a:t> </a:t>
            </a:r>
          </a:p>
          <a:p>
            <a:pPr marL="0" indent="0" algn="l">
              <a:buNone/>
            </a:pPr>
            <a:endParaRPr lang="en-US" sz="1800" dirty="0"/>
          </a:p>
          <a:p>
            <a:pPr marL="0" indent="0" algn="l">
              <a:buNone/>
            </a:pPr>
            <a:r>
              <a:rPr lang="en-US" sz="1600" dirty="0">
                <a:solidFill>
                  <a:schemeClr val="bg1"/>
                </a:solidFill>
                <a:latin typeface="Arial" pitchFamily="34" charset="0"/>
                <a:ea typeface="Arial" pitchFamily="34" charset="-122"/>
                <a:cs typeface="Arial" pitchFamily="34" charset="-120"/>
              </a:rPr>
              <a:t>Project 26/27 – Group 20</a:t>
            </a:r>
            <a:endParaRPr lang="en-US" sz="1800" dirty="0"/>
          </a:p>
          <a:p>
            <a:pPr marL="0" indent="0" algn="l">
              <a:buNone/>
            </a:pPr>
            <a:r>
              <a:rPr lang="en-US" sz="1600" dirty="0">
                <a:solidFill>
                  <a:schemeClr val="bg1"/>
                </a:solidFill>
                <a:latin typeface="Arial" pitchFamily="34" charset="0"/>
                <a:ea typeface="Arial" pitchFamily="34" charset="-122"/>
                <a:cs typeface="Arial" pitchFamily="34" charset="-120"/>
              </a:rPr>
              <a:t>Gonçalo Xavier (</a:t>
            </a:r>
            <a:r>
              <a:rPr lang="en-US" sz="1600" dirty="0"/>
              <a:t>109560</a:t>
            </a:r>
            <a:r>
              <a:rPr lang="en-US" sz="1600" dirty="0">
                <a:solidFill>
                  <a:schemeClr val="bg1"/>
                </a:solidFill>
                <a:latin typeface="Arial" pitchFamily="34" charset="0"/>
                <a:ea typeface="Arial" pitchFamily="34" charset="-122"/>
                <a:cs typeface="Arial" pitchFamily="34" charset="-120"/>
              </a:rPr>
              <a:t>) </a:t>
            </a:r>
            <a:r>
              <a:rPr lang="en-US" sz="1600" dirty="0"/>
              <a:t>&amp;</a:t>
            </a:r>
            <a:r>
              <a:rPr lang="en-US" sz="1600" dirty="0">
                <a:solidFill>
                  <a:schemeClr val="bg1"/>
                </a:solidFill>
                <a:latin typeface="Arial" pitchFamily="34" charset="0"/>
                <a:ea typeface="Arial" pitchFamily="34" charset="-122"/>
                <a:cs typeface="Arial" pitchFamily="34" charset="-120"/>
              </a:rPr>
              <a:t> Rita Líbano Monteiro (110754)</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Contents</a:t>
            </a:r>
            <a:endParaRPr lang="en-US" sz="3000" b="1" dirty="0"/>
          </a:p>
        </p:txBody>
      </p:sp>
      <p:sp>
        <p:nvSpPr>
          <p:cNvPr id="5" name="Task 1 item text"/>
          <p:cNvSpPr txBox="1"/>
          <p:nvPr/>
        </p:nvSpPr>
        <p:spPr>
          <a:xfrm>
            <a:off x="1143000" y="1892808"/>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1.   </a:t>
            </a:r>
            <a:r>
              <a:rPr lang="en-US" sz="2000" b="1" dirty="0">
                <a:solidFill>
                  <a:schemeClr val="accent1"/>
                </a:solidFill>
              </a:rPr>
              <a:t>Staging and Data Profiling</a:t>
            </a:r>
          </a:p>
        </p:txBody>
      </p:sp>
      <p:sp>
        <p:nvSpPr>
          <p:cNvPr id="8" name="Task 2 item text"/>
          <p:cNvSpPr txBox="1"/>
          <p:nvPr/>
        </p:nvSpPr>
        <p:spPr>
          <a:xfrm>
            <a:off x="1143000" y="2798064"/>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2.   </a:t>
            </a:r>
            <a:r>
              <a:rPr lang="en-US" sz="2000" b="1" dirty="0">
                <a:solidFill>
                  <a:schemeClr val="accent1"/>
                </a:solidFill>
              </a:rPr>
              <a:t>Country-Code Reconciliation</a:t>
            </a:r>
          </a:p>
        </p:txBody>
      </p:sp>
      <p:sp>
        <p:nvSpPr>
          <p:cNvPr id="28" name="Task 2 item text">
            <a:extLst>
              <a:ext uri="{FF2B5EF4-FFF2-40B4-BE49-F238E27FC236}">
                <a16:creationId xmlns:a16="http://schemas.microsoft.com/office/drawing/2014/main" id="{3B0CEE02-DA03-69B3-C076-C131583FAF03}"/>
              </a:ext>
            </a:extLst>
          </p:cNvPr>
          <p:cNvSpPr txBox="1"/>
          <p:nvPr/>
        </p:nvSpPr>
        <p:spPr>
          <a:xfrm>
            <a:off x="1115569" y="3703320"/>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3.   </a:t>
            </a:r>
            <a:r>
              <a:rPr lang="en-US" sz="2000" b="1" dirty="0">
                <a:solidFill>
                  <a:schemeClr val="accent1"/>
                </a:solidFill>
              </a:rPr>
              <a:t>Data Warehouse Design</a:t>
            </a:r>
          </a:p>
        </p:txBody>
      </p:sp>
      <p:sp>
        <p:nvSpPr>
          <p:cNvPr id="29" name="Task 2 item text">
            <a:extLst>
              <a:ext uri="{FF2B5EF4-FFF2-40B4-BE49-F238E27FC236}">
                <a16:creationId xmlns:a16="http://schemas.microsoft.com/office/drawing/2014/main" id="{633436ED-7896-2586-4565-B86FA19C6F5D}"/>
              </a:ext>
            </a:extLst>
          </p:cNvPr>
          <p:cNvSpPr txBox="1"/>
          <p:nvPr/>
        </p:nvSpPr>
        <p:spPr>
          <a:xfrm>
            <a:off x="1115569" y="4608576"/>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4.   </a:t>
            </a:r>
            <a:r>
              <a:rPr lang="en-US" sz="2000" b="1" dirty="0">
                <a:solidFill>
                  <a:schemeClr val="accent1"/>
                </a:solidFill>
              </a:rPr>
              <a:t>ETL Pipelines</a:t>
            </a:r>
          </a:p>
        </p:txBody>
      </p:sp>
      <p:sp>
        <p:nvSpPr>
          <p:cNvPr id="30" name="Task 2 item text">
            <a:extLst>
              <a:ext uri="{FF2B5EF4-FFF2-40B4-BE49-F238E27FC236}">
                <a16:creationId xmlns:a16="http://schemas.microsoft.com/office/drawing/2014/main" id="{782A6004-B64F-6BA4-285A-CA928124065B}"/>
              </a:ext>
            </a:extLst>
          </p:cNvPr>
          <p:cNvSpPr txBox="1"/>
          <p:nvPr/>
        </p:nvSpPr>
        <p:spPr>
          <a:xfrm>
            <a:off x="5262715" y="1892808"/>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5.   </a:t>
            </a:r>
            <a:r>
              <a:rPr lang="en-US" sz="2000" b="1" dirty="0">
                <a:solidFill>
                  <a:schemeClr val="accent1"/>
                </a:solidFill>
              </a:rPr>
              <a:t>OLAP Cube and Saiku</a:t>
            </a:r>
          </a:p>
        </p:txBody>
      </p:sp>
      <p:sp>
        <p:nvSpPr>
          <p:cNvPr id="31" name="Task 2 item text">
            <a:extLst>
              <a:ext uri="{FF2B5EF4-FFF2-40B4-BE49-F238E27FC236}">
                <a16:creationId xmlns:a16="http://schemas.microsoft.com/office/drawing/2014/main" id="{FE8F97F8-5D5E-8FB8-8B2B-FBD701D0C010}"/>
              </a:ext>
            </a:extLst>
          </p:cNvPr>
          <p:cNvSpPr txBox="1"/>
          <p:nvPr/>
        </p:nvSpPr>
        <p:spPr>
          <a:xfrm>
            <a:off x="5262715" y="2798064"/>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6.   </a:t>
            </a:r>
            <a:r>
              <a:rPr lang="en-US" sz="2000" b="1" dirty="0">
                <a:solidFill>
                  <a:schemeClr val="accent1"/>
                </a:solidFill>
              </a:rPr>
              <a:t>MDX Queries</a:t>
            </a:r>
          </a:p>
        </p:txBody>
      </p:sp>
      <p:sp>
        <p:nvSpPr>
          <p:cNvPr id="32" name="Task 2 item text">
            <a:extLst>
              <a:ext uri="{FF2B5EF4-FFF2-40B4-BE49-F238E27FC236}">
                <a16:creationId xmlns:a16="http://schemas.microsoft.com/office/drawing/2014/main" id="{8A5095FB-3F9C-2355-F858-0D8F2866DAA9}"/>
              </a:ext>
            </a:extLst>
          </p:cNvPr>
          <p:cNvSpPr txBox="1"/>
          <p:nvPr/>
        </p:nvSpPr>
        <p:spPr>
          <a:xfrm>
            <a:off x="5262715" y="3703320"/>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7.   </a:t>
            </a:r>
            <a:r>
              <a:rPr lang="en-US" sz="2000" b="1" dirty="0">
                <a:solidFill>
                  <a:schemeClr val="accent1"/>
                </a:solidFill>
              </a:rPr>
              <a:t>Analysis Questions</a:t>
            </a:r>
          </a:p>
        </p:txBody>
      </p:sp>
      <p:sp>
        <p:nvSpPr>
          <p:cNvPr id="33" name="Task 2 item text">
            <a:extLst>
              <a:ext uri="{FF2B5EF4-FFF2-40B4-BE49-F238E27FC236}">
                <a16:creationId xmlns:a16="http://schemas.microsoft.com/office/drawing/2014/main" id="{043C8BFC-E581-4943-5DF2-8CBD53BCA43C}"/>
              </a:ext>
            </a:extLst>
          </p:cNvPr>
          <p:cNvSpPr txBox="1"/>
          <p:nvPr/>
        </p:nvSpPr>
        <p:spPr>
          <a:xfrm>
            <a:off x="5262715" y="4608576"/>
            <a:ext cx="3429000" cy="347472"/>
          </a:xfrm>
          <a:prstGeom prst="rect">
            <a:avLst/>
          </a:prstGeom>
          <a:noFill/>
          <a:ln/>
        </p:spPr>
        <p:txBody>
          <a:bodyPr wrap="square" lIns="0" tIns="0" rIns="0" bIns="0" rtlCol="0" anchor="t"/>
          <a:lstStyle/>
          <a:p>
            <a:pPr marL="0" indent="0">
              <a:buNone/>
            </a:pPr>
            <a:r>
              <a:rPr lang="en-US" sz="2000" b="1" i="1" dirty="0">
                <a:solidFill>
                  <a:schemeClr val="accent1"/>
                </a:solidFill>
              </a:rPr>
              <a:t>8.   </a:t>
            </a:r>
            <a:r>
              <a:rPr lang="en-US" sz="2000" b="1" dirty="0">
                <a:solidFill>
                  <a:schemeClr val="accent1"/>
                </a:solidFill>
              </a:rPr>
              <a:t>Report and Data Quality</a:t>
            </a:r>
          </a:p>
        </p:txBody>
      </p:sp>
    </p:spTree>
    <p:extLst>
      <p:ext uri="{BB962C8B-B14F-4D97-AF65-F5344CB8AC3E}">
        <p14:creationId xmlns:p14="http://schemas.microsoft.com/office/powerpoint/2010/main" val="2079837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85354" y="2468880"/>
            <a:ext cx="7973291" cy="1188720"/>
          </a:xfrm>
          <a:prstGeom prst="rect">
            <a:avLst/>
          </a:prstGeom>
          <a:noFill/>
          <a:ln/>
        </p:spPr>
        <p:txBody>
          <a:bodyPr wrap="square" lIns="0" tIns="0" rIns="0" bIns="0" rtlCol="0" anchor="ctr"/>
          <a:lstStyle/>
          <a:p>
            <a:pPr marL="0" indent="0" algn="ctr">
              <a:buNone/>
            </a:pPr>
            <a:r>
              <a:rPr lang="en-US" sz="4400" b="1" dirty="0">
                <a:solidFill>
                  <a:schemeClr val="accent1"/>
                </a:solidFill>
              </a:rPr>
              <a:t>Task 1 – Staging and Data Profiling</a:t>
            </a:r>
            <a:endParaRPr lang="en-US" sz="4400" b="1" dirty="0"/>
          </a:p>
        </p:txBody>
      </p:sp>
      <p:sp>
        <p:nvSpPr>
          <p:cNvPr id="3" name="Text 0"/>
          <p:cNvSpPr>
            <a:spLocks noGrp="1"/>
          </p:cNvSpPr>
          <p:nvPr>
            <p:ph type="body" idx="102" hasCustomPrompt="1"/>
          </p:nvPr>
        </p:nvSpPr>
        <p:spPr>
          <a:xfrm>
            <a:off x="685800" y="3657600"/>
            <a:ext cx="7772400" cy="731520"/>
          </a:xfrm>
          <a:prstGeom prst="rect">
            <a:avLst/>
          </a:prstGeom>
          <a:noFill/>
          <a:ln/>
        </p:spPr>
        <p:txBody>
          <a:bodyPr wrap="square" lIns="0" tIns="0" rIns="0" bIns="0" rtlCol="0" anchor="t"/>
          <a:lstStyle/>
          <a:p>
            <a:pPr marL="0" indent="0" algn="ctr">
              <a:buNone/>
            </a:pPr>
            <a:r>
              <a:rPr lang="en-US" sz="1800" dirty="0">
                <a:solidFill>
                  <a:schemeClr val="accent2"/>
                </a:solidFill>
              </a:rPr>
              <a:t>Staging database, load pipeline, exploratory queries and data dictionaries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3" name="Branch Maddison">
            <a:extLst>
              <a:ext uri="{FF2B5EF4-FFF2-40B4-BE49-F238E27FC236}">
                <a16:creationId xmlns:a16="http://schemas.microsoft.com/office/drawing/2014/main" id="{6055F861-9C4F-0E4C-0661-A8AAAEB50783}"/>
              </a:ext>
            </a:extLst>
          </p:cNvPr>
          <p:cNvSpPr/>
          <p:nvPr/>
        </p:nvSpPr>
        <p:spPr>
          <a:xfrm>
            <a:off x="3816477" y="1145925"/>
            <a:ext cx="4542906" cy="914755"/>
          </a:xfrm>
          <a:prstGeom prst="rect">
            <a:avLst/>
          </a:prstGeom>
          <a:solidFill>
            <a:schemeClr val="bg2"/>
          </a:solidFill>
          <a:ln w="12700">
            <a:solidFill>
              <a:schemeClr val="bg2"/>
            </a:solidFill>
            <a:prstDash val="solid"/>
          </a:ln>
        </p:spPr>
        <p:txBody>
          <a:bodyPr/>
          <a:lstStyle/>
          <a:p>
            <a:endParaRPr lang="pt-PT"/>
          </a:p>
        </p:txBody>
      </p:sp>
      <p:sp>
        <p:nvSpPr>
          <p:cNvPr id="41" name="Regex">
            <a:extLst>
              <a:ext uri="{FF2B5EF4-FFF2-40B4-BE49-F238E27FC236}">
                <a16:creationId xmlns:a16="http://schemas.microsoft.com/office/drawing/2014/main" id="{18A12302-CBD2-A38D-6B11-9B5A5A99CD89}"/>
              </a:ext>
            </a:extLst>
          </p:cNvPr>
          <p:cNvSpPr/>
          <p:nvPr/>
        </p:nvSpPr>
        <p:spPr>
          <a:xfrm>
            <a:off x="3816477" y="1140276"/>
            <a:ext cx="4542906" cy="920404"/>
          </a:xfrm>
          <a:prstGeom prst="rect">
            <a:avLst/>
          </a:prstGeom>
          <a:solidFill>
            <a:schemeClr val="bg2"/>
          </a:solidFill>
          <a:ln w="9525">
            <a:solidFill>
              <a:schemeClr val="accent3"/>
            </a:solidFill>
            <a:prstDash val="solid"/>
          </a:ln>
        </p:spPr>
        <p:txBody>
          <a:bodyPr/>
          <a:lstStyle/>
          <a:p>
            <a:endParaRPr lang="pt-PT"/>
          </a:p>
        </p:txBody>
      </p:sp>
      <p:sp>
        <p:nvSpPr>
          <p:cNvPr id="2" name="Text 0"/>
          <p:cNvSpPr>
            <a:spLocks noGrp="1"/>
          </p:cNvSpPr>
          <p:nvPr>
            <p:ph type="title" idx="101" hasCustomPrompt="1"/>
          </p:nvPr>
        </p:nvSpPr>
        <p:spPr>
          <a:xfrm>
            <a:off x="457200" y="133941"/>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Staging schema with precise data types</a:t>
            </a:r>
            <a:endParaRPr lang="en-US" sz="3000" b="1" dirty="0"/>
          </a:p>
        </p:txBody>
      </p:sp>
      <p:pic>
        <p:nvPicPr>
          <p:cNvPr id="28" name="Imagem 27" descr="Uma imagem com texto, captura de ecrã, software&#10;&#10;Descrição gerada automaticamente">
            <a:extLst>
              <a:ext uri="{FF2B5EF4-FFF2-40B4-BE49-F238E27FC236}">
                <a16:creationId xmlns:a16="http://schemas.microsoft.com/office/drawing/2014/main" id="{6926A1C8-FC44-D5A9-C386-85BCB7EC31CE}"/>
              </a:ext>
            </a:extLst>
          </p:cNvPr>
          <p:cNvPicPr>
            <a:picLocks noChangeAspect="1"/>
          </p:cNvPicPr>
          <p:nvPr/>
        </p:nvPicPr>
        <p:blipFill>
          <a:blip r:embed="rId3"/>
          <a:stretch>
            <a:fillRect/>
          </a:stretch>
        </p:blipFill>
        <p:spPr>
          <a:xfrm>
            <a:off x="227861" y="1141638"/>
            <a:ext cx="3065499" cy="4721979"/>
          </a:xfrm>
          <a:prstGeom prst="rect">
            <a:avLst/>
          </a:prstGeom>
        </p:spPr>
      </p:pic>
      <p:sp>
        <p:nvSpPr>
          <p:cNvPr id="30" name="CaixaDeTexto 29">
            <a:extLst>
              <a:ext uri="{FF2B5EF4-FFF2-40B4-BE49-F238E27FC236}">
                <a16:creationId xmlns:a16="http://schemas.microsoft.com/office/drawing/2014/main" id="{B14B41C3-2A8B-5333-57AD-5D3B19A77ED8}"/>
              </a:ext>
            </a:extLst>
          </p:cNvPr>
          <p:cNvSpPr txBox="1"/>
          <p:nvPr/>
        </p:nvSpPr>
        <p:spPr>
          <a:xfrm>
            <a:off x="3816477" y="1141638"/>
            <a:ext cx="4542906" cy="646331"/>
          </a:xfrm>
          <a:prstGeom prst="rect">
            <a:avLst/>
          </a:prstGeom>
          <a:noFill/>
        </p:spPr>
        <p:txBody>
          <a:bodyPr wrap="square" rtlCol="0">
            <a:spAutoFit/>
          </a:bodyPr>
          <a:lstStyle/>
          <a:p>
            <a:r>
              <a:rPr lang="en-US" sz="1200" dirty="0"/>
              <a:t>Maddison and Wdi use the same composite primary key, each row is one value per country, indicator and year, so country and the indicator alone repeat every year</a:t>
            </a:r>
          </a:p>
        </p:txBody>
      </p:sp>
      <p:sp>
        <p:nvSpPr>
          <p:cNvPr id="31" name="CaixaDeTexto 30">
            <a:extLst>
              <a:ext uri="{FF2B5EF4-FFF2-40B4-BE49-F238E27FC236}">
                <a16:creationId xmlns:a16="http://schemas.microsoft.com/office/drawing/2014/main" id="{90D49A8A-C46B-D7F9-E61B-BF4D904D9105}"/>
              </a:ext>
            </a:extLst>
          </p:cNvPr>
          <p:cNvSpPr txBox="1"/>
          <p:nvPr/>
        </p:nvSpPr>
        <p:spPr>
          <a:xfrm>
            <a:off x="3816477" y="1783681"/>
            <a:ext cx="4542906" cy="276999"/>
          </a:xfrm>
          <a:prstGeom prst="rect">
            <a:avLst/>
          </a:prstGeom>
          <a:noFill/>
        </p:spPr>
        <p:txBody>
          <a:bodyPr wrap="square" rtlCol="0">
            <a:spAutoFit/>
          </a:bodyPr>
          <a:lstStyle/>
          <a:p>
            <a:r>
              <a:rPr lang="en-US" sz="1200" dirty="0"/>
              <a:t>Events has no natural key so it was necessary to create a surrogate key</a:t>
            </a:r>
          </a:p>
        </p:txBody>
      </p:sp>
      <p:pic>
        <p:nvPicPr>
          <p:cNvPr id="35" name="Imagem 34" descr="Uma imagem com texto, recibo, algebra&#10;&#10;Descrição gerada automaticamente">
            <a:extLst>
              <a:ext uri="{FF2B5EF4-FFF2-40B4-BE49-F238E27FC236}">
                <a16:creationId xmlns:a16="http://schemas.microsoft.com/office/drawing/2014/main" id="{B10BFFA8-1724-CCDE-4BEF-58DEB3B4996C}"/>
              </a:ext>
            </a:extLst>
          </p:cNvPr>
          <p:cNvPicPr>
            <a:picLocks noChangeAspect="1"/>
          </p:cNvPicPr>
          <p:nvPr/>
        </p:nvPicPr>
        <p:blipFill>
          <a:blip r:embed="rId4"/>
          <a:stretch>
            <a:fillRect/>
          </a:stretch>
        </p:blipFill>
        <p:spPr>
          <a:xfrm>
            <a:off x="3397711" y="4720483"/>
            <a:ext cx="5518427" cy="1143134"/>
          </a:xfrm>
          <a:prstGeom prst="rect">
            <a:avLst/>
          </a:prstGeom>
        </p:spPr>
      </p:pic>
      <p:pic>
        <p:nvPicPr>
          <p:cNvPr id="37" name="Imagem 36" descr="Uma imagem com texto, menu, preto e branco, captura de ecrã&#10;&#10;Descrição gerada automaticamente">
            <a:extLst>
              <a:ext uri="{FF2B5EF4-FFF2-40B4-BE49-F238E27FC236}">
                <a16:creationId xmlns:a16="http://schemas.microsoft.com/office/drawing/2014/main" id="{C50145E9-7967-3FB9-209F-C548F89D6649}"/>
              </a:ext>
            </a:extLst>
          </p:cNvPr>
          <p:cNvPicPr>
            <a:picLocks noChangeAspect="1"/>
          </p:cNvPicPr>
          <p:nvPr/>
        </p:nvPicPr>
        <p:blipFill>
          <a:blip r:embed="rId5"/>
          <a:stretch>
            <a:fillRect/>
          </a:stretch>
        </p:blipFill>
        <p:spPr>
          <a:xfrm>
            <a:off x="3449006" y="2669548"/>
            <a:ext cx="2690219" cy="1431592"/>
          </a:xfrm>
          <a:prstGeom prst="rect">
            <a:avLst/>
          </a:prstGeom>
        </p:spPr>
      </p:pic>
      <p:pic>
        <p:nvPicPr>
          <p:cNvPr id="39" name="Imagem 38" descr="Uma imagem com texto, preto e branco, captura de ecrã, menu&#10;&#10;Descrição gerada automaticamente">
            <a:extLst>
              <a:ext uri="{FF2B5EF4-FFF2-40B4-BE49-F238E27FC236}">
                <a16:creationId xmlns:a16="http://schemas.microsoft.com/office/drawing/2014/main" id="{6055BB66-E168-7B69-8A4E-DDA7A1EFEB3B}"/>
              </a:ext>
            </a:extLst>
          </p:cNvPr>
          <p:cNvPicPr>
            <a:picLocks noChangeAspect="1"/>
          </p:cNvPicPr>
          <p:nvPr/>
        </p:nvPicPr>
        <p:blipFill>
          <a:blip r:embed="rId6"/>
          <a:stretch>
            <a:fillRect/>
          </a:stretch>
        </p:blipFill>
        <p:spPr>
          <a:xfrm>
            <a:off x="6294871" y="2680023"/>
            <a:ext cx="2621267" cy="142111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9" name="Branch WDI"/>
          <p:cNvSpPr/>
          <p:nvPr/>
        </p:nvSpPr>
        <p:spPr>
          <a:xfrm>
            <a:off x="5987935" y="4925928"/>
            <a:ext cx="2331720" cy="707968"/>
          </a:xfrm>
          <a:prstGeom prst="rect">
            <a:avLst/>
          </a:prstGeom>
          <a:solidFill>
            <a:schemeClr val="bg2"/>
          </a:solidFill>
          <a:ln w="12700">
            <a:solidFill>
              <a:schemeClr val="bg2"/>
            </a:solidFill>
            <a:prstDash val="solid"/>
          </a:ln>
        </p:spPr>
        <p:txBody>
          <a:bodyPr/>
          <a:lstStyle/>
          <a:p>
            <a:endParaRPr lang="pt-PT"/>
          </a:p>
        </p:txBody>
      </p:sp>
      <p:sp>
        <p:nvSpPr>
          <p:cNvPr id="16" name="Regex">
            <a:extLst>
              <a:ext uri="{FF2B5EF4-FFF2-40B4-BE49-F238E27FC236}">
                <a16:creationId xmlns:a16="http://schemas.microsoft.com/office/drawing/2014/main" id="{FA6DC315-90E9-3E50-4CF1-07C0A6144F05}"/>
              </a:ext>
            </a:extLst>
          </p:cNvPr>
          <p:cNvSpPr/>
          <p:nvPr/>
        </p:nvSpPr>
        <p:spPr>
          <a:xfrm>
            <a:off x="5987935" y="4920384"/>
            <a:ext cx="2331720" cy="707966"/>
          </a:xfrm>
          <a:prstGeom prst="rect">
            <a:avLst/>
          </a:prstGeom>
          <a:solidFill>
            <a:schemeClr val="bg2"/>
          </a:solidFill>
          <a:ln w="9525">
            <a:solidFill>
              <a:schemeClr val="accent3"/>
            </a:solidFill>
            <a:prstDash val="solid"/>
          </a:ln>
        </p:spPr>
        <p:txBody>
          <a:bodyPr/>
          <a:lstStyle/>
          <a:p>
            <a:endParaRPr lang="pt-PT"/>
          </a:p>
        </p:txBody>
      </p:sp>
      <p:sp>
        <p:nvSpPr>
          <p:cNvPr id="10" name="Branch WDI text"/>
          <p:cNvSpPr txBox="1"/>
          <p:nvPr/>
        </p:nvSpPr>
        <p:spPr>
          <a:xfrm>
            <a:off x="5987935" y="4920383"/>
            <a:ext cx="2331720" cy="707967"/>
          </a:xfrm>
          <a:prstGeom prst="rect">
            <a:avLst/>
          </a:prstGeom>
          <a:noFill/>
          <a:ln/>
        </p:spPr>
        <p:txBody>
          <a:bodyPr wrap="square" rtlCol="0" anchor="t"/>
          <a:lstStyle/>
          <a:p>
            <a:pPr marL="0" indent="0">
              <a:spcAft>
                <a:spcPts val="400"/>
              </a:spcAft>
              <a:buNone/>
            </a:pPr>
            <a:r>
              <a:rPr lang="en-US" sz="1200" b="1" dirty="0">
                <a:solidFill>
                  <a:schemeClr val="accent1"/>
                </a:solidFill>
              </a:rPr>
              <a:t>WDI</a:t>
            </a:r>
            <a:endParaRPr lang="en-US" sz="1200" dirty="0"/>
          </a:p>
          <a:p>
            <a:pPr marL="0" indent="0">
              <a:spcAft>
                <a:spcPts val="400"/>
              </a:spcAft>
              <a:buNone/>
            </a:pPr>
            <a:r>
              <a:rPr lang="en-US" sz="1200" dirty="0">
                <a:solidFill>
                  <a:schemeClr val="tx1"/>
                </a:solidFill>
              </a:rPr>
              <a:t>CSV file input → Table output (stg_wdi)</a:t>
            </a:r>
            <a:endParaRPr lang="en-US" sz="1200" dirty="0"/>
          </a:p>
        </p:txBody>
      </p:sp>
      <p:sp>
        <p:nvSpPr>
          <p:cNvPr id="7" name="Branch Events"/>
          <p:cNvSpPr/>
          <p:nvPr/>
        </p:nvSpPr>
        <p:spPr>
          <a:xfrm>
            <a:off x="3417570" y="4925934"/>
            <a:ext cx="2308860" cy="707969"/>
          </a:xfrm>
          <a:prstGeom prst="rect">
            <a:avLst/>
          </a:prstGeom>
          <a:solidFill>
            <a:schemeClr val="bg2"/>
          </a:solidFill>
          <a:ln w="12700">
            <a:solidFill>
              <a:schemeClr val="bg2"/>
            </a:solidFill>
            <a:prstDash val="solid"/>
          </a:ln>
        </p:spPr>
        <p:txBody>
          <a:bodyPr/>
          <a:lstStyle/>
          <a:p>
            <a:endParaRPr lang="pt-PT"/>
          </a:p>
        </p:txBody>
      </p:sp>
      <p:sp>
        <p:nvSpPr>
          <p:cNvPr id="15" name="Regex">
            <a:extLst>
              <a:ext uri="{FF2B5EF4-FFF2-40B4-BE49-F238E27FC236}">
                <a16:creationId xmlns:a16="http://schemas.microsoft.com/office/drawing/2014/main" id="{1555EEB7-983C-8E5A-1032-2F5B709AF460}"/>
              </a:ext>
            </a:extLst>
          </p:cNvPr>
          <p:cNvSpPr/>
          <p:nvPr/>
        </p:nvSpPr>
        <p:spPr>
          <a:xfrm>
            <a:off x="3417570" y="4925934"/>
            <a:ext cx="2308860" cy="707966"/>
          </a:xfrm>
          <a:prstGeom prst="rect">
            <a:avLst/>
          </a:prstGeom>
          <a:solidFill>
            <a:schemeClr val="bg2"/>
          </a:solidFill>
          <a:ln w="9525">
            <a:solidFill>
              <a:schemeClr val="accent3"/>
            </a:solidFill>
            <a:prstDash val="solid"/>
          </a:ln>
        </p:spPr>
        <p:txBody>
          <a:bodyPr/>
          <a:lstStyle/>
          <a:p>
            <a:endParaRPr lang="pt-PT"/>
          </a:p>
        </p:txBody>
      </p:sp>
      <p:sp>
        <p:nvSpPr>
          <p:cNvPr id="8" name="Branch Events text"/>
          <p:cNvSpPr txBox="1"/>
          <p:nvPr/>
        </p:nvSpPr>
        <p:spPr>
          <a:xfrm>
            <a:off x="3417570" y="4925937"/>
            <a:ext cx="2308860" cy="707967"/>
          </a:xfrm>
          <a:prstGeom prst="rect">
            <a:avLst/>
          </a:prstGeom>
          <a:noFill/>
          <a:ln/>
        </p:spPr>
        <p:txBody>
          <a:bodyPr wrap="square" rtlCol="0" anchor="t"/>
          <a:lstStyle/>
          <a:p>
            <a:pPr marL="0" indent="0">
              <a:spcAft>
                <a:spcPts val="400"/>
              </a:spcAft>
              <a:buNone/>
            </a:pPr>
            <a:r>
              <a:rPr lang="en-US" sz="1200" b="1" dirty="0">
                <a:solidFill>
                  <a:schemeClr val="accent1"/>
                </a:solidFill>
              </a:rPr>
              <a:t>Events</a:t>
            </a:r>
            <a:endParaRPr lang="en-US" sz="1200" dirty="0"/>
          </a:p>
          <a:p>
            <a:pPr marL="0" indent="0">
              <a:spcAft>
                <a:spcPts val="400"/>
              </a:spcAft>
              <a:buNone/>
            </a:pPr>
            <a:r>
              <a:rPr lang="en-US" sz="1200" dirty="0">
                <a:solidFill>
                  <a:schemeClr val="tx1"/>
                </a:solidFill>
              </a:rPr>
              <a:t>CSV file input → Regex evaluation → Filter rows → Table output</a:t>
            </a:r>
            <a:endParaRPr lang="en-US" sz="1200" dirty="0"/>
          </a:p>
        </p:txBody>
      </p:sp>
      <p:sp>
        <p:nvSpPr>
          <p:cNvPr id="5" name="Branch Maddison"/>
          <p:cNvSpPr/>
          <p:nvPr/>
        </p:nvSpPr>
        <p:spPr>
          <a:xfrm>
            <a:off x="840971" y="4925933"/>
            <a:ext cx="2315094" cy="707967"/>
          </a:xfrm>
          <a:prstGeom prst="rect">
            <a:avLst/>
          </a:prstGeom>
          <a:solidFill>
            <a:schemeClr val="bg2"/>
          </a:solidFill>
          <a:ln w="12700">
            <a:solidFill>
              <a:schemeClr val="bg2"/>
            </a:solidFill>
            <a:prstDash val="solid"/>
          </a:ln>
        </p:spPr>
        <p:txBody>
          <a:bodyPr/>
          <a:lstStyle/>
          <a:p>
            <a:endParaRPr lang="pt-PT"/>
          </a:p>
        </p:txBody>
      </p:sp>
      <p:sp>
        <p:nvSpPr>
          <p:cNvPr id="13" name="Regex">
            <a:extLst>
              <a:ext uri="{FF2B5EF4-FFF2-40B4-BE49-F238E27FC236}">
                <a16:creationId xmlns:a16="http://schemas.microsoft.com/office/drawing/2014/main" id="{FDC5463C-914F-A047-2209-84AFA9034FA5}"/>
              </a:ext>
            </a:extLst>
          </p:cNvPr>
          <p:cNvSpPr/>
          <p:nvPr/>
        </p:nvSpPr>
        <p:spPr>
          <a:xfrm>
            <a:off x="847205" y="4925930"/>
            <a:ext cx="2308860" cy="707966"/>
          </a:xfrm>
          <a:prstGeom prst="rect">
            <a:avLst/>
          </a:prstGeom>
          <a:solidFill>
            <a:schemeClr val="bg2"/>
          </a:solidFill>
          <a:ln w="9525">
            <a:solidFill>
              <a:schemeClr val="accent3"/>
            </a:solidFill>
            <a:prstDash val="solid"/>
          </a:ln>
        </p:spPr>
        <p:txBody>
          <a:bodyPr/>
          <a:lstStyle/>
          <a:p>
            <a:endParaRPr lang="pt-PT"/>
          </a:p>
        </p:txBody>
      </p:sp>
      <p:sp>
        <p:nvSpPr>
          <p:cNvPr id="6" name="Branch Maddison text"/>
          <p:cNvSpPr txBox="1"/>
          <p:nvPr/>
        </p:nvSpPr>
        <p:spPr>
          <a:xfrm>
            <a:off x="840970" y="4925933"/>
            <a:ext cx="2315095" cy="707967"/>
          </a:xfrm>
          <a:prstGeom prst="rect">
            <a:avLst/>
          </a:prstGeom>
          <a:noFill/>
          <a:ln/>
        </p:spPr>
        <p:txBody>
          <a:bodyPr wrap="square" rtlCol="0" anchor="t"/>
          <a:lstStyle/>
          <a:p>
            <a:pPr marL="0" indent="0">
              <a:spcAft>
                <a:spcPts val="400"/>
              </a:spcAft>
              <a:buNone/>
            </a:pPr>
            <a:r>
              <a:rPr lang="en-US" sz="1200" b="1" dirty="0">
                <a:solidFill>
                  <a:schemeClr val="accent1"/>
                </a:solidFill>
              </a:rPr>
              <a:t>Maddison</a:t>
            </a:r>
            <a:endParaRPr lang="en-US" sz="1200" dirty="0"/>
          </a:p>
          <a:p>
            <a:pPr marL="0" indent="0">
              <a:spcAft>
                <a:spcPts val="400"/>
              </a:spcAft>
              <a:buNone/>
            </a:pPr>
            <a:r>
              <a:rPr lang="en-US" sz="1200" dirty="0">
                <a:solidFill>
                  <a:schemeClr val="tx1"/>
                </a:solidFill>
              </a:rPr>
              <a:t>CSV file input → Table output (stg_maddison)</a:t>
            </a:r>
            <a:endParaRPr lang="en-US" sz="1200" dirty="0"/>
          </a:p>
        </p:txBody>
      </p:sp>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Load pipeline</a:t>
            </a:r>
            <a:r>
              <a:rPr lang="en-US" b="1" dirty="0"/>
              <a:t> (</a:t>
            </a:r>
            <a:r>
              <a:rPr lang="en-US" sz="3000" b="1" dirty="0">
                <a:solidFill>
                  <a:schemeClr val="accent1"/>
                </a:solidFill>
              </a:rPr>
              <a:t>one branch per source)</a:t>
            </a:r>
            <a:endParaRPr lang="en-US" sz="3000" b="1" dirty="0"/>
          </a:p>
        </p:txBody>
      </p:sp>
      <p:pic>
        <p:nvPicPr>
          <p:cNvPr id="22" name="Imagem 21" descr="Uma imagem com texto, captura de ecrã, Tipo de letra, diagrama&#10;&#10;Descrição gerada automaticamente">
            <a:extLst>
              <a:ext uri="{FF2B5EF4-FFF2-40B4-BE49-F238E27FC236}">
                <a16:creationId xmlns:a16="http://schemas.microsoft.com/office/drawing/2014/main" id="{773EB7F1-DD83-C818-84FB-A7EB4C23507D}"/>
              </a:ext>
            </a:extLst>
          </p:cNvPr>
          <p:cNvPicPr>
            <a:picLocks noChangeAspect="1"/>
          </p:cNvPicPr>
          <p:nvPr/>
        </p:nvPicPr>
        <p:blipFill>
          <a:blip r:embed="rId3">
            <a:clrChange>
              <a:clrFrom>
                <a:srgbClr val="EBEBEB"/>
              </a:clrFrom>
              <a:clrTo>
                <a:srgbClr val="EBEBEB">
                  <a:alpha val="0"/>
                </a:srgbClr>
              </a:clrTo>
            </a:clrChange>
          </a:blip>
          <a:stretch>
            <a:fillRect/>
          </a:stretch>
        </p:blipFill>
        <p:spPr>
          <a:xfrm>
            <a:off x="685800" y="1224096"/>
            <a:ext cx="7772400" cy="32921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15" name="Regex">
            <a:extLst>
              <a:ext uri="{FF2B5EF4-FFF2-40B4-BE49-F238E27FC236}">
                <a16:creationId xmlns:a16="http://schemas.microsoft.com/office/drawing/2014/main" id="{BAAAA5AE-6EF8-1F35-7DAE-312EE086EE9E}"/>
              </a:ext>
            </a:extLst>
          </p:cNvPr>
          <p:cNvSpPr/>
          <p:nvPr/>
        </p:nvSpPr>
        <p:spPr>
          <a:xfrm>
            <a:off x="5416434" y="4872644"/>
            <a:ext cx="2798617" cy="544484"/>
          </a:xfrm>
          <a:prstGeom prst="rect">
            <a:avLst/>
          </a:prstGeom>
          <a:solidFill>
            <a:schemeClr val="bg2"/>
          </a:solidFill>
          <a:ln w="9525">
            <a:solidFill>
              <a:schemeClr val="accent3"/>
            </a:solidFill>
            <a:prstDash val="solid"/>
          </a:ln>
        </p:spPr>
        <p:txBody>
          <a:bodyPr/>
          <a:lstStyle/>
          <a:p>
            <a:endParaRPr lang="pt-PT"/>
          </a:p>
        </p:txBody>
      </p:sp>
      <p:sp>
        <p:nvSpPr>
          <p:cNvPr id="13" name="Regex">
            <a:extLst>
              <a:ext uri="{FF2B5EF4-FFF2-40B4-BE49-F238E27FC236}">
                <a16:creationId xmlns:a16="http://schemas.microsoft.com/office/drawing/2014/main" id="{26827578-8DEE-E02E-B17A-7254B0AA9E71}"/>
              </a:ext>
            </a:extLst>
          </p:cNvPr>
          <p:cNvSpPr/>
          <p:nvPr/>
        </p:nvSpPr>
        <p:spPr>
          <a:xfrm>
            <a:off x="928949" y="4803796"/>
            <a:ext cx="2798617" cy="687185"/>
          </a:xfrm>
          <a:prstGeom prst="rect">
            <a:avLst/>
          </a:prstGeom>
          <a:solidFill>
            <a:schemeClr val="bg2"/>
          </a:solidFill>
          <a:ln w="9525">
            <a:solidFill>
              <a:schemeClr val="accent3"/>
            </a:solidFill>
            <a:prstDash val="solid"/>
          </a:ln>
        </p:spPr>
        <p:txBody>
          <a:bodyPr/>
          <a:lstStyle/>
          <a:p>
            <a:endParaRPr lang="pt-PT"/>
          </a:p>
        </p:txBody>
      </p:sp>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Key transform configurations</a:t>
            </a:r>
            <a:endParaRPr lang="en-US" sz="3000" b="1" dirty="0"/>
          </a:p>
        </p:txBody>
      </p:sp>
      <p:sp>
        <p:nvSpPr>
          <p:cNvPr id="7" name="Notes CSV input"/>
          <p:cNvSpPr txBox="1"/>
          <p:nvPr/>
        </p:nvSpPr>
        <p:spPr>
          <a:xfrm>
            <a:off x="928948" y="4803796"/>
            <a:ext cx="2798618" cy="687185"/>
          </a:xfrm>
          <a:prstGeom prst="rect">
            <a:avLst/>
          </a:prstGeom>
          <a:noFill/>
          <a:ln/>
        </p:spPr>
        <p:txBody>
          <a:bodyPr wrap="square" rtlCol="0" anchor="t"/>
          <a:lstStyle/>
          <a:p>
            <a:pPr>
              <a:spcAft>
                <a:spcPts val="400"/>
              </a:spcAft>
              <a:buSzPct val="100000"/>
            </a:pPr>
            <a:r>
              <a:rPr lang="en-US" sz="1200" dirty="0">
                <a:solidFill>
                  <a:schemeClr val="tx1"/>
                </a:solidFill>
              </a:rPr>
              <a:t>Path with ${PROJECT_HOME}, not an absolute path</a:t>
            </a:r>
            <a:endParaRPr lang="en-US" sz="1200" dirty="0"/>
          </a:p>
          <a:p>
            <a:pPr>
              <a:spcAft>
                <a:spcPts val="400"/>
              </a:spcAft>
              <a:buSzPct val="100000"/>
            </a:pPr>
            <a:r>
              <a:rPr lang="en-US" sz="1200" dirty="0">
                <a:solidFill>
                  <a:schemeClr val="tx1"/>
                </a:solidFill>
              </a:rPr>
              <a:t>year is Integer, value is BigNumber</a:t>
            </a:r>
            <a:endParaRPr lang="en-US" sz="1200" dirty="0"/>
          </a:p>
        </p:txBody>
      </p:sp>
      <p:sp>
        <p:nvSpPr>
          <p:cNvPr id="8" name="Notes Table output"/>
          <p:cNvSpPr txBox="1"/>
          <p:nvPr/>
        </p:nvSpPr>
        <p:spPr>
          <a:xfrm>
            <a:off x="5416431" y="4872644"/>
            <a:ext cx="2798617" cy="554183"/>
          </a:xfrm>
          <a:prstGeom prst="rect">
            <a:avLst/>
          </a:prstGeom>
          <a:noFill/>
          <a:ln/>
        </p:spPr>
        <p:txBody>
          <a:bodyPr wrap="square" rtlCol="0" anchor="t"/>
          <a:lstStyle/>
          <a:p>
            <a:pPr>
              <a:spcAft>
                <a:spcPts val="400"/>
              </a:spcAft>
              <a:buSzPct val="100000"/>
            </a:pPr>
            <a:r>
              <a:rPr lang="en-US" sz="1200" dirty="0">
                <a:solidFill>
                  <a:schemeClr val="tx1"/>
                </a:solidFill>
              </a:rPr>
              <a:t>Truncate table</a:t>
            </a:r>
            <a:r>
              <a:rPr lang="en-US" sz="1200" dirty="0"/>
              <a:t>, </a:t>
            </a:r>
            <a:r>
              <a:rPr lang="en-US" sz="1200" dirty="0">
                <a:solidFill>
                  <a:schemeClr val="tx1"/>
                </a:solidFill>
              </a:rPr>
              <a:t>the load can be re-run</a:t>
            </a:r>
            <a:endParaRPr lang="en-US" sz="1200" dirty="0"/>
          </a:p>
          <a:p>
            <a:pPr>
              <a:spcAft>
                <a:spcPts val="400"/>
              </a:spcAft>
              <a:buSzPct val="100000"/>
            </a:pPr>
            <a:r>
              <a:rPr lang="en-US" sz="1200" dirty="0">
                <a:solidFill>
                  <a:schemeClr val="tx1"/>
                </a:solidFill>
              </a:rPr>
              <a:t>Explicit mapping; event_id left to MySQL</a:t>
            </a:r>
            <a:endParaRPr lang="en-US" sz="1200" dirty="0"/>
          </a:p>
        </p:txBody>
      </p:sp>
      <p:pic>
        <p:nvPicPr>
          <p:cNvPr id="10" name="Imagem 9" descr="Uma imagem com texto, captura de ecrã, número, Tipo de letra&#10;&#10;Descrição gerada automaticamente">
            <a:extLst>
              <a:ext uri="{FF2B5EF4-FFF2-40B4-BE49-F238E27FC236}">
                <a16:creationId xmlns:a16="http://schemas.microsoft.com/office/drawing/2014/main" id="{9FE96F54-8205-C863-CDC0-9BB7956F90F6}"/>
              </a:ext>
            </a:extLst>
          </p:cNvPr>
          <p:cNvPicPr>
            <a:picLocks noChangeAspect="1"/>
          </p:cNvPicPr>
          <p:nvPr/>
        </p:nvPicPr>
        <p:blipFill>
          <a:blip r:embed="rId3"/>
          <a:stretch>
            <a:fillRect/>
          </a:stretch>
        </p:blipFill>
        <p:spPr>
          <a:xfrm>
            <a:off x="221672" y="1378846"/>
            <a:ext cx="4170219" cy="3227234"/>
          </a:xfrm>
          <a:prstGeom prst="rect">
            <a:avLst/>
          </a:prstGeom>
        </p:spPr>
      </p:pic>
      <p:pic>
        <p:nvPicPr>
          <p:cNvPr id="12" name="Imagem 11" descr="Uma imagem com texto, captura de ecrã, software, número&#10;&#10;Descrição gerada automaticamente">
            <a:extLst>
              <a:ext uri="{FF2B5EF4-FFF2-40B4-BE49-F238E27FC236}">
                <a16:creationId xmlns:a16="http://schemas.microsoft.com/office/drawing/2014/main" id="{DD30F656-AFD7-C512-B80F-B230940C0480}"/>
              </a:ext>
            </a:extLst>
          </p:cNvPr>
          <p:cNvPicPr>
            <a:picLocks noChangeAspect="1"/>
          </p:cNvPicPr>
          <p:nvPr/>
        </p:nvPicPr>
        <p:blipFill>
          <a:blip r:embed="rId4"/>
          <a:stretch>
            <a:fillRect/>
          </a:stretch>
        </p:blipFill>
        <p:spPr>
          <a:xfrm>
            <a:off x="4599710" y="1378846"/>
            <a:ext cx="4322618" cy="318910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122614"/>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An unprotected comma</a:t>
            </a:r>
            <a:endParaRPr lang="en-US" sz="3000" b="1" dirty="0"/>
          </a:p>
        </p:txBody>
      </p:sp>
      <p:sp>
        <p:nvSpPr>
          <p:cNvPr id="3" name="Problem line box"/>
          <p:cNvSpPr/>
          <p:nvPr/>
        </p:nvSpPr>
        <p:spPr>
          <a:xfrm>
            <a:off x="548641" y="957796"/>
            <a:ext cx="8046721" cy="320040"/>
          </a:xfrm>
          <a:prstGeom prst="rect">
            <a:avLst/>
          </a:prstGeom>
          <a:solidFill>
            <a:schemeClr val="bg2"/>
          </a:solidFill>
          <a:ln w="9525">
            <a:solidFill>
              <a:schemeClr val="accent3"/>
            </a:solidFill>
            <a:prstDash val="solid"/>
          </a:ln>
        </p:spPr>
        <p:txBody>
          <a:bodyPr/>
          <a:lstStyle/>
          <a:p>
            <a:endParaRPr lang="en-US"/>
          </a:p>
        </p:txBody>
      </p:sp>
      <p:sp>
        <p:nvSpPr>
          <p:cNvPr id="4" name="Problem line text"/>
          <p:cNvSpPr txBox="1"/>
          <p:nvPr/>
        </p:nvSpPr>
        <p:spPr>
          <a:xfrm>
            <a:off x="548640" y="957796"/>
            <a:ext cx="8046720" cy="320040"/>
          </a:xfrm>
          <a:prstGeom prst="rect">
            <a:avLst/>
          </a:prstGeom>
          <a:noFill/>
          <a:ln/>
        </p:spPr>
        <p:txBody>
          <a:bodyPr wrap="square" rtlCol="0" anchor="ctr"/>
          <a:lstStyle/>
          <a:p>
            <a:pPr marL="0" indent="0">
              <a:buNone/>
            </a:pPr>
            <a:r>
              <a:rPr lang="en-US" sz="1100" i="1">
                <a:solidFill>
                  <a:schemeClr val="tx1"/>
                </a:solidFill>
                <a:ea typeface="Courier New" pitchFamily="34" charset="-122"/>
                <a:cs typeface="Courier New" pitchFamily="34" charset="-120"/>
              </a:rPr>
              <a:t>1990,IRL,Ireland,Celtic Tiger boom begins; strong FDI</a:t>
            </a:r>
            <a:r>
              <a:rPr lang="en-US" sz="1600" b="1" i="1">
                <a:solidFill>
                  <a:schemeClr val="accent4"/>
                </a:solidFill>
                <a:ea typeface="Courier New" pitchFamily="34" charset="-122"/>
                <a:cs typeface="Courier New" pitchFamily="34" charset="-120"/>
              </a:rPr>
              <a:t>,</a:t>
            </a:r>
            <a:r>
              <a:rPr lang="en-US" sz="1100" i="1">
                <a:solidFill>
                  <a:schemeClr val="tx1"/>
                </a:solidFill>
                <a:ea typeface="Courier New" pitchFamily="34" charset="-122"/>
                <a:cs typeface="Courier New" pitchFamily="34" charset="-120"/>
              </a:rPr>
              <a:t> IT and pharmaceuticals growth through the 1990s,Economy,High growth</a:t>
            </a:r>
            <a:endParaRPr lang="en-US" sz="1100" i="1"/>
          </a:p>
        </p:txBody>
      </p:sp>
      <p:sp>
        <p:nvSpPr>
          <p:cNvPr id="6" name="Step 1"/>
          <p:cNvSpPr/>
          <p:nvPr/>
        </p:nvSpPr>
        <p:spPr>
          <a:xfrm>
            <a:off x="457200" y="2292186"/>
            <a:ext cx="1783080" cy="822960"/>
          </a:xfrm>
          <a:prstGeom prst="rect">
            <a:avLst/>
          </a:prstGeom>
          <a:solidFill>
            <a:schemeClr val="accent1"/>
          </a:solidFill>
          <a:ln w="12700">
            <a:solidFill>
              <a:schemeClr val="accent1"/>
            </a:solidFill>
            <a:prstDash val="solid"/>
          </a:ln>
        </p:spPr>
        <p:txBody>
          <a:bodyPr/>
          <a:lstStyle/>
          <a:p>
            <a:endParaRPr lang="en-US"/>
          </a:p>
        </p:txBody>
      </p:sp>
      <p:sp>
        <p:nvSpPr>
          <p:cNvPr id="7" name="Step 1 text"/>
          <p:cNvSpPr txBox="1"/>
          <p:nvPr/>
        </p:nvSpPr>
        <p:spPr>
          <a:xfrm>
            <a:off x="457200" y="2292186"/>
            <a:ext cx="1783080" cy="822960"/>
          </a:xfrm>
          <a:prstGeom prst="rect">
            <a:avLst/>
          </a:prstGeom>
          <a:noFill/>
          <a:ln/>
        </p:spPr>
        <p:txBody>
          <a:bodyPr wrap="square" rtlCol="0" anchor="ctr"/>
          <a:lstStyle/>
          <a:p>
            <a:pPr marL="0" indent="0" algn="ctr">
              <a:buNone/>
            </a:pPr>
            <a:r>
              <a:rPr lang="en-US" sz="1300" b="1">
                <a:solidFill>
                  <a:schemeClr val="bg1"/>
                </a:solidFill>
              </a:rPr>
              <a:t>Read the whole line (delimiter |)</a:t>
            </a:r>
            <a:endParaRPr lang="en-US" sz="1300"/>
          </a:p>
        </p:txBody>
      </p:sp>
      <p:sp>
        <p:nvSpPr>
          <p:cNvPr id="8" name="Arrow 1"/>
          <p:cNvSpPr/>
          <p:nvPr/>
        </p:nvSpPr>
        <p:spPr>
          <a:xfrm>
            <a:off x="2286000" y="2566506"/>
            <a:ext cx="274320" cy="274320"/>
          </a:xfrm>
          <a:prstGeom prst="rightArrow">
            <a:avLst/>
          </a:prstGeom>
          <a:solidFill>
            <a:schemeClr val="accent3"/>
          </a:solidFill>
          <a:ln w="12700">
            <a:solidFill>
              <a:schemeClr val="accent3"/>
            </a:solidFill>
            <a:prstDash val="solid"/>
          </a:ln>
        </p:spPr>
        <p:txBody>
          <a:bodyPr/>
          <a:lstStyle/>
          <a:p>
            <a:endParaRPr lang="en-US"/>
          </a:p>
        </p:txBody>
      </p:sp>
      <p:sp>
        <p:nvSpPr>
          <p:cNvPr id="9" name="Step 2"/>
          <p:cNvSpPr/>
          <p:nvPr/>
        </p:nvSpPr>
        <p:spPr>
          <a:xfrm>
            <a:off x="2606040" y="2292186"/>
            <a:ext cx="1783080" cy="822960"/>
          </a:xfrm>
          <a:prstGeom prst="rect">
            <a:avLst/>
          </a:prstGeom>
          <a:solidFill>
            <a:schemeClr val="accent1"/>
          </a:solidFill>
          <a:ln w="12700">
            <a:solidFill>
              <a:schemeClr val="accent1"/>
            </a:solidFill>
            <a:prstDash val="solid"/>
          </a:ln>
        </p:spPr>
        <p:txBody>
          <a:bodyPr/>
          <a:lstStyle/>
          <a:p>
            <a:endParaRPr lang="en-US"/>
          </a:p>
        </p:txBody>
      </p:sp>
      <p:sp>
        <p:nvSpPr>
          <p:cNvPr id="10" name="Step 2 text"/>
          <p:cNvSpPr txBox="1"/>
          <p:nvPr/>
        </p:nvSpPr>
        <p:spPr>
          <a:xfrm>
            <a:off x="2606040" y="2292186"/>
            <a:ext cx="1783080" cy="822960"/>
          </a:xfrm>
          <a:prstGeom prst="rect">
            <a:avLst/>
          </a:prstGeom>
          <a:noFill/>
          <a:ln/>
        </p:spPr>
        <p:txBody>
          <a:bodyPr wrap="square" rtlCol="0" anchor="ctr"/>
          <a:lstStyle/>
          <a:p>
            <a:pPr marL="0" indent="0" algn="ctr">
              <a:buNone/>
            </a:pPr>
            <a:r>
              <a:rPr lang="en-US" sz="1300" b="1" dirty="0">
                <a:solidFill>
                  <a:schemeClr val="bg1"/>
                </a:solidFill>
              </a:rPr>
              <a:t>Regex split into 6 fields</a:t>
            </a:r>
            <a:endParaRPr lang="en-US" sz="1300" dirty="0"/>
          </a:p>
        </p:txBody>
      </p:sp>
      <p:sp>
        <p:nvSpPr>
          <p:cNvPr id="11" name="Arrow 2"/>
          <p:cNvSpPr/>
          <p:nvPr/>
        </p:nvSpPr>
        <p:spPr>
          <a:xfrm>
            <a:off x="4434840" y="2566506"/>
            <a:ext cx="274320" cy="274320"/>
          </a:xfrm>
          <a:prstGeom prst="rightArrow">
            <a:avLst/>
          </a:prstGeom>
          <a:solidFill>
            <a:schemeClr val="accent3"/>
          </a:solidFill>
          <a:ln w="12700">
            <a:solidFill>
              <a:schemeClr val="accent3"/>
            </a:solidFill>
            <a:prstDash val="solid"/>
          </a:ln>
        </p:spPr>
        <p:txBody>
          <a:bodyPr/>
          <a:lstStyle/>
          <a:p>
            <a:endParaRPr lang="en-US"/>
          </a:p>
        </p:txBody>
      </p:sp>
      <p:sp>
        <p:nvSpPr>
          <p:cNvPr id="12" name="Step 3"/>
          <p:cNvSpPr/>
          <p:nvPr/>
        </p:nvSpPr>
        <p:spPr>
          <a:xfrm>
            <a:off x="4754880" y="2292186"/>
            <a:ext cx="1783080" cy="822960"/>
          </a:xfrm>
          <a:prstGeom prst="rect">
            <a:avLst/>
          </a:prstGeom>
          <a:solidFill>
            <a:schemeClr val="accent1"/>
          </a:solidFill>
          <a:ln w="12700">
            <a:solidFill>
              <a:schemeClr val="accent1"/>
            </a:solidFill>
            <a:prstDash val="solid"/>
          </a:ln>
        </p:spPr>
        <p:txBody>
          <a:bodyPr/>
          <a:lstStyle/>
          <a:p>
            <a:endParaRPr lang="en-US"/>
          </a:p>
        </p:txBody>
      </p:sp>
      <p:sp>
        <p:nvSpPr>
          <p:cNvPr id="13" name="Step 3 text"/>
          <p:cNvSpPr txBox="1"/>
          <p:nvPr/>
        </p:nvSpPr>
        <p:spPr>
          <a:xfrm>
            <a:off x="4754880" y="2292186"/>
            <a:ext cx="1783080" cy="822960"/>
          </a:xfrm>
          <a:prstGeom prst="rect">
            <a:avLst/>
          </a:prstGeom>
          <a:noFill/>
          <a:ln/>
        </p:spPr>
        <p:txBody>
          <a:bodyPr wrap="square" rtlCol="0" anchor="ctr"/>
          <a:lstStyle/>
          <a:p>
            <a:pPr marL="0" indent="0" algn="ctr">
              <a:buNone/>
            </a:pPr>
            <a:r>
              <a:rPr lang="en-US" sz="1300" b="1" dirty="0">
                <a:solidFill>
                  <a:schemeClr val="bg1"/>
                </a:solidFill>
              </a:rPr>
              <a:t>Filter is_valid = Y</a:t>
            </a:r>
            <a:endParaRPr lang="en-US" sz="1300" dirty="0"/>
          </a:p>
        </p:txBody>
      </p:sp>
      <p:sp>
        <p:nvSpPr>
          <p:cNvPr id="14" name="Arrow 3"/>
          <p:cNvSpPr/>
          <p:nvPr/>
        </p:nvSpPr>
        <p:spPr>
          <a:xfrm>
            <a:off x="6583680" y="2566506"/>
            <a:ext cx="274320" cy="274320"/>
          </a:xfrm>
          <a:prstGeom prst="rightArrow">
            <a:avLst/>
          </a:prstGeom>
          <a:solidFill>
            <a:schemeClr val="accent3"/>
          </a:solidFill>
          <a:ln w="12700">
            <a:solidFill>
              <a:schemeClr val="accent3"/>
            </a:solidFill>
            <a:prstDash val="solid"/>
          </a:ln>
        </p:spPr>
        <p:txBody>
          <a:bodyPr/>
          <a:lstStyle/>
          <a:p>
            <a:endParaRPr lang="en-US"/>
          </a:p>
        </p:txBody>
      </p:sp>
      <p:sp>
        <p:nvSpPr>
          <p:cNvPr id="15" name="Step 4"/>
          <p:cNvSpPr/>
          <p:nvPr/>
        </p:nvSpPr>
        <p:spPr>
          <a:xfrm>
            <a:off x="6903720" y="2292186"/>
            <a:ext cx="1783080" cy="822960"/>
          </a:xfrm>
          <a:prstGeom prst="rect">
            <a:avLst/>
          </a:prstGeom>
          <a:solidFill>
            <a:schemeClr val="accent1"/>
          </a:solidFill>
          <a:ln w="12700">
            <a:solidFill>
              <a:schemeClr val="accent1"/>
            </a:solidFill>
            <a:prstDash val="solid"/>
          </a:ln>
        </p:spPr>
        <p:txBody>
          <a:bodyPr/>
          <a:lstStyle/>
          <a:p>
            <a:endParaRPr lang="en-US"/>
          </a:p>
        </p:txBody>
      </p:sp>
      <p:sp>
        <p:nvSpPr>
          <p:cNvPr id="16" name="Step 4 text"/>
          <p:cNvSpPr txBox="1"/>
          <p:nvPr/>
        </p:nvSpPr>
        <p:spPr>
          <a:xfrm>
            <a:off x="6903720" y="2292186"/>
            <a:ext cx="1783080" cy="822960"/>
          </a:xfrm>
          <a:prstGeom prst="rect">
            <a:avLst/>
          </a:prstGeom>
          <a:noFill/>
          <a:ln/>
        </p:spPr>
        <p:txBody>
          <a:bodyPr wrap="square" rtlCol="0" anchor="ctr"/>
          <a:lstStyle/>
          <a:p>
            <a:pPr marL="0" indent="0" algn="ctr">
              <a:buNone/>
            </a:pPr>
            <a:r>
              <a:rPr lang="en-US" sz="1300" b="1" dirty="0">
                <a:solidFill>
                  <a:schemeClr val="bg1"/>
                </a:solidFill>
              </a:rPr>
              <a:t>Table output stg_events</a:t>
            </a:r>
            <a:endParaRPr lang="en-US" sz="1300" dirty="0"/>
          </a:p>
        </p:txBody>
      </p:sp>
      <p:sp>
        <p:nvSpPr>
          <p:cNvPr id="17" name="Regex"/>
          <p:cNvSpPr/>
          <p:nvPr/>
        </p:nvSpPr>
        <p:spPr>
          <a:xfrm>
            <a:off x="457200" y="3267720"/>
            <a:ext cx="8229600" cy="502920"/>
          </a:xfrm>
          <a:prstGeom prst="rect">
            <a:avLst/>
          </a:prstGeom>
          <a:solidFill>
            <a:schemeClr val="bg2"/>
          </a:solidFill>
          <a:ln w="9525">
            <a:solidFill>
              <a:schemeClr val="accent3"/>
            </a:solidFill>
            <a:prstDash val="solid"/>
          </a:ln>
        </p:spPr>
        <p:txBody>
          <a:bodyPr/>
          <a:lstStyle/>
          <a:p>
            <a:endParaRPr lang="en-US"/>
          </a:p>
        </p:txBody>
      </p:sp>
      <p:sp>
        <p:nvSpPr>
          <p:cNvPr id="18" name="Regex text"/>
          <p:cNvSpPr txBox="1"/>
          <p:nvPr/>
        </p:nvSpPr>
        <p:spPr>
          <a:xfrm>
            <a:off x="548640" y="3313440"/>
            <a:ext cx="8046720" cy="411480"/>
          </a:xfrm>
          <a:prstGeom prst="rect">
            <a:avLst/>
          </a:prstGeom>
          <a:noFill/>
          <a:ln/>
        </p:spPr>
        <p:txBody>
          <a:bodyPr wrap="square" rtlCol="0" anchor="ctr"/>
          <a:lstStyle/>
          <a:p>
            <a:pPr marL="0" indent="0">
              <a:buNone/>
            </a:pPr>
            <a:r>
              <a:rPr lang="en-US" sz="1300">
                <a:solidFill>
                  <a:schemeClr val="tx1"/>
                </a:solidFill>
                <a:latin typeface="Courier New" pitchFamily="34" charset="0"/>
                <a:ea typeface="Courier New" pitchFamily="34" charset="-122"/>
                <a:cs typeface="Courier New" pitchFamily="34" charset="-120"/>
              </a:rPr>
              <a:t>^(\d{4}),([A-Z]{3}),([^,]*),(.*),([^,]*),([^,]*)$</a:t>
            </a:r>
            <a:endParaRPr lang="en-US" sz="1300"/>
          </a:p>
        </p:txBody>
      </p:sp>
      <p:sp>
        <p:nvSpPr>
          <p:cNvPr id="24" name="Regex">
            <a:extLst>
              <a:ext uri="{FF2B5EF4-FFF2-40B4-BE49-F238E27FC236}">
                <a16:creationId xmlns:a16="http://schemas.microsoft.com/office/drawing/2014/main" id="{6715F41A-C512-D750-74CA-01638F0A736C}"/>
              </a:ext>
            </a:extLst>
          </p:cNvPr>
          <p:cNvSpPr/>
          <p:nvPr/>
        </p:nvSpPr>
        <p:spPr>
          <a:xfrm>
            <a:off x="457200" y="1460369"/>
            <a:ext cx="8229600" cy="617220"/>
          </a:xfrm>
          <a:prstGeom prst="rect">
            <a:avLst/>
          </a:prstGeom>
          <a:solidFill>
            <a:schemeClr val="bg2"/>
          </a:solidFill>
          <a:ln w="9525">
            <a:solidFill>
              <a:schemeClr val="accent3"/>
            </a:solidFill>
            <a:prstDash val="solid"/>
          </a:ln>
        </p:spPr>
        <p:txBody>
          <a:bodyPr/>
          <a:lstStyle/>
          <a:p>
            <a:r>
              <a:rPr lang="en-US" sz="1200" dirty="0"/>
              <a:t>We noted the presence of an unprotected comma in line 362 of the events csv file, which split that row into 7 fields instead of 6. Instead of editing the source file, the load pipeline reads each line and splits it with a regular expression that allows commas, only in the event field </a:t>
            </a:r>
          </a:p>
        </p:txBody>
      </p:sp>
      <p:pic>
        <p:nvPicPr>
          <p:cNvPr id="29" name="Imagem 28" descr="Uma imagem com texto, recibo, captura de ecrã&#10;&#10;Descrição gerada automaticamente">
            <a:extLst>
              <a:ext uri="{FF2B5EF4-FFF2-40B4-BE49-F238E27FC236}">
                <a16:creationId xmlns:a16="http://schemas.microsoft.com/office/drawing/2014/main" id="{CFE47FE9-D5A2-9B5C-42CE-1E8485391676}"/>
              </a:ext>
            </a:extLst>
          </p:cNvPr>
          <p:cNvPicPr>
            <a:picLocks noChangeAspect="1"/>
          </p:cNvPicPr>
          <p:nvPr/>
        </p:nvPicPr>
        <p:blipFill>
          <a:blip r:embed="rId3"/>
          <a:stretch>
            <a:fillRect/>
          </a:stretch>
        </p:blipFill>
        <p:spPr>
          <a:xfrm>
            <a:off x="685800" y="3951241"/>
            <a:ext cx="7772400" cy="208637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All rows loaded into staging</a:t>
            </a:r>
            <a:endParaRPr lang="en-US" sz="3000" b="1" dirty="0"/>
          </a:p>
        </p:txBody>
      </p:sp>
      <p:sp>
        <p:nvSpPr>
          <p:cNvPr id="3" name="Stat Maddison"/>
          <p:cNvSpPr/>
          <p:nvPr/>
        </p:nvSpPr>
        <p:spPr>
          <a:xfrm>
            <a:off x="457200" y="1693101"/>
            <a:ext cx="2606040" cy="1417320"/>
          </a:xfrm>
          <a:prstGeom prst="rect">
            <a:avLst/>
          </a:prstGeom>
          <a:solidFill>
            <a:schemeClr val="bg2"/>
          </a:solidFill>
          <a:ln w="12700">
            <a:solidFill>
              <a:schemeClr val="bg2"/>
            </a:solidFill>
            <a:prstDash val="solid"/>
          </a:ln>
        </p:spPr>
        <p:txBody>
          <a:bodyPr/>
          <a:lstStyle/>
          <a:p>
            <a:endParaRPr lang="pt-PT"/>
          </a:p>
        </p:txBody>
      </p:sp>
      <p:sp>
        <p:nvSpPr>
          <p:cNvPr id="4" name="Stat Maddison text"/>
          <p:cNvSpPr txBox="1"/>
          <p:nvPr/>
        </p:nvSpPr>
        <p:spPr>
          <a:xfrm>
            <a:off x="548640" y="1693101"/>
            <a:ext cx="2423160" cy="1417320"/>
          </a:xfrm>
          <a:prstGeom prst="rect">
            <a:avLst/>
          </a:prstGeom>
          <a:noFill/>
          <a:ln/>
        </p:spPr>
        <p:txBody>
          <a:bodyPr wrap="square" rtlCol="0" anchor="ctr"/>
          <a:lstStyle/>
          <a:p>
            <a:pPr marL="0" indent="0" algn="ctr">
              <a:buNone/>
            </a:pPr>
            <a:r>
              <a:rPr lang="en-US" sz="3000" b="1" dirty="0">
                <a:solidFill>
                  <a:schemeClr val="accent1"/>
                </a:solidFill>
              </a:rPr>
              <a:t>4,349</a:t>
            </a:r>
            <a:endParaRPr lang="en-US" sz="3000" dirty="0"/>
          </a:p>
          <a:p>
            <a:pPr marL="0" indent="0" algn="ctr">
              <a:buNone/>
            </a:pPr>
            <a:r>
              <a:rPr lang="en-US" sz="1400" b="1" dirty="0">
                <a:solidFill>
                  <a:schemeClr val="tx1"/>
                </a:solidFill>
              </a:rPr>
              <a:t>stg_maddison</a:t>
            </a:r>
            <a:endParaRPr lang="en-US" sz="3000" dirty="0"/>
          </a:p>
          <a:p>
            <a:pPr marL="0" indent="0" algn="ctr">
              <a:buNone/>
            </a:pPr>
            <a:r>
              <a:rPr lang="en-US" sz="1200" dirty="0">
                <a:solidFill>
                  <a:schemeClr val="accent2"/>
                </a:solidFill>
              </a:rPr>
              <a:t>4,350 lines incl. header</a:t>
            </a:r>
            <a:endParaRPr lang="en-US" sz="3000" dirty="0"/>
          </a:p>
        </p:txBody>
      </p:sp>
      <p:sp>
        <p:nvSpPr>
          <p:cNvPr id="5" name="Stat Events"/>
          <p:cNvSpPr/>
          <p:nvPr/>
        </p:nvSpPr>
        <p:spPr>
          <a:xfrm>
            <a:off x="3268980" y="1693101"/>
            <a:ext cx="2606040" cy="1417320"/>
          </a:xfrm>
          <a:prstGeom prst="rect">
            <a:avLst/>
          </a:prstGeom>
          <a:solidFill>
            <a:schemeClr val="bg2"/>
          </a:solidFill>
          <a:ln w="12700">
            <a:solidFill>
              <a:schemeClr val="bg2"/>
            </a:solidFill>
            <a:prstDash val="solid"/>
          </a:ln>
        </p:spPr>
        <p:txBody>
          <a:bodyPr/>
          <a:lstStyle/>
          <a:p>
            <a:endParaRPr lang="pt-PT"/>
          </a:p>
        </p:txBody>
      </p:sp>
      <p:sp>
        <p:nvSpPr>
          <p:cNvPr id="6" name="Stat Events text"/>
          <p:cNvSpPr txBox="1"/>
          <p:nvPr/>
        </p:nvSpPr>
        <p:spPr>
          <a:xfrm>
            <a:off x="3360420" y="1693101"/>
            <a:ext cx="2423160" cy="1417320"/>
          </a:xfrm>
          <a:prstGeom prst="rect">
            <a:avLst/>
          </a:prstGeom>
          <a:noFill/>
          <a:ln/>
        </p:spPr>
        <p:txBody>
          <a:bodyPr wrap="square" rtlCol="0" anchor="ctr"/>
          <a:lstStyle/>
          <a:p>
            <a:pPr marL="0" indent="0" algn="ctr">
              <a:buNone/>
            </a:pPr>
            <a:r>
              <a:rPr lang="en-US" sz="3000" b="1" dirty="0">
                <a:solidFill>
                  <a:schemeClr val="accent1"/>
                </a:solidFill>
              </a:rPr>
              <a:t>387</a:t>
            </a:r>
            <a:endParaRPr lang="en-US" sz="3000" dirty="0"/>
          </a:p>
          <a:p>
            <a:pPr marL="0" indent="0" algn="ctr">
              <a:buNone/>
            </a:pPr>
            <a:r>
              <a:rPr lang="en-US" sz="1400" b="1" dirty="0">
                <a:solidFill>
                  <a:schemeClr val="tx1"/>
                </a:solidFill>
              </a:rPr>
              <a:t>stg_events</a:t>
            </a:r>
            <a:endParaRPr lang="en-US" sz="3000" dirty="0"/>
          </a:p>
          <a:p>
            <a:pPr marL="0" indent="0" algn="ctr">
              <a:buNone/>
            </a:pPr>
            <a:r>
              <a:rPr lang="en-US" sz="1200" dirty="0">
                <a:solidFill>
                  <a:schemeClr val="accent2"/>
                </a:solidFill>
              </a:rPr>
              <a:t>388 lines incl. header</a:t>
            </a:r>
            <a:endParaRPr lang="en-US" sz="3000" dirty="0"/>
          </a:p>
        </p:txBody>
      </p:sp>
      <p:sp>
        <p:nvSpPr>
          <p:cNvPr id="7" name="Stat WDI"/>
          <p:cNvSpPr/>
          <p:nvPr/>
        </p:nvSpPr>
        <p:spPr>
          <a:xfrm>
            <a:off x="6080760" y="1693101"/>
            <a:ext cx="2606040" cy="1417320"/>
          </a:xfrm>
          <a:prstGeom prst="rect">
            <a:avLst/>
          </a:prstGeom>
          <a:solidFill>
            <a:schemeClr val="bg2"/>
          </a:solidFill>
          <a:ln w="12700">
            <a:solidFill>
              <a:schemeClr val="bg2"/>
            </a:solidFill>
            <a:prstDash val="solid"/>
          </a:ln>
        </p:spPr>
        <p:txBody>
          <a:bodyPr/>
          <a:lstStyle/>
          <a:p>
            <a:endParaRPr lang="pt-PT"/>
          </a:p>
        </p:txBody>
      </p:sp>
      <p:sp>
        <p:nvSpPr>
          <p:cNvPr id="8" name="Stat WDI text"/>
          <p:cNvSpPr txBox="1"/>
          <p:nvPr/>
        </p:nvSpPr>
        <p:spPr>
          <a:xfrm>
            <a:off x="6172200" y="1693101"/>
            <a:ext cx="2423160" cy="1417320"/>
          </a:xfrm>
          <a:prstGeom prst="rect">
            <a:avLst/>
          </a:prstGeom>
          <a:noFill/>
          <a:ln/>
        </p:spPr>
        <p:txBody>
          <a:bodyPr wrap="square" rtlCol="0" anchor="ctr"/>
          <a:lstStyle/>
          <a:p>
            <a:pPr marL="0" indent="0" algn="ctr">
              <a:buNone/>
            </a:pPr>
            <a:r>
              <a:rPr lang="en-US" sz="3000" b="1" dirty="0">
                <a:solidFill>
                  <a:schemeClr val="accent1"/>
                </a:solidFill>
              </a:rPr>
              <a:t>11,371</a:t>
            </a:r>
            <a:endParaRPr lang="en-US" sz="3000" dirty="0"/>
          </a:p>
          <a:p>
            <a:pPr marL="0" indent="0" algn="ctr">
              <a:buNone/>
            </a:pPr>
            <a:r>
              <a:rPr lang="en-US" sz="1400" b="1" dirty="0">
                <a:solidFill>
                  <a:schemeClr val="tx1"/>
                </a:solidFill>
              </a:rPr>
              <a:t>stg_wdi</a:t>
            </a:r>
            <a:endParaRPr lang="en-US" sz="3000" dirty="0"/>
          </a:p>
          <a:p>
            <a:pPr marL="0" indent="0" algn="ctr">
              <a:buNone/>
            </a:pPr>
            <a:r>
              <a:rPr lang="en-US" sz="1200" dirty="0">
                <a:solidFill>
                  <a:schemeClr val="accent2"/>
                </a:solidFill>
              </a:rPr>
              <a:t>11,372 lines incl. header</a:t>
            </a:r>
            <a:endParaRPr lang="en-US" sz="3000" dirty="0"/>
          </a:p>
        </p:txBody>
      </p:sp>
      <p:pic>
        <p:nvPicPr>
          <p:cNvPr id="14" name="Imagem 13" descr="Uma imagem com texto, captura de ecrã, branco, recibo&#10;&#10;Descrição gerada automaticamente">
            <a:extLst>
              <a:ext uri="{FF2B5EF4-FFF2-40B4-BE49-F238E27FC236}">
                <a16:creationId xmlns:a16="http://schemas.microsoft.com/office/drawing/2014/main" id="{284E8ED2-8F49-B60B-7C3D-A009F2C3C8B4}"/>
              </a:ext>
            </a:extLst>
          </p:cNvPr>
          <p:cNvPicPr>
            <a:picLocks noChangeAspect="1"/>
          </p:cNvPicPr>
          <p:nvPr/>
        </p:nvPicPr>
        <p:blipFill>
          <a:blip r:embed="rId3"/>
          <a:stretch>
            <a:fillRect/>
          </a:stretch>
        </p:blipFill>
        <p:spPr>
          <a:xfrm>
            <a:off x="179009" y="3896551"/>
            <a:ext cx="5212199" cy="1575330"/>
          </a:xfrm>
          <a:prstGeom prst="rect">
            <a:avLst/>
          </a:prstGeom>
        </p:spPr>
      </p:pic>
      <p:pic>
        <p:nvPicPr>
          <p:cNvPr id="16" name="Imagem 15" descr="Uma imagem com texto, Tipo de letra, captura de ecrã, branco&#10;&#10;Descrição gerada automaticamente">
            <a:extLst>
              <a:ext uri="{FF2B5EF4-FFF2-40B4-BE49-F238E27FC236}">
                <a16:creationId xmlns:a16="http://schemas.microsoft.com/office/drawing/2014/main" id="{BE6F3C4D-44F8-4030-FFF1-842820AA95CE}"/>
              </a:ext>
            </a:extLst>
          </p:cNvPr>
          <p:cNvPicPr>
            <a:picLocks noChangeAspect="1"/>
          </p:cNvPicPr>
          <p:nvPr/>
        </p:nvPicPr>
        <p:blipFill>
          <a:blip r:embed="rId4"/>
          <a:stretch>
            <a:fillRect/>
          </a:stretch>
        </p:blipFill>
        <p:spPr>
          <a:xfrm>
            <a:off x="5423041" y="3746090"/>
            <a:ext cx="3497704" cy="187625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Profiling</a:t>
            </a:r>
            <a:r>
              <a:rPr lang="en-US" b="1" dirty="0"/>
              <a:t> - </a:t>
            </a:r>
            <a:r>
              <a:rPr lang="en-US" sz="3000" b="1" dirty="0">
                <a:solidFill>
                  <a:schemeClr val="accent1"/>
                </a:solidFill>
              </a:rPr>
              <a:t>six sections of queries (overview)</a:t>
            </a:r>
            <a:endParaRPr lang="en-US" sz="3000" b="1" dirty="0"/>
          </a:p>
        </p:txBody>
      </p:sp>
      <p:graphicFrame>
        <p:nvGraphicFramePr>
          <p:cNvPr id="10" name="Profiling table"/>
          <p:cNvGraphicFramePr>
            <a:graphicFrameLocks noGrp="1"/>
          </p:cNvGraphicFramePr>
          <p:nvPr>
            <p:extLst>
              <p:ext uri="{D42A27DB-BD31-4B8C-83A1-F6EECF244321}">
                <p14:modId xmlns:p14="http://schemas.microsoft.com/office/powerpoint/2010/main" val="2646440036"/>
              </p:ext>
            </p:extLst>
          </p:nvPr>
        </p:nvGraphicFramePr>
        <p:xfrm>
          <a:off x="457200" y="1669473"/>
          <a:ext cx="8229600" cy="3745992"/>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282910">
                <a:tc>
                  <a:txBody>
                    <a:bodyPr/>
                    <a:lstStyle/>
                    <a:p>
                      <a:pPr marL="0" indent="0">
                        <a:buNone/>
                      </a:pPr>
                      <a:r>
                        <a:rPr lang="en-US" sz="1300" b="1" dirty="0">
                          <a:solidFill>
                            <a:schemeClr val="bg1"/>
                          </a:solidFill>
                        </a:rPr>
                        <a:t>Section</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Question</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Key fact found</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chemeClr val="accent1"/>
                          </a:solidFill>
                        </a:rPr>
                        <a:t>1. Row count per table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Which countries are in each source?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EU missing only in Maddison</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200" b="1" dirty="0">
                          <a:solidFill>
                            <a:schemeClr val="accent1"/>
                          </a:solidFill>
                        </a:rPr>
                        <a:t>2. Year ranges</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Which years per source and country?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1900–2025 overall but some gaps in the East</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200" b="1" dirty="0">
                          <a:solidFill>
                            <a:schemeClr val="accent1"/>
                          </a:solidFill>
                        </a:rPr>
                        <a:t>3. WDI coverage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Since when is each indicator available?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Sectors from 1995 and employment from 1991</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200" b="1" dirty="0">
                          <a:solidFill>
                            <a:schemeClr val="accent1"/>
                          </a:solidFill>
                        </a:rPr>
                        <a:t>4. Missing values</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Where is data missing?</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0 NULLs missing data = absent rows</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200" b="1" dirty="0">
                          <a:solidFill>
                            <a:schemeClr val="accent1"/>
                          </a:solidFill>
                        </a:rPr>
                        <a:t>5. Data integrity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Are there duplicates? Consistent values?</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0 duplicates gdp = gdppc × pop × 1000</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200" b="1" dirty="0">
                          <a:solidFill>
                            <a:schemeClr val="accent1"/>
                          </a:solidFill>
                        </a:rPr>
                        <a:t>6. Historical events</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How are events distributed?</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Portugal 125 of 387</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Imagem 35" descr="Uma imagem com padrão, vestuário, captura de ecrã, texto&#10;&#10;Descrição gerada automaticamente">
            <a:extLst>
              <a:ext uri="{FF2B5EF4-FFF2-40B4-BE49-F238E27FC236}">
                <a16:creationId xmlns:a16="http://schemas.microsoft.com/office/drawing/2014/main" id="{E033C23C-62EA-87A9-31C0-C6A702034442}"/>
              </a:ext>
            </a:extLst>
          </p:cNvPr>
          <p:cNvPicPr>
            <a:picLocks noChangeAspect="1"/>
          </p:cNvPicPr>
          <p:nvPr/>
        </p:nvPicPr>
        <p:blipFill>
          <a:blip r:embed="rId3"/>
          <a:stretch>
            <a:fillRect/>
          </a:stretch>
        </p:blipFill>
        <p:spPr>
          <a:xfrm>
            <a:off x="6261429" y="1084297"/>
            <a:ext cx="2717108" cy="1024364"/>
          </a:xfrm>
          <a:prstGeom prst="rect">
            <a:avLst/>
          </a:prstGeom>
        </p:spPr>
      </p:pic>
      <p:pic>
        <p:nvPicPr>
          <p:cNvPr id="44" name="Imagem 43" descr="Uma imagem com texto, Tipo de letra, captura de ecrã, file&#10;&#10;Descrição gerada automaticamente">
            <a:extLst>
              <a:ext uri="{FF2B5EF4-FFF2-40B4-BE49-F238E27FC236}">
                <a16:creationId xmlns:a16="http://schemas.microsoft.com/office/drawing/2014/main" id="{A7227552-3B87-515A-C5FF-12DFF65881D2}"/>
              </a:ext>
            </a:extLst>
          </p:cNvPr>
          <p:cNvPicPr>
            <a:picLocks noChangeAspect="1"/>
          </p:cNvPicPr>
          <p:nvPr/>
        </p:nvPicPr>
        <p:blipFill>
          <a:blip r:embed="rId4"/>
          <a:stretch>
            <a:fillRect/>
          </a:stretch>
        </p:blipFill>
        <p:spPr>
          <a:xfrm>
            <a:off x="226426" y="5185889"/>
            <a:ext cx="3340618" cy="578914"/>
          </a:xfrm>
          <a:prstGeom prst="rect">
            <a:avLst/>
          </a:prstGeom>
        </p:spPr>
      </p:pic>
      <p:pic>
        <p:nvPicPr>
          <p:cNvPr id="46" name="Imagem 45" descr="Uma imagem com texto, captura de ecrã, Tipo de letra, número&#10;&#10;Descrição gerada automaticamente">
            <a:extLst>
              <a:ext uri="{FF2B5EF4-FFF2-40B4-BE49-F238E27FC236}">
                <a16:creationId xmlns:a16="http://schemas.microsoft.com/office/drawing/2014/main" id="{25EB6190-7E16-0EF5-66E6-8A3C1AB53F35}"/>
              </a:ext>
            </a:extLst>
          </p:cNvPr>
          <p:cNvPicPr>
            <a:picLocks noChangeAspect="1"/>
          </p:cNvPicPr>
          <p:nvPr/>
        </p:nvPicPr>
        <p:blipFill>
          <a:blip r:embed="rId5"/>
          <a:stretch>
            <a:fillRect/>
          </a:stretch>
        </p:blipFill>
        <p:spPr>
          <a:xfrm>
            <a:off x="3679528" y="4011231"/>
            <a:ext cx="2987515" cy="2349315"/>
          </a:xfrm>
          <a:prstGeom prst="rect">
            <a:avLst/>
          </a:prstGeom>
        </p:spPr>
      </p:pic>
      <p:pic>
        <p:nvPicPr>
          <p:cNvPr id="48" name="Imagem 47" descr="Uma imagem com texto, menu, captura de ecrã, Tipo de letra&#10;&#10;Descrição gerada automaticamente">
            <a:extLst>
              <a:ext uri="{FF2B5EF4-FFF2-40B4-BE49-F238E27FC236}">
                <a16:creationId xmlns:a16="http://schemas.microsoft.com/office/drawing/2014/main" id="{457F455A-0897-8061-202E-DE86456E5F25}"/>
              </a:ext>
            </a:extLst>
          </p:cNvPr>
          <p:cNvPicPr>
            <a:picLocks noChangeAspect="1"/>
          </p:cNvPicPr>
          <p:nvPr/>
        </p:nvPicPr>
        <p:blipFill>
          <a:blip r:embed="rId6"/>
          <a:stretch>
            <a:fillRect/>
          </a:stretch>
        </p:blipFill>
        <p:spPr>
          <a:xfrm>
            <a:off x="7134827" y="2453214"/>
            <a:ext cx="1473313" cy="3741881"/>
          </a:xfrm>
          <a:prstGeom prst="rect">
            <a:avLst/>
          </a:prstGeom>
        </p:spPr>
      </p:pic>
      <p:pic>
        <p:nvPicPr>
          <p:cNvPr id="27" name="Imagem 26" descr="Uma imagem com texto, captura de ecrã, Tipo de letra, número&#10;&#10;Descrição gerada automaticamente">
            <a:extLst>
              <a:ext uri="{FF2B5EF4-FFF2-40B4-BE49-F238E27FC236}">
                <a16:creationId xmlns:a16="http://schemas.microsoft.com/office/drawing/2014/main" id="{72774E53-2F57-DCAC-391C-1D244213995B}"/>
              </a:ext>
            </a:extLst>
          </p:cNvPr>
          <p:cNvPicPr>
            <a:picLocks noChangeAspect="1"/>
          </p:cNvPicPr>
          <p:nvPr/>
        </p:nvPicPr>
        <p:blipFill>
          <a:blip r:embed="rId7"/>
          <a:stretch>
            <a:fillRect/>
          </a:stretch>
        </p:blipFill>
        <p:spPr>
          <a:xfrm>
            <a:off x="226426" y="1004298"/>
            <a:ext cx="2654300" cy="3276600"/>
          </a:xfrm>
          <a:prstGeom prst="rect">
            <a:avLst/>
          </a:prstGeom>
        </p:spPr>
      </p:pic>
      <p:pic>
        <p:nvPicPr>
          <p:cNvPr id="30" name="Imagem 29" descr="Uma imagem com texto, menu, captura de ecrã, número&#10;&#10;Descrição gerada automaticamente">
            <a:extLst>
              <a:ext uri="{FF2B5EF4-FFF2-40B4-BE49-F238E27FC236}">
                <a16:creationId xmlns:a16="http://schemas.microsoft.com/office/drawing/2014/main" id="{B687D1A9-1699-A860-EF2C-ED79677981AD}"/>
              </a:ext>
            </a:extLst>
          </p:cNvPr>
          <p:cNvPicPr>
            <a:picLocks noChangeAspect="1"/>
          </p:cNvPicPr>
          <p:nvPr/>
        </p:nvPicPr>
        <p:blipFill>
          <a:blip r:embed="rId8"/>
          <a:stretch>
            <a:fillRect/>
          </a:stretch>
        </p:blipFill>
        <p:spPr>
          <a:xfrm>
            <a:off x="3098702" y="1093197"/>
            <a:ext cx="3060227" cy="2542689"/>
          </a:xfrm>
          <a:prstGeom prst="rect">
            <a:avLst/>
          </a:prstGeom>
        </p:spPr>
      </p:pic>
      <p:sp>
        <p:nvSpPr>
          <p:cNvPr id="15" name="Notes Value mapper">
            <a:extLst>
              <a:ext uri="{FF2B5EF4-FFF2-40B4-BE49-F238E27FC236}">
                <a16:creationId xmlns:a16="http://schemas.microsoft.com/office/drawing/2014/main" id="{DE7F7996-ED1C-9572-0F46-87DE330C6AAC}"/>
              </a:ext>
            </a:extLst>
          </p:cNvPr>
          <p:cNvSpPr/>
          <p:nvPr/>
        </p:nvSpPr>
        <p:spPr>
          <a:xfrm>
            <a:off x="498902" y="4132674"/>
            <a:ext cx="2109345" cy="296447"/>
          </a:xfrm>
          <a:prstGeom prst="rect">
            <a:avLst/>
          </a:prstGeom>
          <a:solidFill>
            <a:schemeClr val="bg2"/>
          </a:solidFill>
          <a:ln w="9525">
            <a:solidFill>
              <a:schemeClr val="accent3"/>
            </a:solidFill>
            <a:prstDash val="solid"/>
          </a:ln>
        </p:spPr>
        <p:txBody>
          <a:bodyPr/>
          <a:lstStyle/>
          <a:p>
            <a:endParaRPr lang="pt-PT"/>
          </a:p>
        </p:txBody>
      </p:sp>
      <p:sp>
        <p:nvSpPr>
          <p:cNvPr id="23" name="Notes Value mapper">
            <a:extLst>
              <a:ext uri="{FF2B5EF4-FFF2-40B4-BE49-F238E27FC236}">
                <a16:creationId xmlns:a16="http://schemas.microsoft.com/office/drawing/2014/main" id="{10FEEFC0-A2E8-DF46-7EC8-C7C009C666EE}"/>
              </a:ext>
            </a:extLst>
          </p:cNvPr>
          <p:cNvSpPr/>
          <p:nvPr/>
        </p:nvSpPr>
        <p:spPr>
          <a:xfrm>
            <a:off x="3073523" y="3487662"/>
            <a:ext cx="3240057" cy="296447"/>
          </a:xfrm>
          <a:prstGeom prst="rect">
            <a:avLst/>
          </a:prstGeom>
          <a:solidFill>
            <a:schemeClr val="bg2"/>
          </a:solidFill>
          <a:ln w="9525">
            <a:solidFill>
              <a:schemeClr val="accent3"/>
            </a:solidFill>
            <a:prstDash val="solid"/>
          </a:ln>
        </p:spPr>
        <p:txBody>
          <a:bodyPr/>
          <a:lstStyle/>
          <a:p>
            <a:endParaRPr lang="pt-PT"/>
          </a:p>
        </p:txBody>
      </p:sp>
      <p:sp>
        <p:nvSpPr>
          <p:cNvPr id="20" name="Notes Value mapper">
            <a:extLst>
              <a:ext uri="{FF2B5EF4-FFF2-40B4-BE49-F238E27FC236}">
                <a16:creationId xmlns:a16="http://schemas.microsoft.com/office/drawing/2014/main" id="{1001029A-6F47-FFF5-D17D-71B50791489B}"/>
              </a:ext>
            </a:extLst>
          </p:cNvPr>
          <p:cNvSpPr/>
          <p:nvPr/>
        </p:nvSpPr>
        <p:spPr>
          <a:xfrm>
            <a:off x="7008123" y="1952978"/>
            <a:ext cx="1386677" cy="296447"/>
          </a:xfrm>
          <a:prstGeom prst="rect">
            <a:avLst/>
          </a:prstGeom>
          <a:solidFill>
            <a:schemeClr val="bg2"/>
          </a:solidFill>
          <a:ln w="9525">
            <a:solidFill>
              <a:schemeClr val="accent3"/>
            </a:solidFill>
            <a:prstDash val="solid"/>
          </a:ln>
        </p:spPr>
        <p:txBody>
          <a:bodyPr/>
          <a:lstStyle/>
          <a:p>
            <a:endParaRPr lang="pt-PT"/>
          </a:p>
        </p:txBody>
      </p:sp>
      <p:sp>
        <p:nvSpPr>
          <p:cNvPr id="37" name="Notes Value mapper">
            <a:extLst>
              <a:ext uri="{FF2B5EF4-FFF2-40B4-BE49-F238E27FC236}">
                <a16:creationId xmlns:a16="http://schemas.microsoft.com/office/drawing/2014/main" id="{7F9A1232-0762-9D4F-A919-013B20EAADA6}"/>
              </a:ext>
            </a:extLst>
          </p:cNvPr>
          <p:cNvSpPr/>
          <p:nvPr/>
        </p:nvSpPr>
        <p:spPr>
          <a:xfrm>
            <a:off x="1079128" y="5600049"/>
            <a:ext cx="1465378" cy="296447"/>
          </a:xfrm>
          <a:prstGeom prst="rect">
            <a:avLst/>
          </a:prstGeom>
          <a:solidFill>
            <a:schemeClr val="bg2"/>
          </a:solidFill>
          <a:ln w="9525">
            <a:solidFill>
              <a:schemeClr val="accent3"/>
            </a:solidFill>
            <a:prstDash val="solid"/>
          </a:ln>
        </p:spPr>
        <p:txBody>
          <a:bodyPr/>
          <a:lstStyle/>
          <a:p>
            <a:endParaRPr lang="pt-PT"/>
          </a:p>
        </p:txBody>
      </p:sp>
      <p:sp>
        <p:nvSpPr>
          <p:cNvPr id="39" name="Notes Value mapper">
            <a:extLst>
              <a:ext uri="{FF2B5EF4-FFF2-40B4-BE49-F238E27FC236}">
                <a16:creationId xmlns:a16="http://schemas.microsoft.com/office/drawing/2014/main" id="{26018797-4984-196C-49D8-6E44874551A8}"/>
              </a:ext>
            </a:extLst>
          </p:cNvPr>
          <p:cNvSpPr/>
          <p:nvPr/>
        </p:nvSpPr>
        <p:spPr>
          <a:xfrm>
            <a:off x="4459515" y="6195095"/>
            <a:ext cx="1404949" cy="296447"/>
          </a:xfrm>
          <a:prstGeom prst="rect">
            <a:avLst/>
          </a:prstGeom>
          <a:solidFill>
            <a:schemeClr val="bg2"/>
          </a:solidFill>
          <a:ln w="9525">
            <a:solidFill>
              <a:schemeClr val="accent3"/>
            </a:solidFill>
            <a:prstDash val="solid"/>
          </a:ln>
        </p:spPr>
        <p:txBody>
          <a:bodyPr/>
          <a:lstStyle/>
          <a:p>
            <a:endParaRPr lang="pt-PT"/>
          </a:p>
        </p:txBody>
      </p:sp>
      <p:sp>
        <p:nvSpPr>
          <p:cNvPr id="41" name="Notes Value mapper">
            <a:extLst>
              <a:ext uri="{FF2B5EF4-FFF2-40B4-BE49-F238E27FC236}">
                <a16:creationId xmlns:a16="http://schemas.microsoft.com/office/drawing/2014/main" id="{7C791E5B-2721-AF00-EFBF-59509964C385}"/>
              </a:ext>
            </a:extLst>
          </p:cNvPr>
          <p:cNvSpPr/>
          <p:nvPr/>
        </p:nvSpPr>
        <p:spPr>
          <a:xfrm>
            <a:off x="6942029" y="5997506"/>
            <a:ext cx="1975544" cy="295010"/>
          </a:xfrm>
          <a:prstGeom prst="rect">
            <a:avLst/>
          </a:prstGeom>
          <a:solidFill>
            <a:schemeClr val="bg2"/>
          </a:solidFill>
          <a:ln w="9525">
            <a:solidFill>
              <a:schemeClr val="accent3"/>
            </a:solidFill>
            <a:prstDash val="solid"/>
          </a:ln>
        </p:spPr>
        <p:txBody>
          <a:bodyPr/>
          <a:lstStyle/>
          <a:p>
            <a:endParaRPr lang="pt-PT"/>
          </a:p>
        </p:txBody>
      </p:sp>
      <p:sp>
        <p:nvSpPr>
          <p:cNvPr id="42" name="Notes Value mapper text">
            <a:extLst>
              <a:ext uri="{FF2B5EF4-FFF2-40B4-BE49-F238E27FC236}">
                <a16:creationId xmlns:a16="http://schemas.microsoft.com/office/drawing/2014/main" id="{FFFC49E8-7505-6E0C-79D8-61982823030F}"/>
              </a:ext>
            </a:extLst>
          </p:cNvPr>
          <p:cNvSpPr txBox="1"/>
          <p:nvPr/>
        </p:nvSpPr>
        <p:spPr>
          <a:xfrm>
            <a:off x="6942030" y="5997506"/>
            <a:ext cx="1975544" cy="295010"/>
          </a:xfrm>
          <a:prstGeom prst="rect">
            <a:avLst/>
          </a:prstGeom>
          <a:noFill/>
          <a:ln/>
        </p:spPr>
        <p:txBody>
          <a:bodyPr wrap="square" rtlCol="0" anchor="ctr"/>
          <a:lstStyle/>
          <a:p>
            <a:pPr marL="0" indent="0">
              <a:spcAft>
                <a:spcPts val="400"/>
              </a:spcAft>
              <a:buNone/>
            </a:pPr>
            <a:r>
              <a:rPr lang="en-US" sz="1200" dirty="0"/>
              <a:t>Events per economic impact</a:t>
            </a:r>
          </a:p>
        </p:txBody>
      </p:sp>
      <p:sp>
        <p:nvSpPr>
          <p:cNvPr id="38" name="Notes Value mapper text">
            <a:extLst>
              <a:ext uri="{FF2B5EF4-FFF2-40B4-BE49-F238E27FC236}">
                <a16:creationId xmlns:a16="http://schemas.microsoft.com/office/drawing/2014/main" id="{E1DA2B68-7F8C-FAB0-4BA4-3EC9B8C63F0F}"/>
              </a:ext>
            </a:extLst>
          </p:cNvPr>
          <p:cNvSpPr txBox="1"/>
          <p:nvPr/>
        </p:nvSpPr>
        <p:spPr>
          <a:xfrm>
            <a:off x="1079128" y="5600049"/>
            <a:ext cx="1465377" cy="296447"/>
          </a:xfrm>
          <a:prstGeom prst="rect">
            <a:avLst/>
          </a:prstGeom>
          <a:noFill/>
          <a:ln/>
        </p:spPr>
        <p:txBody>
          <a:bodyPr wrap="square" rtlCol="0" anchor="ctr"/>
          <a:lstStyle/>
          <a:p>
            <a:pPr marL="0" indent="0">
              <a:spcAft>
                <a:spcPts val="400"/>
              </a:spcAft>
              <a:buNone/>
            </a:pPr>
            <a:r>
              <a:rPr lang="en-US" sz="1200" dirty="0"/>
              <a:t>Explicit NULL values</a:t>
            </a:r>
          </a:p>
        </p:txBody>
      </p:sp>
      <p:sp>
        <p:nvSpPr>
          <p:cNvPr id="22" name="Notes Value mapper text">
            <a:extLst>
              <a:ext uri="{FF2B5EF4-FFF2-40B4-BE49-F238E27FC236}">
                <a16:creationId xmlns:a16="http://schemas.microsoft.com/office/drawing/2014/main" id="{9B52AC58-AEB0-92A4-B5A5-9031A11526E7}"/>
              </a:ext>
            </a:extLst>
          </p:cNvPr>
          <p:cNvSpPr txBox="1"/>
          <p:nvPr/>
        </p:nvSpPr>
        <p:spPr>
          <a:xfrm>
            <a:off x="7008123" y="1952977"/>
            <a:ext cx="1386677" cy="296447"/>
          </a:xfrm>
          <a:prstGeom prst="rect">
            <a:avLst/>
          </a:prstGeom>
          <a:noFill/>
          <a:ln/>
        </p:spPr>
        <p:txBody>
          <a:bodyPr wrap="square" rtlCol="0" anchor="ctr"/>
          <a:lstStyle/>
          <a:p>
            <a:pPr marL="0" indent="0">
              <a:spcAft>
                <a:spcPts val="400"/>
              </a:spcAft>
              <a:buNone/>
            </a:pPr>
            <a:r>
              <a:rPr lang="en-US" sz="1200" dirty="0"/>
              <a:t>First year with data</a:t>
            </a:r>
          </a:p>
        </p:txBody>
      </p:sp>
      <p:sp>
        <p:nvSpPr>
          <p:cNvPr id="40" name="Notes Value mapper text">
            <a:extLst>
              <a:ext uri="{FF2B5EF4-FFF2-40B4-BE49-F238E27FC236}">
                <a16:creationId xmlns:a16="http://schemas.microsoft.com/office/drawing/2014/main" id="{1C4B243C-956B-78E5-F79C-8A8BFAC91985}"/>
              </a:ext>
            </a:extLst>
          </p:cNvPr>
          <p:cNvSpPr txBox="1"/>
          <p:nvPr/>
        </p:nvSpPr>
        <p:spPr>
          <a:xfrm>
            <a:off x="4459517" y="6195095"/>
            <a:ext cx="1404948" cy="296447"/>
          </a:xfrm>
          <a:prstGeom prst="rect">
            <a:avLst/>
          </a:prstGeom>
          <a:noFill/>
          <a:ln/>
        </p:spPr>
        <p:txBody>
          <a:bodyPr wrap="square" rtlCol="0" anchor="ctr"/>
          <a:lstStyle/>
          <a:p>
            <a:pPr marL="0" indent="0">
              <a:spcAft>
                <a:spcPts val="400"/>
              </a:spcAft>
              <a:buNone/>
            </a:pPr>
            <a:r>
              <a:rPr lang="en-US" sz="1200" dirty="0"/>
              <a:t>Events per category</a:t>
            </a:r>
          </a:p>
        </p:txBody>
      </p:sp>
      <p:sp>
        <p:nvSpPr>
          <p:cNvPr id="24" name="Notes Value mapper text">
            <a:extLst>
              <a:ext uri="{FF2B5EF4-FFF2-40B4-BE49-F238E27FC236}">
                <a16:creationId xmlns:a16="http://schemas.microsoft.com/office/drawing/2014/main" id="{C2FEFF6B-987B-915F-5FF0-A9E7D78770C9}"/>
              </a:ext>
            </a:extLst>
          </p:cNvPr>
          <p:cNvSpPr txBox="1"/>
          <p:nvPr/>
        </p:nvSpPr>
        <p:spPr>
          <a:xfrm>
            <a:off x="3073525" y="3487662"/>
            <a:ext cx="3240056" cy="296447"/>
          </a:xfrm>
          <a:prstGeom prst="rect">
            <a:avLst/>
          </a:prstGeom>
          <a:noFill/>
          <a:ln/>
        </p:spPr>
        <p:txBody>
          <a:bodyPr wrap="square" rtlCol="0" anchor="ctr"/>
          <a:lstStyle/>
          <a:p>
            <a:pPr marL="0" indent="0">
              <a:spcAft>
                <a:spcPts val="400"/>
              </a:spcAft>
              <a:buNone/>
            </a:pPr>
            <a:r>
              <a:rPr lang="en-US" sz="1200" dirty="0"/>
              <a:t>Year range per country and indicator in Maddison</a:t>
            </a:r>
          </a:p>
        </p:txBody>
      </p:sp>
      <p:sp>
        <p:nvSpPr>
          <p:cNvPr id="16" name="Notes Value mapper text">
            <a:extLst>
              <a:ext uri="{FF2B5EF4-FFF2-40B4-BE49-F238E27FC236}">
                <a16:creationId xmlns:a16="http://schemas.microsoft.com/office/drawing/2014/main" id="{8B0FC942-F41C-7451-FF83-043DF5DE9CE9}"/>
              </a:ext>
            </a:extLst>
          </p:cNvPr>
          <p:cNvSpPr txBox="1"/>
          <p:nvPr/>
        </p:nvSpPr>
        <p:spPr>
          <a:xfrm>
            <a:off x="498903" y="4132674"/>
            <a:ext cx="2109345" cy="296447"/>
          </a:xfrm>
          <a:prstGeom prst="rect">
            <a:avLst/>
          </a:prstGeom>
          <a:noFill/>
          <a:ln/>
        </p:spPr>
        <p:txBody>
          <a:bodyPr wrap="square" rtlCol="0" anchor="ctr"/>
          <a:lstStyle/>
          <a:p>
            <a:pPr marL="0" indent="0">
              <a:spcAft>
                <a:spcPts val="400"/>
              </a:spcAft>
              <a:buNone/>
            </a:pPr>
            <a:r>
              <a:rPr lang="en-US" sz="1200" dirty="0"/>
              <a:t>Distinct countries in Maddison</a:t>
            </a:r>
          </a:p>
        </p:txBody>
      </p:sp>
      <p:sp>
        <p:nvSpPr>
          <p:cNvPr id="5" name="Text 0">
            <a:extLst>
              <a:ext uri="{FF2B5EF4-FFF2-40B4-BE49-F238E27FC236}">
                <a16:creationId xmlns:a16="http://schemas.microsoft.com/office/drawing/2014/main" id="{BC6D05F9-6F8E-F646-466C-CFC49988CC71}"/>
              </a:ext>
            </a:extLst>
          </p:cNvPr>
          <p:cNvSpPr>
            <a:spLocks noGrp="1"/>
          </p:cNvSpPr>
          <p:nvPr>
            <p:ph type="title" idx="101" hasCustomPrompt="1"/>
          </p:nvPr>
        </p:nvSpPr>
        <p:spPr>
          <a:xfrm>
            <a:off x="65809" y="135618"/>
            <a:ext cx="9012382" cy="868680"/>
          </a:xfrm>
          <a:prstGeom prst="rect">
            <a:avLst/>
          </a:prstGeom>
          <a:noFill/>
          <a:ln/>
        </p:spPr>
        <p:txBody>
          <a:bodyPr wrap="square" lIns="0" tIns="0" rIns="0" bIns="0" rtlCol="0" anchor="ctr"/>
          <a:lstStyle/>
          <a:p>
            <a:pPr marL="0" indent="0" algn="ctr">
              <a:buNone/>
            </a:pPr>
            <a:r>
              <a:rPr lang="en-US" sz="3000" b="1" dirty="0">
                <a:solidFill>
                  <a:schemeClr val="accent1"/>
                </a:solidFill>
              </a:rPr>
              <a:t>Profiling</a:t>
            </a:r>
            <a:r>
              <a:rPr lang="en-US" b="1" dirty="0"/>
              <a:t> </a:t>
            </a:r>
            <a:r>
              <a:rPr lang="en-US" sz="3000" b="1" dirty="0">
                <a:solidFill>
                  <a:schemeClr val="accent1"/>
                </a:solidFill>
              </a:rPr>
              <a:t>(some queries)</a:t>
            </a:r>
            <a:endParaRPr lang="en-US" sz="3000" b="1" dirty="0"/>
          </a:p>
        </p:txBody>
      </p:sp>
    </p:spTree>
    <p:extLst>
      <p:ext uri="{BB962C8B-B14F-4D97-AF65-F5344CB8AC3E}">
        <p14:creationId xmlns:p14="http://schemas.microsoft.com/office/powerpoint/2010/main" val="3125998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66793"/>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Data dictionaries</a:t>
            </a:r>
            <a:endParaRPr lang="en-US" sz="3000" b="1" dirty="0"/>
          </a:p>
        </p:txBody>
      </p:sp>
      <p:sp>
        <p:nvSpPr>
          <p:cNvPr id="3" name="Dictionary Maddison"/>
          <p:cNvSpPr/>
          <p:nvPr/>
        </p:nvSpPr>
        <p:spPr>
          <a:xfrm>
            <a:off x="457200" y="1059873"/>
            <a:ext cx="2606040" cy="3931920"/>
          </a:xfrm>
          <a:prstGeom prst="rect">
            <a:avLst/>
          </a:prstGeom>
          <a:solidFill>
            <a:schemeClr val="bg2"/>
          </a:solidFill>
          <a:ln w="12700">
            <a:solidFill>
              <a:schemeClr val="bg2"/>
            </a:solidFill>
            <a:prstDash val="solid"/>
          </a:ln>
        </p:spPr>
        <p:txBody>
          <a:bodyPr/>
          <a:lstStyle/>
          <a:p>
            <a:endParaRPr lang="pt-PT" dirty="0"/>
          </a:p>
        </p:txBody>
      </p:sp>
      <p:sp>
        <p:nvSpPr>
          <p:cNvPr id="4" name="Dictionary Maddison header"/>
          <p:cNvSpPr/>
          <p:nvPr/>
        </p:nvSpPr>
        <p:spPr>
          <a:xfrm>
            <a:off x="457200" y="1059873"/>
            <a:ext cx="2606040" cy="594360"/>
          </a:xfrm>
          <a:prstGeom prst="rect">
            <a:avLst/>
          </a:prstGeom>
          <a:solidFill>
            <a:schemeClr val="accent1"/>
          </a:solidFill>
          <a:ln w="12700">
            <a:solidFill>
              <a:schemeClr val="accent1"/>
            </a:solidFill>
            <a:prstDash val="solid"/>
          </a:ln>
        </p:spPr>
        <p:txBody>
          <a:bodyPr/>
          <a:lstStyle/>
          <a:p>
            <a:endParaRPr lang="pt-PT"/>
          </a:p>
        </p:txBody>
      </p:sp>
      <p:sp>
        <p:nvSpPr>
          <p:cNvPr id="5" name="Dictionary Maddison title"/>
          <p:cNvSpPr txBox="1"/>
          <p:nvPr/>
        </p:nvSpPr>
        <p:spPr>
          <a:xfrm>
            <a:off x="457200" y="1059873"/>
            <a:ext cx="2606040" cy="594360"/>
          </a:xfrm>
          <a:prstGeom prst="rect">
            <a:avLst/>
          </a:prstGeom>
          <a:noFill/>
          <a:ln/>
        </p:spPr>
        <p:txBody>
          <a:bodyPr wrap="square" rtlCol="0" anchor="ctr"/>
          <a:lstStyle/>
          <a:p>
            <a:pPr marL="0" indent="0" algn="ctr">
              <a:buNone/>
            </a:pPr>
            <a:r>
              <a:rPr lang="en-US" sz="1800" b="1" dirty="0">
                <a:solidFill>
                  <a:schemeClr val="bg1"/>
                </a:solidFill>
              </a:rPr>
              <a:t>Maddison</a:t>
            </a:r>
            <a:endParaRPr lang="en-US" sz="1800" dirty="0"/>
          </a:p>
        </p:txBody>
      </p:sp>
      <p:sp>
        <p:nvSpPr>
          <p:cNvPr id="6" name="Dictionary Maddison stats"/>
          <p:cNvSpPr txBox="1"/>
          <p:nvPr/>
        </p:nvSpPr>
        <p:spPr>
          <a:xfrm>
            <a:off x="594360" y="1745673"/>
            <a:ext cx="2331720" cy="548640"/>
          </a:xfrm>
          <a:prstGeom prst="rect">
            <a:avLst/>
          </a:prstGeom>
          <a:noFill/>
          <a:ln/>
        </p:spPr>
        <p:txBody>
          <a:bodyPr wrap="square" rtlCol="0" anchor="ctr"/>
          <a:lstStyle/>
          <a:p>
            <a:pPr marL="0" indent="0">
              <a:buNone/>
            </a:pPr>
            <a:r>
              <a:rPr lang="en-US" sz="1200" b="1" dirty="0">
                <a:solidFill>
                  <a:schemeClr val="accent1"/>
                </a:solidFill>
              </a:rPr>
              <a:t>4,349 rows · 15 countries · 1900–2022</a:t>
            </a:r>
            <a:endParaRPr lang="en-US" sz="1200" dirty="0">
              <a:solidFill>
                <a:schemeClr val="accent1"/>
              </a:solidFill>
            </a:endParaRPr>
          </a:p>
        </p:txBody>
      </p:sp>
      <p:sp>
        <p:nvSpPr>
          <p:cNvPr id="7" name="Dictionary Maddison bullets"/>
          <p:cNvSpPr txBox="1"/>
          <p:nvPr/>
        </p:nvSpPr>
        <p:spPr>
          <a:xfrm>
            <a:off x="594360" y="2414156"/>
            <a:ext cx="2331720" cy="1629641"/>
          </a:xfrm>
          <a:prstGeom prst="rect">
            <a:avLst/>
          </a:prstGeom>
          <a:noFill/>
          <a:ln/>
        </p:spPr>
        <p:txBody>
          <a:bodyPr wrap="square" rtlCol="0" anchor="t"/>
          <a:lstStyle/>
          <a:p>
            <a:pPr>
              <a:spcAft>
                <a:spcPts val="800"/>
              </a:spcAft>
              <a:buSzPct val="100000"/>
            </a:pPr>
            <a:r>
              <a:rPr lang="en-US" sz="1200" b="1" dirty="0">
                <a:solidFill>
                  <a:schemeClr val="accent1"/>
                </a:solidFill>
              </a:rPr>
              <a:t>Particularities and data quality:</a:t>
            </a:r>
          </a:p>
          <a:p>
            <a:pPr>
              <a:spcAft>
                <a:spcPts val="800"/>
              </a:spcAft>
              <a:buSzPct val="100000"/>
            </a:pPr>
            <a:endParaRPr lang="en-US" sz="1200" b="1" dirty="0">
              <a:solidFill>
                <a:schemeClr val="accent1"/>
              </a:solidFill>
            </a:endParaRPr>
          </a:p>
          <a:p>
            <a:pPr marL="342900" indent="-342900">
              <a:spcAft>
                <a:spcPts val="800"/>
              </a:spcAft>
              <a:buSzPct val="100000"/>
              <a:buFont typeface="Wingdings" pitchFamily="2" charset="2"/>
              <a:buChar char="Ø"/>
            </a:pPr>
            <a:r>
              <a:rPr lang="en-US" sz="1200" dirty="0"/>
              <a:t>EU missing</a:t>
            </a:r>
          </a:p>
          <a:p>
            <a:pPr marL="342900" indent="-342900">
              <a:spcAft>
                <a:spcPts val="800"/>
              </a:spcAft>
              <a:buSzPct val="100000"/>
              <a:buFont typeface="Wingdings" pitchFamily="2" charset="2"/>
              <a:buChar char="Ø"/>
            </a:pPr>
            <a:r>
              <a:rPr lang="en-US" sz="1200" dirty="0"/>
              <a:t>Missing data as absent rows</a:t>
            </a:r>
          </a:p>
          <a:p>
            <a:pPr marL="342900" indent="-342900">
              <a:spcAft>
                <a:spcPts val="800"/>
              </a:spcAft>
              <a:buSzPct val="100000"/>
              <a:buFont typeface="Wingdings" pitchFamily="2" charset="2"/>
              <a:buChar char="Ø"/>
            </a:pPr>
            <a:r>
              <a:rPr lang="en-US" sz="1200" dirty="0"/>
              <a:t>Romania – misalign indicators</a:t>
            </a:r>
          </a:p>
        </p:txBody>
      </p:sp>
      <p:sp>
        <p:nvSpPr>
          <p:cNvPr id="9" name="Dictionary WDI"/>
          <p:cNvSpPr/>
          <p:nvPr/>
        </p:nvSpPr>
        <p:spPr>
          <a:xfrm>
            <a:off x="3268980" y="1059873"/>
            <a:ext cx="2606040" cy="3931920"/>
          </a:xfrm>
          <a:prstGeom prst="rect">
            <a:avLst/>
          </a:prstGeom>
          <a:solidFill>
            <a:schemeClr val="bg2"/>
          </a:solidFill>
          <a:ln w="12700">
            <a:solidFill>
              <a:schemeClr val="bg2"/>
            </a:solidFill>
            <a:prstDash val="solid"/>
          </a:ln>
        </p:spPr>
        <p:txBody>
          <a:bodyPr/>
          <a:lstStyle/>
          <a:p>
            <a:endParaRPr lang="pt-PT"/>
          </a:p>
        </p:txBody>
      </p:sp>
      <p:sp>
        <p:nvSpPr>
          <p:cNvPr id="10" name="Dictionary WDI header"/>
          <p:cNvSpPr/>
          <p:nvPr/>
        </p:nvSpPr>
        <p:spPr>
          <a:xfrm>
            <a:off x="3268980" y="1059873"/>
            <a:ext cx="2606040" cy="594360"/>
          </a:xfrm>
          <a:prstGeom prst="rect">
            <a:avLst/>
          </a:prstGeom>
          <a:solidFill>
            <a:schemeClr val="accent1"/>
          </a:solidFill>
          <a:ln w="12700">
            <a:solidFill>
              <a:schemeClr val="accent1"/>
            </a:solidFill>
            <a:prstDash val="solid"/>
          </a:ln>
        </p:spPr>
        <p:txBody>
          <a:bodyPr/>
          <a:lstStyle/>
          <a:p>
            <a:endParaRPr lang="pt-PT"/>
          </a:p>
        </p:txBody>
      </p:sp>
      <p:sp>
        <p:nvSpPr>
          <p:cNvPr id="11" name="Dictionary WDI title"/>
          <p:cNvSpPr txBox="1"/>
          <p:nvPr/>
        </p:nvSpPr>
        <p:spPr>
          <a:xfrm>
            <a:off x="3268980" y="1059873"/>
            <a:ext cx="2606040" cy="594360"/>
          </a:xfrm>
          <a:prstGeom prst="rect">
            <a:avLst/>
          </a:prstGeom>
          <a:noFill/>
          <a:ln/>
        </p:spPr>
        <p:txBody>
          <a:bodyPr wrap="square" rtlCol="0" anchor="ctr"/>
          <a:lstStyle/>
          <a:p>
            <a:pPr marL="0" indent="0" algn="ctr">
              <a:buNone/>
            </a:pPr>
            <a:r>
              <a:rPr lang="en-US" sz="1800" b="1" dirty="0">
                <a:solidFill>
                  <a:schemeClr val="bg1"/>
                </a:solidFill>
              </a:rPr>
              <a:t>WDI</a:t>
            </a:r>
            <a:endParaRPr lang="en-US" sz="1800" dirty="0"/>
          </a:p>
        </p:txBody>
      </p:sp>
      <p:sp>
        <p:nvSpPr>
          <p:cNvPr id="12" name="Dictionary WDI stats"/>
          <p:cNvSpPr txBox="1"/>
          <p:nvPr/>
        </p:nvSpPr>
        <p:spPr>
          <a:xfrm>
            <a:off x="3406140" y="1745673"/>
            <a:ext cx="2331720" cy="548640"/>
          </a:xfrm>
          <a:prstGeom prst="rect">
            <a:avLst/>
          </a:prstGeom>
          <a:noFill/>
          <a:ln/>
        </p:spPr>
        <p:txBody>
          <a:bodyPr wrap="square" rtlCol="0" anchor="ctr"/>
          <a:lstStyle/>
          <a:p>
            <a:pPr marL="0" indent="0">
              <a:buNone/>
            </a:pPr>
            <a:r>
              <a:rPr lang="en-US" sz="1200" b="1" dirty="0">
                <a:solidFill>
                  <a:schemeClr val="accent1"/>
                </a:solidFill>
              </a:rPr>
              <a:t>11,371 rows · 16 entities · 1960–2025</a:t>
            </a:r>
            <a:endParaRPr lang="en-US" sz="1200" dirty="0">
              <a:solidFill>
                <a:schemeClr val="accent1"/>
              </a:solidFill>
            </a:endParaRPr>
          </a:p>
        </p:txBody>
      </p:sp>
      <p:sp>
        <p:nvSpPr>
          <p:cNvPr id="13" name="Dictionary WDI bullets"/>
          <p:cNvSpPr txBox="1"/>
          <p:nvPr/>
        </p:nvSpPr>
        <p:spPr>
          <a:xfrm>
            <a:off x="3406140" y="2414155"/>
            <a:ext cx="2331720" cy="2138449"/>
          </a:xfrm>
          <a:prstGeom prst="rect">
            <a:avLst/>
          </a:prstGeom>
          <a:noFill/>
          <a:ln/>
        </p:spPr>
        <p:txBody>
          <a:bodyPr wrap="square" rtlCol="0" anchor="t"/>
          <a:lstStyle/>
          <a:p>
            <a:pPr>
              <a:spcAft>
                <a:spcPts val="800"/>
              </a:spcAft>
              <a:buSzPct val="100000"/>
            </a:pPr>
            <a:r>
              <a:rPr lang="en-US" sz="1200" b="1" dirty="0">
                <a:solidFill>
                  <a:schemeClr val="accent1"/>
                </a:solidFill>
              </a:rPr>
              <a:t>Particularities and data quality:</a:t>
            </a:r>
          </a:p>
          <a:p>
            <a:pPr>
              <a:spcAft>
                <a:spcPts val="800"/>
              </a:spcAft>
              <a:buSzPct val="100000"/>
            </a:pPr>
            <a:endParaRPr lang="en-US" sz="1200" b="1" dirty="0">
              <a:solidFill>
                <a:schemeClr val="accent1"/>
              </a:solidFill>
            </a:endParaRPr>
          </a:p>
          <a:p>
            <a:pPr marL="342900" indent="-342900">
              <a:spcAft>
                <a:spcPts val="800"/>
              </a:spcAft>
              <a:buSzPct val="100000"/>
              <a:buFont typeface="Wingdings" pitchFamily="2" charset="2"/>
              <a:buChar char="Ø"/>
            </a:pPr>
            <a:r>
              <a:rPr lang="en-US" sz="1200" dirty="0"/>
              <a:t>Missing data as absent rows</a:t>
            </a:r>
          </a:p>
          <a:p>
            <a:pPr marL="342900" indent="-342900">
              <a:spcAft>
                <a:spcPts val="800"/>
              </a:spcAft>
              <a:buSzPct val="100000"/>
              <a:buFont typeface="Wingdings" pitchFamily="2" charset="2"/>
              <a:buChar char="Ø"/>
            </a:pPr>
            <a:r>
              <a:rPr lang="en-US" sz="1200" dirty="0"/>
              <a:t>EU included</a:t>
            </a:r>
          </a:p>
          <a:p>
            <a:pPr marL="342900" indent="-342900">
              <a:spcAft>
                <a:spcPts val="800"/>
              </a:spcAft>
              <a:buSzPct val="100000"/>
              <a:buFont typeface="Wingdings" pitchFamily="2" charset="2"/>
              <a:buChar char="Ø"/>
            </a:pPr>
            <a:r>
              <a:rPr lang="en-US" sz="1200" dirty="0"/>
              <a:t>Manufacturing is part of industry</a:t>
            </a:r>
          </a:p>
          <a:p>
            <a:pPr marL="342900" indent="-342900">
              <a:spcAft>
                <a:spcPts val="800"/>
              </a:spcAft>
              <a:buSzPct val="100000"/>
              <a:buFont typeface="Wingdings" pitchFamily="2" charset="2"/>
              <a:buChar char="Ø"/>
            </a:pPr>
            <a:r>
              <a:rPr lang="en-US" sz="1200" dirty="0"/>
              <a:t>No employment for manufacturing</a:t>
            </a:r>
          </a:p>
          <a:p>
            <a:pPr marL="342900" indent="-342900">
              <a:spcAft>
                <a:spcPts val="800"/>
              </a:spcAft>
              <a:buSzPct val="100000"/>
              <a:buFont typeface="Wingdings" pitchFamily="2" charset="2"/>
              <a:buChar char="Ø"/>
            </a:pPr>
            <a:r>
              <a:rPr lang="en-US" sz="1200" dirty="0"/>
              <a:t>Extreme GDP growth</a:t>
            </a:r>
          </a:p>
          <a:p>
            <a:pPr marL="342900" indent="-342900">
              <a:spcAft>
                <a:spcPts val="800"/>
              </a:spcAft>
              <a:buSzPct val="100000"/>
              <a:buChar char="•"/>
            </a:pPr>
            <a:endParaRPr lang="en-US" sz="1200" dirty="0"/>
          </a:p>
        </p:txBody>
      </p:sp>
      <p:sp>
        <p:nvSpPr>
          <p:cNvPr id="15" name="Dictionary Events"/>
          <p:cNvSpPr/>
          <p:nvPr/>
        </p:nvSpPr>
        <p:spPr>
          <a:xfrm>
            <a:off x="6080760" y="1059873"/>
            <a:ext cx="2606040" cy="3931920"/>
          </a:xfrm>
          <a:prstGeom prst="rect">
            <a:avLst/>
          </a:prstGeom>
          <a:solidFill>
            <a:schemeClr val="bg2"/>
          </a:solidFill>
          <a:ln w="12700">
            <a:solidFill>
              <a:schemeClr val="bg2"/>
            </a:solidFill>
            <a:prstDash val="solid"/>
          </a:ln>
        </p:spPr>
        <p:txBody>
          <a:bodyPr/>
          <a:lstStyle/>
          <a:p>
            <a:endParaRPr lang="pt-PT"/>
          </a:p>
        </p:txBody>
      </p:sp>
      <p:sp>
        <p:nvSpPr>
          <p:cNvPr id="16" name="Dictionary Events header"/>
          <p:cNvSpPr/>
          <p:nvPr/>
        </p:nvSpPr>
        <p:spPr>
          <a:xfrm>
            <a:off x="6080760" y="1059873"/>
            <a:ext cx="2606040" cy="594360"/>
          </a:xfrm>
          <a:prstGeom prst="rect">
            <a:avLst/>
          </a:prstGeom>
          <a:solidFill>
            <a:schemeClr val="accent1"/>
          </a:solidFill>
          <a:ln w="12700">
            <a:solidFill>
              <a:schemeClr val="accent1"/>
            </a:solidFill>
            <a:prstDash val="solid"/>
          </a:ln>
        </p:spPr>
        <p:txBody>
          <a:bodyPr/>
          <a:lstStyle/>
          <a:p>
            <a:endParaRPr lang="pt-PT"/>
          </a:p>
        </p:txBody>
      </p:sp>
      <p:sp>
        <p:nvSpPr>
          <p:cNvPr id="17" name="Dictionary Events title"/>
          <p:cNvSpPr txBox="1"/>
          <p:nvPr/>
        </p:nvSpPr>
        <p:spPr>
          <a:xfrm>
            <a:off x="6080760" y="1059873"/>
            <a:ext cx="2606040" cy="594360"/>
          </a:xfrm>
          <a:prstGeom prst="rect">
            <a:avLst/>
          </a:prstGeom>
          <a:noFill/>
          <a:ln/>
        </p:spPr>
        <p:txBody>
          <a:bodyPr wrap="square" rtlCol="0" anchor="ctr"/>
          <a:lstStyle/>
          <a:p>
            <a:pPr marL="0" indent="0" algn="ctr">
              <a:buNone/>
            </a:pPr>
            <a:r>
              <a:rPr lang="en-US" sz="1800" b="1" dirty="0">
                <a:solidFill>
                  <a:schemeClr val="bg1"/>
                </a:solidFill>
              </a:rPr>
              <a:t>Events</a:t>
            </a:r>
            <a:endParaRPr lang="en-US" sz="1800" dirty="0"/>
          </a:p>
        </p:txBody>
      </p:sp>
      <p:sp>
        <p:nvSpPr>
          <p:cNvPr id="18" name="Dictionary Events stats"/>
          <p:cNvSpPr txBox="1"/>
          <p:nvPr/>
        </p:nvSpPr>
        <p:spPr>
          <a:xfrm>
            <a:off x="6217920" y="1745673"/>
            <a:ext cx="2331720" cy="548640"/>
          </a:xfrm>
          <a:prstGeom prst="rect">
            <a:avLst/>
          </a:prstGeom>
          <a:noFill/>
          <a:ln/>
        </p:spPr>
        <p:txBody>
          <a:bodyPr wrap="square" rtlCol="0" anchor="ctr"/>
          <a:lstStyle/>
          <a:p>
            <a:pPr marL="0" indent="0">
              <a:buNone/>
            </a:pPr>
            <a:r>
              <a:rPr lang="en-US" sz="1200" b="1" dirty="0">
                <a:solidFill>
                  <a:schemeClr val="accent1"/>
                </a:solidFill>
              </a:rPr>
              <a:t>387 events · 16 entities · 1900–2025</a:t>
            </a:r>
            <a:endParaRPr lang="en-US" sz="1200" dirty="0">
              <a:solidFill>
                <a:schemeClr val="accent1"/>
              </a:solidFill>
            </a:endParaRPr>
          </a:p>
        </p:txBody>
      </p:sp>
      <p:sp>
        <p:nvSpPr>
          <p:cNvPr id="19" name="Dictionary Events bullets"/>
          <p:cNvSpPr txBox="1"/>
          <p:nvPr/>
        </p:nvSpPr>
        <p:spPr>
          <a:xfrm>
            <a:off x="6217920" y="2414155"/>
            <a:ext cx="2331720" cy="2321329"/>
          </a:xfrm>
          <a:prstGeom prst="rect">
            <a:avLst/>
          </a:prstGeom>
          <a:noFill/>
          <a:ln/>
        </p:spPr>
        <p:txBody>
          <a:bodyPr wrap="square" rtlCol="0" anchor="t"/>
          <a:lstStyle/>
          <a:p>
            <a:pPr>
              <a:spcAft>
                <a:spcPts val="800"/>
              </a:spcAft>
              <a:buSzPct val="100000"/>
            </a:pPr>
            <a:r>
              <a:rPr lang="en-US" sz="1200" b="1" dirty="0">
                <a:solidFill>
                  <a:schemeClr val="accent1"/>
                </a:solidFill>
              </a:rPr>
              <a:t>Particularities and data quality:</a:t>
            </a:r>
          </a:p>
          <a:p>
            <a:pPr>
              <a:spcAft>
                <a:spcPts val="800"/>
              </a:spcAft>
              <a:buSzPct val="100000"/>
            </a:pPr>
            <a:endParaRPr lang="en-US" sz="1200" b="1" dirty="0">
              <a:solidFill>
                <a:schemeClr val="accent1"/>
              </a:solidFill>
            </a:endParaRPr>
          </a:p>
          <a:p>
            <a:pPr marL="342900" indent="-342900">
              <a:spcAft>
                <a:spcPts val="800"/>
              </a:spcAft>
              <a:buSzPct val="100000"/>
              <a:buFont typeface="Wingdings" pitchFamily="2" charset="2"/>
              <a:buChar char="Ø"/>
            </a:pPr>
            <a:r>
              <a:rPr lang="en-US" sz="1200" dirty="0"/>
              <a:t>Unprotected comma in one row</a:t>
            </a:r>
          </a:p>
          <a:p>
            <a:pPr marL="342900" indent="-342900">
              <a:spcAft>
                <a:spcPts val="800"/>
              </a:spcAft>
              <a:buSzPct val="100000"/>
              <a:buFont typeface="Wingdings" pitchFamily="2" charset="2"/>
              <a:buChar char="Ø"/>
            </a:pPr>
            <a:r>
              <a:rPr lang="en-US" sz="1200" dirty="0"/>
              <a:t>No natural key</a:t>
            </a:r>
          </a:p>
          <a:p>
            <a:pPr marL="342900" indent="-342900">
              <a:spcAft>
                <a:spcPts val="800"/>
              </a:spcAft>
              <a:buSzPct val="100000"/>
              <a:buFont typeface="Wingdings" pitchFamily="2" charset="2"/>
              <a:buChar char="Ø"/>
            </a:pPr>
            <a:r>
              <a:rPr lang="en-US" sz="1200" dirty="0"/>
              <a:t>Composite categories</a:t>
            </a:r>
          </a:p>
          <a:p>
            <a:pPr marL="342900" indent="-342900">
              <a:spcAft>
                <a:spcPts val="800"/>
              </a:spcAft>
              <a:buSzPct val="100000"/>
              <a:buFont typeface="Wingdings" pitchFamily="2" charset="2"/>
              <a:buChar char="Ø"/>
            </a:pPr>
            <a:r>
              <a:rPr lang="en-US" sz="1200" dirty="0"/>
              <a:t>No missing fields</a:t>
            </a:r>
          </a:p>
          <a:p>
            <a:pPr marL="342900" indent="-342900">
              <a:spcAft>
                <a:spcPts val="800"/>
              </a:spcAft>
              <a:buSzPct val="100000"/>
              <a:buFont typeface="Wingdings" pitchFamily="2" charset="2"/>
              <a:buChar char="Ø"/>
            </a:pPr>
            <a:r>
              <a:rPr lang="en-US" sz="1200" dirty="0"/>
              <a:t>Coverage beyond the indicators</a:t>
            </a:r>
          </a:p>
        </p:txBody>
      </p:sp>
      <p:pic>
        <p:nvPicPr>
          <p:cNvPr id="23" name="Imagem 22" descr="Uma imagem com texto, recibo, captura de ecrã, documento&#10;&#10;Descrição gerada automaticamente">
            <a:extLst>
              <a:ext uri="{FF2B5EF4-FFF2-40B4-BE49-F238E27FC236}">
                <a16:creationId xmlns:a16="http://schemas.microsoft.com/office/drawing/2014/main" id="{61501DD5-09E6-CC88-13A8-651503E2144E}"/>
              </a:ext>
            </a:extLst>
          </p:cNvPr>
          <p:cNvPicPr>
            <a:picLocks noChangeAspect="1"/>
          </p:cNvPicPr>
          <p:nvPr/>
        </p:nvPicPr>
        <p:blipFill>
          <a:blip r:embed="rId3"/>
          <a:stretch>
            <a:fillRect/>
          </a:stretch>
        </p:blipFill>
        <p:spPr>
          <a:xfrm>
            <a:off x="698859" y="4002278"/>
            <a:ext cx="2384367" cy="2616543"/>
          </a:xfrm>
          <a:prstGeom prst="rect">
            <a:avLst/>
          </a:prstGeom>
        </p:spPr>
      </p:pic>
      <p:pic>
        <p:nvPicPr>
          <p:cNvPr id="26" name="Imagem 25" descr="Uma imagem com texto, recibo, documento, Tipo de letra&#10;&#10;Descrição gerada automaticamente">
            <a:extLst>
              <a:ext uri="{FF2B5EF4-FFF2-40B4-BE49-F238E27FC236}">
                <a16:creationId xmlns:a16="http://schemas.microsoft.com/office/drawing/2014/main" id="{F11F10CC-B0CA-1954-65E0-11F65781EE71}"/>
              </a:ext>
            </a:extLst>
          </p:cNvPr>
          <p:cNvPicPr>
            <a:picLocks noChangeAspect="1"/>
          </p:cNvPicPr>
          <p:nvPr/>
        </p:nvPicPr>
        <p:blipFill>
          <a:blip r:embed="rId4"/>
          <a:stretch>
            <a:fillRect/>
          </a:stretch>
        </p:blipFill>
        <p:spPr>
          <a:xfrm>
            <a:off x="4361115" y="4763193"/>
            <a:ext cx="1562499" cy="1703174"/>
          </a:xfrm>
          <a:prstGeom prst="rect">
            <a:avLst/>
          </a:prstGeom>
        </p:spPr>
      </p:pic>
      <p:pic>
        <p:nvPicPr>
          <p:cNvPr id="28" name="Imagem 27" descr="Uma imagem com texto, captura de ecrã, recibo, Tipo de letra&#10;&#10;Descrição gerada automaticamente">
            <a:extLst>
              <a:ext uri="{FF2B5EF4-FFF2-40B4-BE49-F238E27FC236}">
                <a16:creationId xmlns:a16="http://schemas.microsoft.com/office/drawing/2014/main" id="{C40ADBE5-2A88-66D1-8C5A-20221B9C4BFD}"/>
              </a:ext>
            </a:extLst>
          </p:cNvPr>
          <p:cNvPicPr>
            <a:picLocks noChangeAspect="1"/>
          </p:cNvPicPr>
          <p:nvPr/>
        </p:nvPicPr>
        <p:blipFill>
          <a:blip r:embed="rId5"/>
          <a:stretch>
            <a:fillRect/>
          </a:stretch>
        </p:blipFill>
        <p:spPr>
          <a:xfrm>
            <a:off x="7133121" y="4721442"/>
            <a:ext cx="1622259" cy="18973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254409" y="2468880"/>
            <a:ext cx="8635181" cy="1188720"/>
          </a:xfrm>
          <a:prstGeom prst="rect">
            <a:avLst/>
          </a:prstGeom>
          <a:noFill/>
          <a:ln/>
        </p:spPr>
        <p:txBody>
          <a:bodyPr wrap="square" lIns="0" tIns="0" rIns="0" bIns="0" rtlCol="0" anchor="ctr"/>
          <a:lstStyle/>
          <a:p>
            <a:pPr marL="0" indent="0" algn="ctr">
              <a:buNone/>
            </a:pPr>
            <a:r>
              <a:rPr lang="en-US" sz="4400" b="1" dirty="0">
                <a:solidFill>
                  <a:schemeClr val="accent1"/>
                </a:solidFill>
              </a:rPr>
              <a:t>Task 2 – Country-Code Reconciliation</a:t>
            </a:r>
            <a:endParaRPr lang="en-US" sz="4400" b="1" dirty="0"/>
          </a:p>
        </p:txBody>
      </p:sp>
      <p:sp>
        <p:nvSpPr>
          <p:cNvPr id="3" name="Text 0"/>
          <p:cNvSpPr>
            <a:spLocks noGrp="1"/>
          </p:cNvSpPr>
          <p:nvPr>
            <p:ph type="body" idx="102" hasCustomPrompt="1"/>
          </p:nvPr>
        </p:nvSpPr>
        <p:spPr>
          <a:xfrm>
            <a:off x="685800" y="3657600"/>
            <a:ext cx="7772400" cy="731520"/>
          </a:xfrm>
          <a:prstGeom prst="rect">
            <a:avLst/>
          </a:prstGeom>
          <a:noFill/>
          <a:ln/>
        </p:spPr>
        <p:txBody>
          <a:bodyPr wrap="square" lIns="0" tIns="0" rIns="0" bIns="0" rtlCol="0" anchor="t"/>
          <a:lstStyle/>
          <a:p>
            <a:r>
              <a:rPr lang="en-US" sz="1800" dirty="0">
                <a:solidFill>
                  <a:schemeClr val="accent2"/>
                </a:solidFill>
              </a:rPr>
              <a:t>Unified country mapping from the three sources, with country groups</a:t>
            </a:r>
            <a:endParaRPr lang="en-US" sz="1800" dirty="0"/>
          </a:p>
        </p:txBody>
      </p:sp>
    </p:spTree>
    <p:extLst>
      <p:ext uri="{BB962C8B-B14F-4D97-AF65-F5344CB8AC3E}">
        <p14:creationId xmlns:p14="http://schemas.microsoft.com/office/powerpoint/2010/main" val="22596174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Reconciliation pipeline</a:t>
            </a:r>
            <a:endParaRPr lang="en-US" sz="3000" dirty="0"/>
          </a:p>
        </p:txBody>
      </p:sp>
      <p:sp>
        <p:nvSpPr>
          <p:cNvPr id="5" name="Step 1"/>
          <p:cNvSpPr/>
          <p:nvPr/>
        </p:nvSpPr>
        <p:spPr>
          <a:xfrm>
            <a:off x="457200" y="3808156"/>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6" name="Step 1 text"/>
          <p:cNvSpPr txBox="1"/>
          <p:nvPr/>
        </p:nvSpPr>
        <p:spPr>
          <a:xfrm>
            <a:off x="457200" y="3808156"/>
            <a:ext cx="1783080" cy="822960"/>
          </a:xfrm>
          <a:prstGeom prst="rect">
            <a:avLst/>
          </a:prstGeom>
          <a:noFill/>
          <a:ln/>
        </p:spPr>
        <p:txBody>
          <a:bodyPr wrap="square" rtlCol="0" anchor="ctr"/>
          <a:lstStyle/>
          <a:p>
            <a:pPr marL="0" indent="0" algn="ctr">
              <a:buNone/>
            </a:pPr>
            <a:r>
              <a:rPr lang="en-US" sz="1300" b="1" dirty="0">
                <a:solidFill>
                  <a:schemeClr val="bg1"/>
                </a:solidFill>
              </a:rPr>
              <a:t>Extract distinct countries</a:t>
            </a:r>
            <a:endParaRPr lang="en-US" sz="1300" dirty="0"/>
          </a:p>
        </p:txBody>
      </p:sp>
      <p:sp>
        <p:nvSpPr>
          <p:cNvPr id="7" name="Arrow 1"/>
          <p:cNvSpPr/>
          <p:nvPr/>
        </p:nvSpPr>
        <p:spPr>
          <a:xfrm>
            <a:off x="2286000" y="4082476"/>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8" name="Step 2"/>
          <p:cNvSpPr/>
          <p:nvPr/>
        </p:nvSpPr>
        <p:spPr>
          <a:xfrm>
            <a:off x="2606040" y="3808156"/>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9" name="Step 2 text"/>
          <p:cNvSpPr txBox="1"/>
          <p:nvPr/>
        </p:nvSpPr>
        <p:spPr>
          <a:xfrm>
            <a:off x="2606040" y="3808156"/>
            <a:ext cx="1783080" cy="822960"/>
          </a:xfrm>
          <a:prstGeom prst="rect">
            <a:avLst/>
          </a:prstGeom>
          <a:noFill/>
          <a:ln/>
        </p:spPr>
        <p:txBody>
          <a:bodyPr wrap="square" rtlCol="0" anchor="ctr"/>
          <a:lstStyle/>
          <a:p>
            <a:pPr marL="0" indent="0" algn="ctr">
              <a:buNone/>
            </a:pPr>
            <a:r>
              <a:rPr lang="en-US" sz="1300" b="1" dirty="0">
                <a:solidFill>
                  <a:schemeClr val="bg1"/>
                </a:solidFill>
              </a:rPr>
              <a:t>Sort and remove duplicates</a:t>
            </a:r>
            <a:endParaRPr lang="en-US" sz="1300" dirty="0"/>
          </a:p>
        </p:txBody>
      </p:sp>
      <p:sp>
        <p:nvSpPr>
          <p:cNvPr id="10" name="Arrow 2"/>
          <p:cNvSpPr/>
          <p:nvPr/>
        </p:nvSpPr>
        <p:spPr>
          <a:xfrm>
            <a:off x="4434840" y="4082476"/>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1" name="Step 3"/>
          <p:cNvSpPr/>
          <p:nvPr/>
        </p:nvSpPr>
        <p:spPr>
          <a:xfrm>
            <a:off x="4754880" y="3808156"/>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12" name="Step 3 text"/>
          <p:cNvSpPr txBox="1"/>
          <p:nvPr/>
        </p:nvSpPr>
        <p:spPr>
          <a:xfrm>
            <a:off x="4754880" y="3808156"/>
            <a:ext cx="1783080" cy="822960"/>
          </a:xfrm>
          <a:prstGeom prst="rect">
            <a:avLst/>
          </a:prstGeom>
          <a:noFill/>
          <a:ln/>
        </p:spPr>
        <p:txBody>
          <a:bodyPr wrap="square" rtlCol="0" anchor="ctr"/>
          <a:lstStyle/>
          <a:p>
            <a:pPr marL="0" indent="0" algn="ctr">
              <a:buNone/>
            </a:pPr>
            <a:r>
              <a:rPr lang="en-US" sz="1300" b="1" dirty="0">
                <a:solidFill>
                  <a:schemeClr val="bg1"/>
                </a:solidFill>
              </a:rPr>
              <a:t>Assign country group</a:t>
            </a:r>
            <a:endParaRPr lang="en-US" sz="1300" dirty="0"/>
          </a:p>
        </p:txBody>
      </p:sp>
      <p:sp>
        <p:nvSpPr>
          <p:cNvPr id="13" name="Arrow 3"/>
          <p:cNvSpPr/>
          <p:nvPr/>
        </p:nvSpPr>
        <p:spPr>
          <a:xfrm>
            <a:off x="6583680" y="4082476"/>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4" name="Step 4"/>
          <p:cNvSpPr/>
          <p:nvPr/>
        </p:nvSpPr>
        <p:spPr>
          <a:xfrm>
            <a:off x="6903720" y="3808156"/>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15" name="Step 4 text"/>
          <p:cNvSpPr txBox="1"/>
          <p:nvPr/>
        </p:nvSpPr>
        <p:spPr>
          <a:xfrm>
            <a:off x="6903720" y="3808156"/>
            <a:ext cx="1783080" cy="822960"/>
          </a:xfrm>
          <a:prstGeom prst="rect">
            <a:avLst/>
          </a:prstGeom>
          <a:noFill/>
          <a:ln/>
        </p:spPr>
        <p:txBody>
          <a:bodyPr wrap="square" rtlCol="0" anchor="ctr"/>
          <a:lstStyle/>
          <a:p>
            <a:pPr marL="0" indent="0" algn="ctr">
              <a:buNone/>
            </a:pPr>
            <a:r>
              <a:rPr lang="en-US" sz="1300" b="1" dirty="0">
                <a:solidFill>
                  <a:schemeClr val="bg1"/>
                </a:solidFill>
              </a:rPr>
              <a:t>Write CSV and staging</a:t>
            </a:r>
            <a:endParaRPr lang="en-US" sz="1300" dirty="0"/>
          </a:p>
        </p:txBody>
      </p:sp>
      <p:sp>
        <p:nvSpPr>
          <p:cNvPr id="16" name="Pipeline note"/>
          <p:cNvSpPr/>
          <p:nvPr/>
        </p:nvSpPr>
        <p:spPr>
          <a:xfrm>
            <a:off x="457200" y="4913242"/>
            <a:ext cx="8229600" cy="615129"/>
          </a:xfrm>
          <a:prstGeom prst="rect">
            <a:avLst/>
          </a:prstGeom>
          <a:solidFill>
            <a:schemeClr val="bg2"/>
          </a:solidFill>
          <a:ln w="9525">
            <a:solidFill>
              <a:schemeClr val="accent3"/>
            </a:solidFill>
            <a:prstDash val="solid"/>
          </a:ln>
        </p:spPr>
        <p:txBody>
          <a:bodyPr/>
          <a:lstStyle/>
          <a:p>
            <a:endParaRPr lang="pt-PT"/>
          </a:p>
        </p:txBody>
      </p:sp>
      <p:sp>
        <p:nvSpPr>
          <p:cNvPr id="17" name="Pipeline note text"/>
          <p:cNvSpPr txBox="1"/>
          <p:nvPr/>
        </p:nvSpPr>
        <p:spPr>
          <a:xfrm>
            <a:off x="457200" y="4916990"/>
            <a:ext cx="8229600" cy="615130"/>
          </a:xfrm>
          <a:prstGeom prst="rect">
            <a:avLst/>
          </a:prstGeom>
          <a:noFill/>
          <a:ln/>
        </p:spPr>
        <p:txBody>
          <a:bodyPr wrap="square" rtlCol="0" anchor="ctr"/>
          <a:lstStyle/>
          <a:p>
            <a:pPr marL="0" indent="0">
              <a:spcAft>
                <a:spcPts val="400"/>
              </a:spcAft>
              <a:buNone/>
            </a:pPr>
            <a:r>
              <a:rPr lang="en-US" sz="1200" dirty="0"/>
              <a:t>The pipeline extracts distinct countries from the three data sources and sorts them by code, and eliminates all duplicates, leaving 16 countries, and each one is assigned its country group with a value mapper. The resulting mapping is written both to a csv file and to the staging table</a:t>
            </a:r>
          </a:p>
        </p:txBody>
      </p:sp>
      <p:pic>
        <p:nvPicPr>
          <p:cNvPr id="19" name="Imagem 18" descr="Uma imagem com file, diagrama, Tipo de letra, Gráfico&#10;&#10;Descrição gerada automaticamente">
            <a:extLst>
              <a:ext uri="{FF2B5EF4-FFF2-40B4-BE49-F238E27FC236}">
                <a16:creationId xmlns:a16="http://schemas.microsoft.com/office/drawing/2014/main" id="{F94D7FBE-49B4-3B7E-2118-37E05A667CEB}"/>
              </a:ext>
            </a:extLst>
          </p:cNvPr>
          <p:cNvPicPr>
            <a:picLocks noChangeAspect="1"/>
          </p:cNvPicPr>
          <p:nvPr/>
        </p:nvPicPr>
        <p:blipFill>
          <a:blip r:embed="rId3">
            <a:clrChange>
              <a:clrFrom>
                <a:srgbClr val="EBEBEB"/>
              </a:clrFrom>
              <a:clrTo>
                <a:srgbClr val="EBEBEB">
                  <a:alpha val="0"/>
                </a:srgbClr>
              </a:clrTo>
            </a:clrChange>
          </a:blip>
          <a:stretch>
            <a:fillRect/>
          </a:stretch>
        </p:blipFill>
        <p:spPr>
          <a:xfrm>
            <a:off x="685800" y="1325880"/>
            <a:ext cx="7772400" cy="2299396"/>
          </a:xfrm>
          <a:prstGeom prst="rect">
            <a:avLst/>
          </a:prstGeom>
        </p:spPr>
      </p:pic>
    </p:spTree>
    <p:extLst>
      <p:ext uri="{BB962C8B-B14F-4D97-AF65-F5344CB8AC3E}">
        <p14:creationId xmlns:p14="http://schemas.microsoft.com/office/powerpoint/2010/main" val="1242328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Key transform configurations</a:t>
            </a:r>
            <a:endParaRPr lang="en-US" sz="3000" dirty="0"/>
          </a:p>
        </p:txBody>
      </p:sp>
      <p:sp>
        <p:nvSpPr>
          <p:cNvPr id="7" name="Notes Unique rows"/>
          <p:cNvSpPr/>
          <p:nvPr/>
        </p:nvSpPr>
        <p:spPr>
          <a:xfrm>
            <a:off x="830007" y="5019130"/>
            <a:ext cx="3557639" cy="706448"/>
          </a:xfrm>
          <a:prstGeom prst="rect">
            <a:avLst/>
          </a:prstGeom>
          <a:solidFill>
            <a:schemeClr val="bg2"/>
          </a:solidFill>
          <a:ln w="9525">
            <a:solidFill>
              <a:schemeClr val="accent3"/>
            </a:solidFill>
            <a:prstDash val="solid"/>
          </a:ln>
        </p:spPr>
        <p:txBody>
          <a:bodyPr/>
          <a:lstStyle/>
          <a:p>
            <a:endParaRPr lang="pt-PT"/>
          </a:p>
        </p:txBody>
      </p:sp>
      <p:sp>
        <p:nvSpPr>
          <p:cNvPr id="8" name="Notes Unique rows text"/>
          <p:cNvSpPr txBox="1"/>
          <p:nvPr/>
        </p:nvSpPr>
        <p:spPr>
          <a:xfrm>
            <a:off x="830007" y="5019130"/>
            <a:ext cx="3557639" cy="706448"/>
          </a:xfrm>
          <a:prstGeom prst="rect">
            <a:avLst/>
          </a:prstGeom>
          <a:noFill/>
          <a:ln/>
        </p:spPr>
        <p:txBody>
          <a:bodyPr wrap="square" rtlCol="0" anchor="ctr"/>
          <a:lstStyle/>
          <a:p>
            <a:pPr marL="0" indent="0">
              <a:spcAft>
                <a:spcPts val="400"/>
              </a:spcAft>
              <a:buNone/>
            </a:pPr>
            <a:r>
              <a:rPr lang="en-US" sz="1200" dirty="0">
                <a:solidFill>
                  <a:schemeClr val="tx1"/>
                </a:solidFill>
              </a:rPr>
              <a:t>Unique rows only removes consecutive duplicates</a:t>
            </a:r>
            <a:endParaRPr lang="en-US" sz="1200" dirty="0"/>
          </a:p>
          <a:p>
            <a:pPr marL="0" indent="0">
              <a:spcAft>
                <a:spcPts val="400"/>
              </a:spcAft>
              <a:buNone/>
            </a:pPr>
            <a:r>
              <a:rPr lang="en-US" sz="1200" dirty="0">
                <a:solidFill>
                  <a:schemeClr val="tx1"/>
                </a:solidFill>
              </a:rPr>
              <a:t>n_sources counts in how many sources each country appears</a:t>
            </a:r>
            <a:endParaRPr lang="en-US" sz="1200" dirty="0"/>
          </a:p>
        </p:txBody>
      </p:sp>
      <p:sp>
        <p:nvSpPr>
          <p:cNvPr id="9" name="Notes Value mapper"/>
          <p:cNvSpPr/>
          <p:nvPr/>
        </p:nvSpPr>
        <p:spPr>
          <a:xfrm>
            <a:off x="4638039" y="5197328"/>
            <a:ext cx="4240489" cy="296447"/>
          </a:xfrm>
          <a:prstGeom prst="rect">
            <a:avLst/>
          </a:prstGeom>
          <a:solidFill>
            <a:schemeClr val="bg2"/>
          </a:solidFill>
          <a:ln w="9525">
            <a:solidFill>
              <a:schemeClr val="accent3"/>
            </a:solidFill>
            <a:prstDash val="solid"/>
          </a:ln>
        </p:spPr>
        <p:txBody>
          <a:bodyPr/>
          <a:lstStyle/>
          <a:p>
            <a:endParaRPr lang="pt-PT"/>
          </a:p>
        </p:txBody>
      </p:sp>
      <p:sp>
        <p:nvSpPr>
          <p:cNvPr id="10" name="Notes Value mapper text"/>
          <p:cNvSpPr txBox="1"/>
          <p:nvPr/>
        </p:nvSpPr>
        <p:spPr>
          <a:xfrm>
            <a:off x="4638040" y="5197328"/>
            <a:ext cx="4240489" cy="296447"/>
          </a:xfrm>
          <a:prstGeom prst="rect">
            <a:avLst/>
          </a:prstGeom>
          <a:noFill/>
          <a:ln/>
        </p:spPr>
        <p:txBody>
          <a:bodyPr wrap="square" rtlCol="0" anchor="ctr"/>
          <a:lstStyle/>
          <a:p>
            <a:pPr marL="0" indent="0">
              <a:spcAft>
                <a:spcPts val="400"/>
              </a:spcAft>
              <a:buNone/>
            </a:pPr>
            <a:r>
              <a:rPr lang="en-US" sz="1200" dirty="0">
                <a:solidFill>
                  <a:schemeClr val="tx1"/>
                </a:solidFill>
              </a:rPr>
              <a:t>16 mappings</a:t>
            </a:r>
            <a:r>
              <a:rPr lang="en-US" sz="1200" dirty="0"/>
              <a:t>, d</a:t>
            </a:r>
            <a:r>
              <a:rPr lang="en-US" sz="1200" dirty="0">
                <a:solidFill>
                  <a:schemeClr val="tx1"/>
                </a:solidFill>
              </a:rPr>
              <a:t>efault UNMAPPED makes any missing code visible</a:t>
            </a:r>
            <a:endParaRPr lang="en-US" sz="1200" dirty="0"/>
          </a:p>
        </p:txBody>
      </p:sp>
      <p:pic>
        <p:nvPicPr>
          <p:cNvPr id="22" name="Imagem 21" descr="Uma imagem com texto, captura de ecrã, software, Página web&#10;&#10;Descrição gerada automaticamente">
            <a:extLst>
              <a:ext uri="{FF2B5EF4-FFF2-40B4-BE49-F238E27FC236}">
                <a16:creationId xmlns:a16="http://schemas.microsoft.com/office/drawing/2014/main" id="{CBF49F64-1E64-67D2-6893-25D86F51324D}"/>
              </a:ext>
            </a:extLst>
          </p:cNvPr>
          <p:cNvPicPr>
            <a:picLocks noChangeAspect="1"/>
          </p:cNvPicPr>
          <p:nvPr/>
        </p:nvPicPr>
        <p:blipFill>
          <a:blip r:embed="rId3"/>
          <a:stretch>
            <a:fillRect/>
          </a:stretch>
        </p:blipFill>
        <p:spPr>
          <a:xfrm>
            <a:off x="568544" y="1418185"/>
            <a:ext cx="4069495" cy="3325760"/>
          </a:xfrm>
          <a:prstGeom prst="rect">
            <a:avLst/>
          </a:prstGeom>
        </p:spPr>
      </p:pic>
      <p:pic>
        <p:nvPicPr>
          <p:cNvPr id="24" name="Imagem 23" descr="Uma imagem com texto, captura de ecrã, software, número&#10;&#10;Descrição gerada automaticamente">
            <a:extLst>
              <a:ext uri="{FF2B5EF4-FFF2-40B4-BE49-F238E27FC236}">
                <a16:creationId xmlns:a16="http://schemas.microsoft.com/office/drawing/2014/main" id="{F5547B17-8AAD-24A0-5C09-7DF9FDE42843}"/>
              </a:ext>
            </a:extLst>
          </p:cNvPr>
          <p:cNvPicPr>
            <a:picLocks noChangeAspect="1"/>
          </p:cNvPicPr>
          <p:nvPr/>
        </p:nvPicPr>
        <p:blipFill>
          <a:blip r:embed="rId4"/>
          <a:stretch>
            <a:fillRect/>
          </a:stretch>
        </p:blipFill>
        <p:spPr>
          <a:xfrm>
            <a:off x="5074858" y="1418185"/>
            <a:ext cx="3500598" cy="3323420"/>
          </a:xfrm>
          <a:prstGeom prst="rect">
            <a:avLst/>
          </a:prstGeom>
        </p:spPr>
      </p:pic>
    </p:spTree>
    <p:extLst>
      <p:ext uri="{BB962C8B-B14F-4D97-AF65-F5344CB8AC3E}">
        <p14:creationId xmlns:p14="http://schemas.microsoft.com/office/powerpoint/2010/main" val="37255688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t>After running the pipeline</a:t>
            </a:r>
          </a:p>
        </p:txBody>
      </p:sp>
      <p:sp>
        <p:nvSpPr>
          <p:cNvPr id="3" name="Stat Maddison"/>
          <p:cNvSpPr/>
          <p:nvPr/>
        </p:nvSpPr>
        <p:spPr>
          <a:xfrm>
            <a:off x="457200" y="1392686"/>
            <a:ext cx="2606040" cy="1280160"/>
          </a:xfrm>
          <a:prstGeom prst="rect">
            <a:avLst/>
          </a:prstGeom>
          <a:solidFill>
            <a:schemeClr val="bg2"/>
          </a:solidFill>
          <a:ln w="12700">
            <a:solidFill>
              <a:schemeClr val="bg2"/>
            </a:solidFill>
            <a:prstDash val="solid"/>
          </a:ln>
        </p:spPr>
        <p:txBody>
          <a:bodyPr/>
          <a:lstStyle/>
          <a:p>
            <a:endParaRPr lang="pt-PT"/>
          </a:p>
        </p:txBody>
      </p:sp>
      <p:sp>
        <p:nvSpPr>
          <p:cNvPr id="4" name="Stat Maddison text"/>
          <p:cNvSpPr txBox="1"/>
          <p:nvPr/>
        </p:nvSpPr>
        <p:spPr>
          <a:xfrm>
            <a:off x="548640" y="1392686"/>
            <a:ext cx="2423160" cy="1280160"/>
          </a:xfrm>
          <a:prstGeom prst="rect">
            <a:avLst/>
          </a:prstGeom>
          <a:noFill/>
          <a:ln/>
        </p:spPr>
        <p:txBody>
          <a:bodyPr wrap="square" rtlCol="0" anchor="ctr"/>
          <a:lstStyle/>
          <a:p>
            <a:pPr marL="0" indent="0" algn="ctr">
              <a:buNone/>
            </a:pPr>
            <a:r>
              <a:rPr lang="en-US" sz="3000" b="1" dirty="0">
                <a:solidFill>
                  <a:schemeClr val="accent1"/>
                </a:solidFill>
              </a:rPr>
              <a:t>15</a:t>
            </a:r>
            <a:endParaRPr lang="en-US" sz="3000" dirty="0"/>
          </a:p>
          <a:p>
            <a:pPr marL="0" indent="0" algn="ctr">
              <a:buNone/>
            </a:pPr>
            <a:r>
              <a:rPr lang="en-US" sz="1400" b="1" dirty="0">
                <a:solidFill>
                  <a:schemeClr val="tx1"/>
                </a:solidFill>
              </a:rPr>
              <a:t>Maddison</a:t>
            </a:r>
            <a:endParaRPr lang="en-US" sz="3000" dirty="0"/>
          </a:p>
          <a:p>
            <a:pPr marL="0" indent="0" algn="ctr">
              <a:buNone/>
            </a:pPr>
            <a:r>
              <a:rPr lang="en-US" sz="1200" dirty="0">
                <a:solidFill>
                  <a:schemeClr val="accent2"/>
                </a:solidFill>
              </a:rPr>
              <a:t>EU aggregate missing</a:t>
            </a:r>
            <a:endParaRPr lang="en-US" sz="3000" dirty="0"/>
          </a:p>
        </p:txBody>
      </p:sp>
      <p:sp>
        <p:nvSpPr>
          <p:cNvPr id="5" name="Stat WDI"/>
          <p:cNvSpPr/>
          <p:nvPr/>
        </p:nvSpPr>
        <p:spPr>
          <a:xfrm>
            <a:off x="3268980" y="1392686"/>
            <a:ext cx="2606040" cy="1280160"/>
          </a:xfrm>
          <a:prstGeom prst="rect">
            <a:avLst/>
          </a:prstGeom>
          <a:solidFill>
            <a:schemeClr val="bg2"/>
          </a:solidFill>
          <a:ln w="12700">
            <a:solidFill>
              <a:schemeClr val="bg2"/>
            </a:solidFill>
            <a:prstDash val="solid"/>
          </a:ln>
        </p:spPr>
        <p:txBody>
          <a:bodyPr/>
          <a:lstStyle/>
          <a:p>
            <a:endParaRPr lang="pt-PT"/>
          </a:p>
        </p:txBody>
      </p:sp>
      <p:sp>
        <p:nvSpPr>
          <p:cNvPr id="6" name="Stat WDI text"/>
          <p:cNvSpPr txBox="1"/>
          <p:nvPr/>
        </p:nvSpPr>
        <p:spPr>
          <a:xfrm>
            <a:off x="3360420" y="1392686"/>
            <a:ext cx="2423160" cy="1280160"/>
          </a:xfrm>
          <a:prstGeom prst="rect">
            <a:avLst/>
          </a:prstGeom>
          <a:noFill/>
          <a:ln/>
        </p:spPr>
        <p:txBody>
          <a:bodyPr wrap="square" rtlCol="0" anchor="ctr"/>
          <a:lstStyle/>
          <a:p>
            <a:pPr marL="0" indent="0" algn="ctr">
              <a:buNone/>
            </a:pPr>
            <a:r>
              <a:rPr lang="en-US" sz="3000" b="1" dirty="0">
                <a:solidFill>
                  <a:schemeClr val="accent1"/>
                </a:solidFill>
              </a:rPr>
              <a:t>16</a:t>
            </a:r>
            <a:endParaRPr lang="en-US" sz="3000" dirty="0"/>
          </a:p>
          <a:p>
            <a:pPr marL="0" indent="0" algn="ctr">
              <a:buNone/>
            </a:pPr>
            <a:r>
              <a:rPr lang="en-US" sz="1400" b="1" dirty="0">
                <a:solidFill>
                  <a:schemeClr val="tx1"/>
                </a:solidFill>
              </a:rPr>
              <a:t>WDI</a:t>
            </a:r>
            <a:endParaRPr lang="en-US" sz="3000" dirty="0"/>
          </a:p>
          <a:p>
            <a:pPr marL="0" indent="0" algn="ctr">
              <a:buNone/>
            </a:pPr>
            <a:r>
              <a:rPr lang="en-US" sz="1200" dirty="0">
                <a:solidFill>
                  <a:schemeClr val="accent2"/>
                </a:solidFill>
              </a:rPr>
              <a:t>15 countries + EU</a:t>
            </a:r>
            <a:endParaRPr lang="en-US" sz="3000" dirty="0"/>
          </a:p>
        </p:txBody>
      </p:sp>
      <p:sp>
        <p:nvSpPr>
          <p:cNvPr id="7" name="Stat Events"/>
          <p:cNvSpPr/>
          <p:nvPr/>
        </p:nvSpPr>
        <p:spPr>
          <a:xfrm>
            <a:off x="6080760" y="1392686"/>
            <a:ext cx="2606040" cy="1280160"/>
          </a:xfrm>
          <a:prstGeom prst="rect">
            <a:avLst/>
          </a:prstGeom>
          <a:solidFill>
            <a:schemeClr val="bg2"/>
          </a:solidFill>
          <a:ln w="12700">
            <a:solidFill>
              <a:schemeClr val="bg2"/>
            </a:solidFill>
            <a:prstDash val="solid"/>
          </a:ln>
        </p:spPr>
        <p:txBody>
          <a:bodyPr/>
          <a:lstStyle/>
          <a:p>
            <a:endParaRPr lang="pt-PT"/>
          </a:p>
        </p:txBody>
      </p:sp>
      <p:sp>
        <p:nvSpPr>
          <p:cNvPr id="8" name="Stat Events text"/>
          <p:cNvSpPr txBox="1"/>
          <p:nvPr/>
        </p:nvSpPr>
        <p:spPr>
          <a:xfrm>
            <a:off x="6172200" y="1392686"/>
            <a:ext cx="2423160" cy="1280160"/>
          </a:xfrm>
          <a:prstGeom prst="rect">
            <a:avLst/>
          </a:prstGeom>
          <a:noFill/>
          <a:ln/>
        </p:spPr>
        <p:txBody>
          <a:bodyPr wrap="square" rtlCol="0" anchor="ctr"/>
          <a:lstStyle/>
          <a:p>
            <a:pPr marL="0" indent="0" algn="ctr">
              <a:buNone/>
            </a:pPr>
            <a:r>
              <a:rPr lang="en-US" sz="3000" b="1" dirty="0">
                <a:solidFill>
                  <a:schemeClr val="accent1"/>
                </a:solidFill>
              </a:rPr>
              <a:t>16</a:t>
            </a:r>
            <a:endParaRPr lang="en-US" sz="3000" dirty="0"/>
          </a:p>
          <a:p>
            <a:pPr marL="0" indent="0" algn="ctr">
              <a:buNone/>
            </a:pPr>
            <a:r>
              <a:rPr lang="en-US" sz="1400" b="1" dirty="0">
                <a:solidFill>
                  <a:schemeClr val="tx1"/>
                </a:solidFill>
              </a:rPr>
              <a:t>Events</a:t>
            </a:r>
            <a:endParaRPr lang="en-US" sz="3000" dirty="0"/>
          </a:p>
          <a:p>
            <a:pPr marL="0" indent="0" algn="ctr">
              <a:buNone/>
            </a:pPr>
            <a:r>
              <a:rPr lang="en-US" sz="1200" dirty="0">
                <a:solidFill>
                  <a:schemeClr val="accent2"/>
                </a:solidFill>
              </a:rPr>
              <a:t>15 countries + EU</a:t>
            </a:r>
            <a:endParaRPr lang="en-US" sz="3000" dirty="0"/>
          </a:p>
        </p:txBody>
      </p:sp>
      <p:sp>
        <p:nvSpPr>
          <p:cNvPr id="13" name="Counts note"/>
          <p:cNvSpPr/>
          <p:nvPr/>
        </p:nvSpPr>
        <p:spPr>
          <a:xfrm>
            <a:off x="1103917" y="5377212"/>
            <a:ext cx="6936166" cy="309816"/>
          </a:xfrm>
          <a:prstGeom prst="rect">
            <a:avLst/>
          </a:prstGeom>
          <a:solidFill>
            <a:schemeClr val="bg2"/>
          </a:solidFill>
          <a:ln w="9525">
            <a:solidFill>
              <a:schemeClr val="accent3"/>
            </a:solidFill>
            <a:prstDash val="solid"/>
          </a:ln>
        </p:spPr>
        <p:txBody>
          <a:bodyPr/>
          <a:lstStyle/>
          <a:p>
            <a:endParaRPr lang="pt-PT"/>
          </a:p>
        </p:txBody>
      </p:sp>
      <p:sp>
        <p:nvSpPr>
          <p:cNvPr id="14" name="Counts note text"/>
          <p:cNvSpPr txBox="1"/>
          <p:nvPr/>
        </p:nvSpPr>
        <p:spPr>
          <a:xfrm>
            <a:off x="1103917" y="5377212"/>
            <a:ext cx="6936166" cy="309816"/>
          </a:xfrm>
          <a:prstGeom prst="rect">
            <a:avLst/>
          </a:prstGeom>
          <a:noFill/>
          <a:ln/>
        </p:spPr>
        <p:txBody>
          <a:bodyPr wrap="square" rtlCol="0" anchor="ctr"/>
          <a:lstStyle/>
          <a:p>
            <a:pPr marL="0" indent="0">
              <a:spcAft>
                <a:spcPts val="400"/>
              </a:spcAft>
              <a:buNone/>
            </a:pPr>
            <a:r>
              <a:rPr lang="en-US" sz="1200" dirty="0">
                <a:solidFill>
                  <a:schemeClr val="tx1"/>
                </a:solidFill>
              </a:rPr>
              <a:t>Every country appears in all 3 sources (n_sources = 3), the EU aggregate appears in 2, as it is not in Maddison</a:t>
            </a:r>
            <a:endParaRPr lang="en-US" sz="1200" dirty="0"/>
          </a:p>
        </p:txBody>
      </p:sp>
      <p:pic>
        <p:nvPicPr>
          <p:cNvPr id="16" name="Imagem 15" descr="Uma imagem com texto, Tipo de letra, número, recibo&#10;&#10;Descrição gerada automaticamente">
            <a:extLst>
              <a:ext uri="{FF2B5EF4-FFF2-40B4-BE49-F238E27FC236}">
                <a16:creationId xmlns:a16="http://schemas.microsoft.com/office/drawing/2014/main" id="{4AB5B42A-377F-5380-2A7B-FB54C5B3A2EB}"/>
              </a:ext>
            </a:extLst>
          </p:cNvPr>
          <p:cNvPicPr>
            <a:picLocks noChangeAspect="1"/>
          </p:cNvPicPr>
          <p:nvPr/>
        </p:nvPicPr>
        <p:blipFill>
          <a:blip r:embed="rId3"/>
          <a:stretch>
            <a:fillRect/>
          </a:stretch>
        </p:blipFill>
        <p:spPr>
          <a:xfrm>
            <a:off x="457200" y="3195538"/>
            <a:ext cx="4962832" cy="1517807"/>
          </a:xfrm>
          <a:prstGeom prst="rect">
            <a:avLst/>
          </a:prstGeom>
        </p:spPr>
      </p:pic>
      <p:pic>
        <p:nvPicPr>
          <p:cNvPr id="18" name="Imagem 17" descr="Uma imagem com texto, captura de ecrã, número&#10;&#10;Descrição gerada automaticamente">
            <a:extLst>
              <a:ext uri="{FF2B5EF4-FFF2-40B4-BE49-F238E27FC236}">
                <a16:creationId xmlns:a16="http://schemas.microsoft.com/office/drawing/2014/main" id="{32ADC55F-08D7-C370-2869-75E46919F51E}"/>
              </a:ext>
            </a:extLst>
          </p:cNvPr>
          <p:cNvPicPr>
            <a:picLocks noChangeAspect="1"/>
          </p:cNvPicPr>
          <p:nvPr/>
        </p:nvPicPr>
        <p:blipFill>
          <a:blip r:embed="rId4"/>
          <a:stretch>
            <a:fillRect/>
          </a:stretch>
        </p:blipFill>
        <p:spPr>
          <a:xfrm>
            <a:off x="5602912" y="2922532"/>
            <a:ext cx="2921655" cy="2086896"/>
          </a:xfrm>
          <a:prstGeom prst="rect">
            <a:avLst/>
          </a:prstGeom>
        </p:spPr>
      </p:pic>
    </p:spTree>
    <p:extLst>
      <p:ext uri="{BB962C8B-B14F-4D97-AF65-F5344CB8AC3E}">
        <p14:creationId xmlns:p14="http://schemas.microsoft.com/office/powerpoint/2010/main" val="6477224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9496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Unified country mapping</a:t>
            </a:r>
            <a:endParaRPr lang="en-US" sz="3000" dirty="0"/>
          </a:p>
        </p:txBody>
      </p:sp>
      <p:graphicFrame>
        <p:nvGraphicFramePr>
          <p:cNvPr id="7" name="Groups table"/>
          <p:cNvGraphicFramePr>
            <a:graphicFrameLocks noGrp="1"/>
          </p:cNvGraphicFramePr>
          <p:nvPr>
            <p:extLst>
              <p:ext uri="{D42A27DB-BD31-4B8C-83A1-F6EECF244321}">
                <p14:modId xmlns:p14="http://schemas.microsoft.com/office/powerpoint/2010/main" val="220074019"/>
              </p:ext>
            </p:extLst>
          </p:nvPr>
        </p:nvGraphicFramePr>
        <p:xfrm>
          <a:off x="4312429" y="1142999"/>
          <a:ext cx="4374371" cy="3406877"/>
        </p:xfrm>
        <a:graphic>
          <a:graphicData uri="http://schemas.openxmlformats.org/drawingml/2006/table">
            <a:tbl>
              <a:tblPr/>
              <a:tblGrid>
                <a:gridCol w="1771282">
                  <a:extLst>
                    <a:ext uri="{9D8B030D-6E8A-4147-A177-3AD203B41FA5}">
                      <a16:colId xmlns:a16="http://schemas.microsoft.com/office/drawing/2014/main" val="20000"/>
                    </a:ext>
                  </a:extLst>
                </a:gridCol>
                <a:gridCol w="2145306">
                  <a:extLst>
                    <a:ext uri="{9D8B030D-6E8A-4147-A177-3AD203B41FA5}">
                      <a16:colId xmlns:a16="http://schemas.microsoft.com/office/drawing/2014/main" val="20001"/>
                    </a:ext>
                  </a:extLst>
                </a:gridCol>
                <a:gridCol w="457783">
                  <a:extLst>
                    <a:ext uri="{9D8B030D-6E8A-4147-A177-3AD203B41FA5}">
                      <a16:colId xmlns:a16="http://schemas.microsoft.com/office/drawing/2014/main" val="20002"/>
                    </a:ext>
                  </a:extLst>
                </a:gridCol>
              </a:tblGrid>
              <a:tr h="353306">
                <a:tc>
                  <a:txBody>
                    <a:bodyPr/>
                    <a:lstStyle/>
                    <a:p>
                      <a:pPr marL="0" indent="0">
                        <a:buNone/>
                      </a:pPr>
                      <a:r>
                        <a:rPr lang="en-US" sz="1300" b="1" dirty="0">
                          <a:solidFill>
                            <a:schemeClr val="bg1"/>
                          </a:solidFill>
                        </a:rPr>
                        <a:t>Country group</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Countries</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ctr">
                        <a:buNone/>
                      </a:pPr>
                      <a:r>
                        <a:rPr lang="en-US" sz="1300" b="1" dirty="0">
                          <a:solidFill>
                            <a:schemeClr val="bg1"/>
                          </a:solidFill>
                        </a:rPr>
                        <a:t>n</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45838">
                <a:tc>
                  <a:txBody>
                    <a:bodyPr/>
                    <a:lstStyle/>
                    <a:p>
                      <a:pPr marL="0" indent="0">
                        <a:buNone/>
                      </a:pPr>
                      <a:r>
                        <a:rPr lang="en-US" sz="1200" b="1" dirty="0">
                          <a:solidFill>
                            <a:schemeClr val="accent1"/>
                          </a:solidFill>
                        </a:rPr>
                        <a:t>Focus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Portugal</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1</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715024">
                <a:tc>
                  <a:txBody>
                    <a:bodyPr/>
                    <a:lstStyle/>
                    <a:p>
                      <a:pPr marL="0" indent="0">
                        <a:buNone/>
                      </a:pPr>
                      <a:r>
                        <a:rPr lang="en-US" sz="1200" b="1" dirty="0">
                          <a:solidFill>
                            <a:schemeClr val="accent1"/>
                          </a:solidFill>
                        </a:rPr>
                        <a:t>Western Europe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ESP, FRA, DEU, BEL, ITA, IRL, GRC</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7</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656139">
                <a:tc>
                  <a:txBody>
                    <a:bodyPr/>
                    <a:lstStyle/>
                    <a:p>
                      <a:pPr marL="0" indent="0">
                        <a:buNone/>
                      </a:pPr>
                      <a:r>
                        <a:rPr lang="en-US" sz="1200" b="1" dirty="0">
                          <a:solidFill>
                            <a:schemeClr val="accent1"/>
                          </a:solidFill>
                        </a:rPr>
                        <a:t>Central / Eastern Europe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POL, CZE, HUN, ROU</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4</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527279">
                <a:tc>
                  <a:txBody>
                    <a:bodyPr/>
                    <a:lstStyle/>
                    <a:p>
                      <a:pPr marL="0" indent="0">
                        <a:buNone/>
                      </a:pPr>
                      <a:r>
                        <a:rPr lang="en-US" sz="1200" b="1" dirty="0">
                          <a:solidFill>
                            <a:schemeClr val="accent1"/>
                          </a:solidFill>
                        </a:rPr>
                        <a:t>Post-Soviet</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EST, LVA, LTU</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3</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709291">
                <a:tc>
                  <a:txBody>
                    <a:bodyPr/>
                    <a:lstStyle/>
                    <a:p>
                      <a:pPr marL="0" indent="0">
                        <a:buNone/>
                      </a:pPr>
                      <a:r>
                        <a:rPr lang="en-US" sz="1200" b="1" dirty="0">
                          <a:solidFill>
                            <a:schemeClr val="accent1"/>
                          </a:solidFill>
                        </a:rPr>
                        <a:t>Benchmark</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European Union</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1</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Mapping outputs"/>
          <p:cNvSpPr/>
          <p:nvPr/>
        </p:nvSpPr>
        <p:spPr>
          <a:xfrm>
            <a:off x="4452539" y="5039081"/>
            <a:ext cx="4108900" cy="675919"/>
          </a:xfrm>
          <a:prstGeom prst="rect">
            <a:avLst/>
          </a:prstGeom>
          <a:solidFill>
            <a:schemeClr val="bg2"/>
          </a:solidFill>
          <a:ln w="9525">
            <a:solidFill>
              <a:schemeClr val="accent3"/>
            </a:solidFill>
            <a:prstDash val="solid"/>
          </a:ln>
        </p:spPr>
        <p:txBody>
          <a:bodyPr/>
          <a:lstStyle/>
          <a:p>
            <a:endParaRPr lang="pt-PT"/>
          </a:p>
        </p:txBody>
      </p:sp>
      <p:sp>
        <p:nvSpPr>
          <p:cNvPr id="9" name="Mapping outputs text"/>
          <p:cNvSpPr txBox="1"/>
          <p:nvPr/>
        </p:nvSpPr>
        <p:spPr>
          <a:xfrm>
            <a:off x="4452539" y="5039081"/>
            <a:ext cx="4108900" cy="675919"/>
          </a:xfrm>
          <a:prstGeom prst="rect">
            <a:avLst/>
          </a:prstGeom>
          <a:noFill/>
          <a:ln/>
        </p:spPr>
        <p:txBody>
          <a:bodyPr wrap="square" rtlCol="0" anchor="ctr"/>
          <a:lstStyle/>
          <a:p>
            <a:pPr marL="0" indent="0">
              <a:spcAft>
                <a:spcPts val="400"/>
              </a:spcAft>
              <a:buNone/>
            </a:pPr>
            <a:r>
              <a:rPr lang="en-US" sz="1200" dirty="0"/>
              <a:t>The final mapping contains 16 rows, one per country, each with its code, name and one of the five country groups, it is stored both in the csv file and in the database table</a:t>
            </a:r>
          </a:p>
        </p:txBody>
      </p:sp>
      <p:pic>
        <p:nvPicPr>
          <p:cNvPr id="13" name="Imagem 12" descr="Uma imagem com texto, captura de ecrã, Tipo de letra, menu&#10;&#10;Descrição gerada automaticamente">
            <a:extLst>
              <a:ext uri="{FF2B5EF4-FFF2-40B4-BE49-F238E27FC236}">
                <a16:creationId xmlns:a16="http://schemas.microsoft.com/office/drawing/2014/main" id="{A7F0432F-520F-9299-566C-7BDA7B4A086C}"/>
              </a:ext>
            </a:extLst>
          </p:cNvPr>
          <p:cNvPicPr>
            <a:picLocks noChangeAspect="1"/>
          </p:cNvPicPr>
          <p:nvPr/>
        </p:nvPicPr>
        <p:blipFill>
          <a:blip r:embed="rId3"/>
          <a:stretch>
            <a:fillRect/>
          </a:stretch>
        </p:blipFill>
        <p:spPr>
          <a:xfrm>
            <a:off x="576661" y="3196642"/>
            <a:ext cx="3318387" cy="2898202"/>
          </a:xfrm>
          <a:prstGeom prst="rect">
            <a:avLst/>
          </a:prstGeom>
        </p:spPr>
      </p:pic>
      <p:pic>
        <p:nvPicPr>
          <p:cNvPr id="15" name="Imagem 14" descr="Uma imagem com texto, captura de ecrã, Tipo de letra&#10;&#10;Descrição gerada automaticamente">
            <a:extLst>
              <a:ext uri="{FF2B5EF4-FFF2-40B4-BE49-F238E27FC236}">
                <a16:creationId xmlns:a16="http://schemas.microsoft.com/office/drawing/2014/main" id="{D4B56225-E3A1-680B-BAE6-670639C2EB37}"/>
              </a:ext>
            </a:extLst>
          </p:cNvPr>
          <p:cNvPicPr>
            <a:picLocks noChangeAspect="1"/>
          </p:cNvPicPr>
          <p:nvPr/>
        </p:nvPicPr>
        <p:blipFill>
          <a:blip r:embed="rId4"/>
          <a:stretch>
            <a:fillRect/>
          </a:stretch>
        </p:blipFill>
        <p:spPr>
          <a:xfrm>
            <a:off x="457200" y="1143000"/>
            <a:ext cx="3557311" cy="1874282"/>
          </a:xfrm>
          <a:prstGeom prst="rect">
            <a:avLst/>
          </a:prstGeom>
        </p:spPr>
      </p:pic>
    </p:spTree>
    <p:extLst>
      <p:ext uri="{BB962C8B-B14F-4D97-AF65-F5344CB8AC3E}">
        <p14:creationId xmlns:p14="http://schemas.microsoft.com/office/powerpoint/2010/main" val="29153501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85354" y="2468880"/>
            <a:ext cx="7973291" cy="1188720"/>
          </a:xfrm>
          <a:prstGeom prst="rect">
            <a:avLst/>
          </a:prstGeom>
          <a:noFill/>
          <a:ln/>
        </p:spPr>
        <p:txBody>
          <a:bodyPr wrap="square" lIns="0" tIns="0" rIns="0" bIns="0" rtlCol="0" anchor="ctr"/>
          <a:lstStyle/>
          <a:p>
            <a:pPr marL="0" indent="0" algn="ctr">
              <a:buNone/>
            </a:pPr>
            <a:r>
              <a:rPr lang="en-US" sz="4400" b="1" dirty="0">
                <a:solidFill>
                  <a:schemeClr val="accent1"/>
                </a:solidFill>
              </a:rPr>
              <a:t>Task 3 – Data Warehouse Design</a:t>
            </a:r>
            <a:endParaRPr lang="en-US" sz="4400" b="1" dirty="0"/>
          </a:p>
        </p:txBody>
      </p:sp>
      <p:sp>
        <p:nvSpPr>
          <p:cNvPr id="3" name="Text 0"/>
          <p:cNvSpPr>
            <a:spLocks noGrp="1"/>
          </p:cNvSpPr>
          <p:nvPr>
            <p:ph type="body" idx="102" hasCustomPrompt="1"/>
          </p:nvPr>
        </p:nvSpPr>
        <p:spPr>
          <a:xfrm>
            <a:off x="685800" y="3657600"/>
            <a:ext cx="7772400" cy="731520"/>
          </a:xfrm>
          <a:prstGeom prst="rect">
            <a:avLst/>
          </a:prstGeom>
          <a:noFill/>
          <a:ln/>
        </p:spPr>
        <p:txBody>
          <a:bodyPr wrap="square" lIns="0" tIns="0" rIns="0" bIns="0" rtlCol="0" anchor="t"/>
          <a:lstStyle/>
          <a:p>
            <a:pPr marL="0" indent="0" algn="ctr">
              <a:buNone/>
            </a:pPr>
            <a:r>
              <a:rPr lang="en-US" sz="1800" dirty="0">
                <a:solidFill>
                  <a:schemeClr val="accent2"/>
                </a:solidFill>
              </a:rPr>
              <a:t>Star schema with three fact tables, three dimensions and an events bridge</a:t>
            </a:r>
            <a:endParaRPr lang="en-US" sz="1800" dirty="0"/>
          </a:p>
        </p:txBody>
      </p:sp>
    </p:spTree>
    <p:extLst>
      <p:ext uri="{BB962C8B-B14F-4D97-AF65-F5344CB8AC3E}">
        <p14:creationId xmlns:p14="http://schemas.microsoft.com/office/powerpoint/2010/main" val="30773723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Star schema of the data warehouse</a:t>
            </a:r>
            <a:endParaRPr lang="en-US" sz="3000" dirty="0"/>
          </a:p>
        </p:txBody>
      </p:sp>
      <p:sp>
        <p:nvSpPr>
          <p:cNvPr id="4" name="Schema note"/>
          <p:cNvSpPr/>
          <p:nvPr/>
        </p:nvSpPr>
        <p:spPr>
          <a:xfrm>
            <a:off x="1280897" y="5715001"/>
            <a:ext cx="6582205" cy="263996"/>
          </a:xfrm>
          <a:prstGeom prst="rect">
            <a:avLst/>
          </a:prstGeom>
          <a:solidFill>
            <a:schemeClr val="bg2"/>
          </a:solidFill>
          <a:ln w="9525">
            <a:solidFill>
              <a:schemeClr val="accent3"/>
            </a:solidFill>
            <a:prstDash val="solid"/>
          </a:ln>
        </p:spPr>
        <p:txBody>
          <a:bodyPr/>
          <a:lstStyle/>
          <a:p>
            <a:endParaRPr lang="pt-PT"/>
          </a:p>
        </p:txBody>
      </p:sp>
      <p:sp>
        <p:nvSpPr>
          <p:cNvPr id="5" name="Schema note text"/>
          <p:cNvSpPr txBox="1"/>
          <p:nvPr/>
        </p:nvSpPr>
        <p:spPr>
          <a:xfrm>
            <a:off x="1280897" y="5715000"/>
            <a:ext cx="6582205" cy="263996"/>
          </a:xfrm>
          <a:prstGeom prst="rect">
            <a:avLst/>
          </a:prstGeom>
          <a:noFill/>
          <a:ln/>
        </p:spPr>
        <p:txBody>
          <a:bodyPr wrap="square" rtlCol="0" anchor="ctr"/>
          <a:lstStyle/>
          <a:p>
            <a:pPr marL="0" indent="0">
              <a:spcAft>
                <a:spcPts val="400"/>
              </a:spcAft>
              <a:buNone/>
            </a:pPr>
            <a:r>
              <a:rPr lang="en-US" sz="1200" dirty="0">
                <a:solidFill>
                  <a:schemeClr val="tx1"/>
                </a:solidFill>
              </a:rPr>
              <a:t>7 tables in a separate database (aid_dw), 3 facts, 3 dimensions with surrogate keys, and BRIDGE_EVENT</a:t>
            </a:r>
            <a:endParaRPr lang="en-US" sz="1200" dirty="0"/>
          </a:p>
        </p:txBody>
      </p:sp>
      <p:pic>
        <p:nvPicPr>
          <p:cNvPr id="7" name="Imagem 6" descr="Uma imagem com texto, design, captura de ecrã&#10;&#10;Descrição gerada automaticamente">
            <a:extLst>
              <a:ext uri="{FF2B5EF4-FFF2-40B4-BE49-F238E27FC236}">
                <a16:creationId xmlns:a16="http://schemas.microsoft.com/office/drawing/2014/main" id="{78561625-D088-8584-139C-514660A54DC2}"/>
              </a:ext>
            </a:extLst>
          </p:cNvPr>
          <p:cNvPicPr>
            <a:picLocks noChangeAspect="1"/>
          </p:cNvPicPr>
          <p:nvPr/>
        </p:nvPicPr>
        <p:blipFill>
          <a:blip r:embed="rId3"/>
          <a:stretch>
            <a:fillRect/>
          </a:stretch>
        </p:blipFill>
        <p:spPr>
          <a:xfrm>
            <a:off x="2127794" y="1143000"/>
            <a:ext cx="4888412" cy="4170143"/>
          </a:xfrm>
          <a:prstGeom prst="rect">
            <a:avLst/>
          </a:prstGeom>
        </p:spPr>
      </p:pic>
    </p:spTree>
    <p:extLst>
      <p:ext uri="{BB962C8B-B14F-4D97-AF65-F5344CB8AC3E}">
        <p14:creationId xmlns:p14="http://schemas.microsoft.com/office/powerpoint/2010/main" val="28356411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Three fact tables, two grains</a:t>
            </a:r>
            <a:endParaRPr lang="en-US" sz="3000" dirty="0"/>
          </a:p>
        </p:txBody>
      </p:sp>
      <p:graphicFrame>
        <p:nvGraphicFramePr>
          <p:cNvPr id="4" name="Facts table"/>
          <p:cNvGraphicFramePr>
            <a:graphicFrameLocks noGrp="1"/>
          </p:cNvGraphicFramePr>
          <p:nvPr>
            <p:extLst>
              <p:ext uri="{D42A27DB-BD31-4B8C-83A1-F6EECF244321}">
                <p14:modId xmlns:p14="http://schemas.microsoft.com/office/powerpoint/2010/main" val="3482572624"/>
              </p:ext>
            </p:extLst>
          </p:nvPr>
        </p:nvGraphicFramePr>
        <p:xfrm>
          <a:off x="457200" y="1482212"/>
          <a:ext cx="8229600" cy="2414311"/>
        </p:xfrm>
        <a:graphic>
          <a:graphicData uri="http://schemas.openxmlformats.org/drawingml/2006/table">
            <a:tbl>
              <a:tblPr/>
              <a:tblGrid>
                <a:gridCol w="160020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56911">
                <a:tc>
                  <a:txBody>
                    <a:bodyPr/>
                    <a:lstStyle/>
                    <a:p>
                      <a:pPr marL="0" indent="0">
                        <a:buNone/>
                      </a:pPr>
                      <a:r>
                        <a:rPr lang="en-US" sz="1300" b="1" dirty="0">
                          <a:solidFill>
                            <a:schemeClr val="bg1"/>
                          </a:solidFill>
                        </a:rPr>
                        <a:t>Fact table</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Grain</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Measures</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Source</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85800">
                <a:tc>
                  <a:txBody>
                    <a:bodyPr/>
                    <a:lstStyle/>
                    <a:p>
                      <a:pPr marL="0" indent="0">
                        <a:buNone/>
                      </a:pPr>
                      <a:r>
                        <a:rPr lang="en-US" sz="1200" b="1" dirty="0">
                          <a:solidFill>
                            <a:schemeClr val="accent1"/>
                          </a:solidFill>
                        </a:rPr>
                        <a:t>FACT_ECONOMY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 Year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gdp_per_capita, gdp, gdp_growth_pct, exports_pct_gdp, imports_pct_gdp</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Maddison and WDI</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200" b="1" dirty="0">
                          <a:solidFill>
                            <a:schemeClr val="accent1"/>
                          </a:solidFill>
                        </a:rPr>
                        <a:t>FACT_SOCIETY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 Year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population, gni_per_capita, life_expectancy, urban_pop_pct</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Maddison and WDI</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200" b="1" dirty="0">
                          <a:solidFill>
                            <a:schemeClr val="accent1"/>
                          </a:solidFill>
                        </a:rPr>
                        <a:t>FACT_SECTOR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 Year × Sector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value_added_pct_gdp, value_added_usd, employment_pct</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WDI</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Why three facts"/>
          <p:cNvSpPr/>
          <p:nvPr/>
        </p:nvSpPr>
        <p:spPr>
          <a:xfrm>
            <a:off x="548640" y="4504895"/>
            <a:ext cx="3794760" cy="1045661"/>
          </a:xfrm>
          <a:prstGeom prst="rect">
            <a:avLst/>
          </a:prstGeom>
          <a:solidFill>
            <a:schemeClr val="bg2"/>
          </a:solidFill>
          <a:ln w="9525">
            <a:solidFill>
              <a:schemeClr val="accent3"/>
            </a:solidFill>
            <a:prstDash val="solid"/>
          </a:ln>
        </p:spPr>
        <p:txBody>
          <a:bodyPr/>
          <a:lstStyle/>
          <a:p>
            <a:endParaRPr lang="pt-PT"/>
          </a:p>
        </p:txBody>
      </p:sp>
      <p:sp>
        <p:nvSpPr>
          <p:cNvPr id="5" name="Why three facts text"/>
          <p:cNvSpPr txBox="1"/>
          <p:nvPr/>
        </p:nvSpPr>
        <p:spPr>
          <a:xfrm>
            <a:off x="548640" y="4504895"/>
            <a:ext cx="3794760" cy="1045661"/>
          </a:xfrm>
          <a:prstGeom prst="rect">
            <a:avLst/>
          </a:prstGeom>
          <a:noFill/>
          <a:ln/>
        </p:spPr>
        <p:txBody>
          <a:bodyPr wrap="square" rtlCol="0" anchor="t"/>
          <a:lstStyle/>
          <a:p>
            <a:pPr marL="0" indent="0">
              <a:spcAft>
                <a:spcPts val="400"/>
              </a:spcAft>
              <a:buNone/>
            </a:pPr>
            <a:r>
              <a:rPr lang="en-US" sz="1200" b="1" dirty="0">
                <a:solidFill>
                  <a:schemeClr val="accent1"/>
                </a:solidFill>
              </a:rPr>
              <a:t>Why three fact tables?</a:t>
            </a:r>
            <a:endParaRPr lang="en-US" sz="1200" dirty="0"/>
          </a:p>
          <a:p>
            <a:pPr marL="0" indent="0">
              <a:spcAft>
                <a:spcPts val="400"/>
              </a:spcAft>
              <a:buNone/>
            </a:pPr>
            <a:r>
              <a:rPr lang="en-US" sz="1200" dirty="0">
                <a:solidFill>
                  <a:schemeClr val="tx1"/>
                </a:solidFill>
              </a:rPr>
              <a:t>Economy and society are different subject areas</a:t>
            </a:r>
            <a:r>
              <a:rPr lang="en-US" sz="1200" dirty="0"/>
              <a:t>, </a:t>
            </a:r>
            <a:r>
              <a:rPr lang="en-US" sz="1200" dirty="0">
                <a:solidFill>
                  <a:schemeClr val="tx1"/>
                </a:solidFill>
              </a:rPr>
              <a:t>sector data has a finer grain. A single table would repeat country-level measures across sectors and aggregate them incorrectly</a:t>
            </a:r>
            <a:endParaRPr lang="en-US" sz="1200" dirty="0"/>
          </a:p>
        </p:txBody>
      </p:sp>
      <p:sp>
        <p:nvSpPr>
          <p:cNvPr id="6" name="Why DIM_SECTOR"/>
          <p:cNvSpPr/>
          <p:nvPr/>
        </p:nvSpPr>
        <p:spPr>
          <a:xfrm>
            <a:off x="4800602" y="4669340"/>
            <a:ext cx="3794760" cy="706448"/>
          </a:xfrm>
          <a:prstGeom prst="rect">
            <a:avLst/>
          </a:prstGeom>
          <a:solidFill>
            <a:schemeClr val="bg2"/>
          </a:solidFill>
          <a:ln w="9525">
            <a:solidFill>
              <a:schemeClr val="accent3"/>
            </a:solidFill>
            <a:prstDash val="solid"/>
          </a:ln>
        </p:spPr>
        <p:txBody>
          <a:bodyPr/>
          <a:lstStyle/>
          <a:p>
            <a:endParaRPr lang="pt-PT"/>
          </a:p>
        </p:txBody>
      </p:sp>
      <p:sp>
        <p:nvSpPr>
          <p:cNvPr id="7" name="Why DIM_SECTOR text"/>
          <p:cNvSpPr txBox="1"/>
          <p:nvPr/>
        </p:nvSpPr>
        <p:spPr>
          <a:xfrm>
            <a:off x="4800602" y="4669340"/>
            <a:ext cx="3794760" cy="706448"/>
          </a:xfrm>
          <a:prstGeom prst="rect">
            <a:avLst/>
          </a:prstGeom>
          <a:noFill/>
          <a:ln/>
        </p:spPr>
        <p:txBody>
          <a:bodyPr wrap="square" rtlCol="0" anchor="t"/>
          <a:lstStyle/>
          <a:p>
            <a:pPr marL="0" indent="0">
              <a:spcAft>
                <a:spcPts val="400"/>
              </a:spcAft>
              <a:buNone/>
            </a:pPr>
            <a:r>
              <a:rPr lang="en-US" sz="1200" b="1" dirty="0">
                <a:solidFill>
                  <a:schemeClr val="accent1"/>
                </a:solidFill>
              </a:rPr>
              <a:t>Why DIM_SECTOR only in FACT_SECTOR?</a:t>
            </a:r>
            <a:endParaRPr lang="en-US" sz="1200" dirty="0"/>
          </a:p>
          <a:p>
            <a:pPr marL="0" indent="0">
              <a:spcAft>
                <a:spcPts val="400"/>
              </a:spcAft>
              <a:buNone/>
            </a:pPr>
            <a:r>
              <a:rPr lang="en-US" sz="1200" dirty="0">
                <a:solidFill>
                  <a:schemeClr val="tx1"/>
                </a:solidFill>
              </a:rPr>
              <a:t>Only sector indicators are measured by sector. GDP, population or life expectancy do not belong to any sector</a:t>
            </a:r>
            <a:endParaRPr lang="en-US" sz="1200" dirty="0"/>
          </a:p>
        </p:txBody>
      </p:sp>
    </p:spTree>
    <p:extLst>
      <p:ext uri="{BB962C8B-B14F-4D97-AF65-F5344CB8AC3E}">
        <p14:creationId xmlns:p14="http://schemas.microsoft.com/office/powerpoint/2010/main" val="17769382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Dimensions with surrogate keys</a:t>
            </a:r>
            <a:endParaRPr lang="en-US" sz="3000" dirty="0"/>
          </a:p>
        </p:txBody>
      </p:sp>
      <p:graphicFrame>
        <p:nvGraphicFramePr>
          <p:cNvPr id="5" name="Dimensions table"/>
          <p:cNvGraphicFramePr>
            <a:graphicFrameLocks noGrp="1"/>
          </p:cNvGraphicFramePr>
          <p:nvPr>
            <p:extLst>
              <p:ext uri="{D42A27DB-BD31-4B8C-83A1-F6EECF244321}">
                <p14:modId xmlns:p14="http://schemas.microsoft.com/office/powerpoint/2010/main" val="1987329265"/>
              </p:ext>
            </p:extLst>
          </p:nvPr>
        </p:nvGraphicFramePr>
        <p:xfrm>
          <a:off x="457200" y="1501386"/>
          <a:ext cx="8229600" cy="2299274"/>
        </p:xfrm>
        <a:graphic>
          <a:graphicData uri="http://schemas.openxmlformats.org/drawingml/2006/table">
            <a:tbl>
              <a:tblPr/>
              <a:tblGrid>
                <a:gridCol w="141732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379034">
                <a:tc>
                  <a:txBody>
                    <a:bodyPr/>
                    <a:lstStyle/>
                    <a:p>
                      <a:pPr marL="0" indent="0">
                        <a:buNone/>
                      </a:pPr>
                      <a:r>
                        <a:rPr lang="en-US" sz="1300" b="1" dirty="0">
                          <a:solidFill>
                            <a:schemeClr val="bg1"/>
                          </a:solidFill>
                        </a:rPr>
                        <a:t>Dimension</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Surrogate key</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Natural key (unique)</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Attributes</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Hierarchy</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40080">
                <a:tc>
                  <a:txBody>
                    <a:bodyPr/>
                    <a:lstStyle/>
                    <a:p>
                      <a:pPr marL="0" indent="0">
                        <a:buNone/>
                      </a:pPr>
                      <a:r>
                        <a:rPr lang="en-US" sz="1200" b="1" dirty="0">
                          <a:solidFill>
                            <a:schemeClr val="accent1"/>
                          </a:solidFill>
                        </a:rPr>
                        <a:t>DIM_COUNTRY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country_key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iso3_code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country_name, country_group</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group → Country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200" b="1" dirty="0">
                          <a:solidFill>
                            <a:schemeClr val="accent1"/>
                          </a:solidFill>
                        </a:rPr>
                        <a:t>DIM_TIME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time_key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year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decade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Decade → Year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200" b="1" dirty="0">
                          <a:solidFill>
                            <a:schemeClr val="accent1"/>
                          </a:solidFill>
                        </a:rPr>
                        <a:t>DIM_SECTOR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sector_key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sector_name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broad_sector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Broad sector → Sector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Conformed dims"/>
          <p:cNvSpPr/>
          <p:nvPr/>
        </p:nvSpPr>
        <p:spPr>
          <a:xfrm>
            <a:off x="548639" y="4384696"/>
            <a:ext cx="2423159" cy="1060409"/>
          </a:xfrm>
          <a:prstGeom prst="rect">
            <a:avLst/>
          </a:prstGeom>
          <a:solidFill>
            <a:schemeClr val="bg2"/>
          </a:solidFill>
          <a:ln w="9525">
            <a:solidFill>
              <a:schemeClr val="accent3"/>
            </a:solidFill>
            <a:prstDash val="solid"/>
          </a:ln>
        </p:spPr>
        <p:txBody>
          <a:bodyPr/>
          <a:lstStyle/>
          <a:p>
            <a:endParaRPr lang="pt-PT"/>
          </a:p>
        </p:txBody>
      </p:sp>
      <p:sp>
        <p:nvSpPr>
          <p:cNvPr id="3" name="Conformed dims text"/>
          <p:cNvSpPr txBox="1"/>
          <p:nvPr/>
        </p:nvSpPr>
        <p:spPr>
          <a:xfrm>
            <a:off x="548639" y="4384696"/>
            <a:ext cx="2423159" cy="1060409"/>
          </a:xfrm>
          <a:prstGeom prst="rect">
            <a:avLst/>
          </a:prstGeom>
          <a:noFill/>
          <a:ln/>
        </p:spPr>
        <p:txBody>
          <a:bodyPr wrap="square" rtlCol="0" anchor="t"/>
          <a:lstStyle/>
          <a:p>
            <a:pPr marL="0" indent="0">
              <a:spcAft>
                <a:spcPts val="400"/>
              </a:spcAft>
              <a:buNone/>
            </a:pPr>
            <a:r>
              <a:rPr lang="en-US" sz="1200" b="1" dirty="0">
                <a:solidFill>
                  <a:schemeClr val="accent1"/>
                </a:solidFill>
              </a:rPr>
              <a:t>Shared by all facts</a:t>
            </a:r>
            <a:endParaRPr lang="en-US" sz="1200" dirty="0"/>
          </a:p>
          <a:p>
            <a:pPr marL="0" indent="0">
              <a:spcAft>
                <a:spcPts val="400"/>
              </a:spcAft>
              <a:buNone/>
            </a:pPr>
            <a:r>
              <a:rPr lang="en-US" sz="1200" dirty="0">
                <a:solidFill>
                  <a:schemeClr val="tx1"/>
                </a:solidFill>
              </a:rPr>
              <a:t>DIM_COUNTRY and DIM_TIME are conformed</a:t>
            </a:r>
            <a:r>
              <a:rPr lang="en-US" sz="1200" dirty="0"/>
              <a:t>, </a:t>
            </a:r>
            <a:r>
              <a:rPr lang="en-US" sz="1200" dirty="0">
                <a:solidFill>
                  <a:schemeClr val="tx1"/>
                </a:solidFill>
              </a:rPr>
              <a:t>the three facts can be compared by country group, country, decade and year</a:t>
            </a:r>
            <a:endParaRPr lang="en-US" sz="1200" dirty="0"/>
          </a:p>
        </p:txBody>
      </p:sp>
      <p:sp>
        <p:nvSpPr>
          <p:cNvPr id="6" name="Sector hierarchy"/>
          <p:cNvSpPr/>
          <p:nvPr/>
        </p:nvSpPr>
        <p:spPr>
          <a:xfrm>
            <a:off x="3360420" y="4384696"/>
            <a:ext cx="2423160" cy="1060409"/>
          </a:xfrm>
          <a:prstGeom prst="rect">
            <a:avLst/>
          </a:prstGeom>
          <a:solidFill>
            <a:schemeClr val="bg2"/>
          </a:solidFill>
          <a:ln w="9525">
            <a:solidFill>
              <a:schemeClr val="accent3"/>
            </a:solidFill>
            <a:prstDash val="solid"/>
          </a:ln>
        </p:spPr>
        <p:txBody>
          <a:bodyPr/>
          <a:lstStyle/>
          <a:p>
            <a:endParaRPr lang="pt-PT"/>
          </a:p>
        </p:txBody>
      </p:sp>
      <p:sp>
        <p:nvSpPr>
          <p:cNvPr id="7" name="Sector hierarchy text"/>
          <p:cNvSpPr txBox="1"/>
          <p:nvPr/>
        </p:nvSpPr>
        <p:spPr>
          <a:xfrm>
            <a:off x="3360420" y="4384696"/>
            <a:ext cx="2423160" cy="1060409"/>
          </a:xfrm>
          <a:prstGeom prst="rect">
            <a:avLst/>
          </a:prstGeom>
          <a:noFill/>
          <a:ln/>
        </p:spPr>
        <p:txBody>
          <a:bodyPr wrap="square" rtlCol="0" anchor="t"/>
          <a:lstStyle/>
          <a:p>
            <a:pPr marL="0" indent="0">
              <a:spcAft>
                <a:spcPts val="400"/>
              </a:spcAft>
              <a:buNone/>
            </a:pPr>
            <a:r>
              <a:rPr lang="en-US" sz="1200" b="1" dirty="0">
                <a:solidFill>
                  <a:schemeClr val="accent1"/>
                </a:solidFill>
              </a:rPr>
              <a:t>Sector hierarchy</a:t>
            </a:r>
            <a:endParaRPr lang="en-US" sz="1200" dirty="0"/>
          </a:p>
          <a:p>
            <a:pPr marL="0" indent="0">
              <a:spcAft>
                <a:spcPts val="400"/>
              </a:spcAft>
              <a:buNone/>
            </a:pPr>
            <a:r>
              <a:rPr lang="en-US" sz="1200" dirty="0">
                <a:solidFill>
                  <a:schemeClr val="tx1"/>
                </a:solidFill>
              </a:rPr>
              <a:t>Primary → Agriculture, Secondary → Industry, Manufacturing, Tertiary → Services. Manufacturing is part of industry, never summed</a:t>
            </a:r>
            <a:endParaRPr lang="en-US" sz="1200" dirty="0"/>
          </a:p>
        </p:txBody>
      </p:sp>
      <p:sp>
        <p:nvSpPr>
          <p:cNvPr id="8" name="Integrity rules"/>
          <p:cNvSpPr/>
          <p:nvPr/>
        </p:nvSpPr>
        <p:spPr>
          <a:xfrm>
            <a:off x="6172200" y="4384696"/>
            <a:ext cx="2423160" cy="1060409"/>
          </a:xfrm>
          <a:prstGeom prst="rect">
            <a:avLst/>
          </a:prstGeom>
          <a:solidFill>
            <a:schemeClr val="bg2"/>
          </a:solidFill>
          <a:ln w="9525">
            <a:solidFill>
              <a:schemeClr val="accent3"/>
            </a:solidFill>
            <a:prstDash val="solid"/>
          </a:ln>
        </p:spPr>
        <p:txBody>
          <a:bodyPr/>
          <a:lstStyle/>
          <a:p>
            <a:endParaRPr lang="pt-PT"/>
          </a:p>
        </p:txBody>
      </p:sp>
      <p:sp>
        <p:nvSpPr>
          <p:cNvPr id="9" name="Integrity rules text"/>
          <p:cNvSpPr txBox="1"/>
          <p:nvPr/>
        </p:nvSpPr>
        <p:spPr>
          <a:xfrm>
            <a:off x="6172200" y="4384696"/>
            <a:ext cx="2423160" cy="1060409"/>
          </a:xfrm>
          <a:prstGeom prst="rect">
            <a:avLst/>
          </a:prstGeom>
          <a:noFill/>
          <a:ln/>
        </p:spPr>
        <p:txBody>
          <a:bodyPr wrap="square" rtlCol="0" anchor="t"/>
          <a:lstStyle/>
          <a:p>
            <a:pPr marL="0" indent="0">
              <a:spcAft>
                <a:spcPts val="400"/>
              </a:spcAft>
              <a:buNone/>
            </a:pPr>
            <a:r>
              <a:rPr lang="en-US" sz="1200" b="1" dirty="0">
                <a:solidFill>
                  <a:schemeClr val="accent1"/>
                </a:solidFill>
              </a:rPr>
              <a:t>Integrity rules</a:t>
            </a:r>
            <a:endParaRPr lang="en-US" sz="1200" dirty="0"/>
          </a:p>
          <a:p>
            <a:pPr marL="0" indent="0">
              <a:spcAft>
                <a:spcPts val="400"/>
              </a:spcAft>
              <a:buNone/>
            </a:pPr>
            <a:r>
              <a:rPr lang="en-US" sz="1200" dirty="0">
                <a:solidFill>
                  <a:schemeClr val="tx1"/>
                </a:solidFill>
              </a:rPr>
              <a:t>CHECK constraints on country_group, decade and broad_sector, unique natural keys, foreign keys from every fact</a:t>
            </a:r>
            <a:endParaRPr lang="en-US" sz="1200" dirty="0"/>
          </a:p>
        </p:txBody>
      </p:sp>
    </p:spTree>
    <p:extLst>
      <p:ext uri="{BB962C8B-B14F-4D97-AF65-F5344CB8AC3E}">
        <p14:creationId xmlns:p14="http://schemas.microsoft.com/office/powerpoint/2010/main" val="3692967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Events integrated as a bridge table</a:t>
            </a:r>
            <a:endParaRPr lang="en-US" sz="3000" dirty="0"/>
          </a:p>
        </p:txBody>
      </p:sp>
      <p:graphicFrame>
        <p:nvGraphicFramePr>
          <p:cNvPr id="6" name="Events options table"/>
          <p:cNvGraphicFramePr>
            <a:graphicFrameLocks noGrp="1"/>
          </p:cNvGraphicFramePr>
          <p:nvPr>
            <p:extLst>
              <p:ext uri="{D42A27DB-BD31-4B8C-83A1-F6EECF244321}">
                <p14:modId xmlns:p14="http://schemas.microsoft.com/office/powerpoint/2010/main" val="2102640141"/>
              </p:ext>
            </p:extLst>
          </p:nvPr>
        </p:nvGraphicFramePr>
        <p:xfrm>
          <a:off x="457200" y="1685741"/>
          <a:ext cx="8229600" cy="2264664"/>
        </p:xfrm>
        <a:graphic>
          <a:graphicData uri="http://schemas.openxmlformats.org/drawingml/2006/table">
            <a:tbl>
              <a:tblPr/>
              <a:tblGrid>
                <a:gridCol w="29260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29288">
                <a:tc>
                  <a:txBody>
                    <a:bodyPr/>
                    <a:lstStyle/>
                    <a:p>
                      <a:pPr marL="0" indent="0">
                        <a:buNone/>
                      </a:pPr>
                      <a:r>
                        <a:rPr lang="en-US" sz="1300" b="1" dirty="0">
                          <a:solidFill>
                            <a:schemeClr val="bg1"/>
                          </a:solidFill>
                        </a:rPr>
                        <a:t>Option</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Assessment</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ctr">
                        <a:buNone/>
                      </a:pPr>
                      <a:r>
                        <a:rPr lang="en-US" sz="1300" b="1" dirty="0">
                          <a:solidFill>
                            <a:schemeClr val="bg1"/>
                          </a:solidFill>
                        </a:rPr>
                        <a:t>Choice</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40080">
                <a:tc>
                  <a:txBody>
                    <a:bodyPr/>
                    <a:lstStyle/>
                    <a:p>
                      <a:pPr marL="0" indent="0">
                        <a:buNone/>
                      </a:pPr>
                      <a:r>
                        <a:rPr lang="en-US" sz="1200" b="1" dirty="0">
                          <a:solidFill>
                            <a:schemeClr val="accent1"/>
                          </a:solidFill>
                        </a:rPr>
                        <a:t>1. Standalone table joined by year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Simple, but loses the link to the country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accent2"/>
                          </a:solidFill>
                        </a:rPr>
                        <a:t>–</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200" b="1" dirty="0">
                          <a:solidFill>
                            <a:schemeClr val="accent1"/>
                          </a:solidFill>
                        </a:rPr>
                        <a:t>2. Bridge to DIM_TIME and DIM_COUNTRY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Keeps country and year, allows several events per country-year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t>Chosen</a:t>
                      </a: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200" b="1" dirty="0">
                          <a:solidFill>
                            <a:schemeClr val="accent1"/>
                          </a:solidFill>
                        </a:rPr>
                        <a:t>3. New DIM_EVENT dimension</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Does not fit the country-year grain</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accent2"/>
                          </a:solidFill>
                        </a:rPr>
                        <a:t>–</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Bridge note"/>
          <p:cNvSpPr/>
          <p:nvPr/>
        </p:nvSpPr>
        <p:spPr>
          <a:xfrm>
            <a:off x="1434279" y="4493145"/>
            <a:ext cx="6275439" cy="824435"/>
          </a:xfrm>
          <a:prstGeom prst="rect">
            <a:avLst/>
          </a:prstGeom>
          <a:solidFill>
            <a:schemeClr val="bg2"/>
          </a:solidFill>
          <a:ln w="9525">
            <a:solidFill>
              <a:schemeClr val="accent3"/>
            </a:solidFill>
            <a:prstDash val="solid"/>
          </a:ln>
        </p:spPr>
        <p:txBody>
          <a:bodyPr/>
          <a:lstStyle/>
          <a:p>
            <a:endParaRPr lang="pt-PT"/>
          </a:p>
        </p:txBody>
      </p:sp>
      <p:sp>
        <p:nvSpPr>
          <p:cNvPr id="7" name="Bridge note text"/>
          <p:cNvSpPr txBox="1"/>
          <p:nvPr/>
        </p:nvSpPr>
        <p:spPr>
          <a:xfrm>
            <a:off x="1434281" y="4493146"/>
            <a:ext cx="6275438" cy="824434"/>
          </a:xfrm>
          <a:prstGeom prst="rect">
            <a:avLst/>
          </a:prstGeom>
          <a:noFill/>
          <a:ln/>
        </p:spPr>
        <p:txBody>
          <a:bodyPr wrap="square" rtlCol="0" anchor="ctr"/>
          <a:lstStyle/>
          <a:p>
            <a:pPr marL="0" indent="0">
              <a:spcAft>
                <a:spcPts val="400"/>
              </a:spcAft>
              <a:buNone/>
            </a:pPr>
            <a:r>
              <a:rPr lang="en-US" sz="1200" dirty="0">
                <a:solidFill>
                  <a:schemeClr val="tx1"/>
                </a:solidFill>
              </a:rPr>
              <a:t>BRIDGE_EVENT - one row per event, with country_key, time_key, description, category and impact</a:t>
            </a:r>
            <a:endParaRPr lang="en-US" sz="1200" dirty="0"/>
          </a:p>
          <a:p>
            <a:pPr marL="0" indent="0">
              <a:spcAft>
                <a:spcPts val="400"/>
              </a:spcAft>
              <a:buNone/>
            </a:pPr>
            <a:r>
              <a:rPr lang="en-US" sz="1200" dirty="0">
                <a:solidFill>
                  <a:schemeClr val="tx1"/>
                </a:solidFill>
              </a:rPr>
              <a:t>source_event_id links each row to stg_events and prevents double loading</a:t>
            </a:r>
            <a:endParaRPr lang="en-US" sz="1200" dirty="0"/>
          </a:p>
          <a:p>
            <a:pPr marL="0" indent="0">
              <a:spcAft>
                <a:spcPts val="400"/>
              </a:spcAft>
              <a:buNone/>
            </a:pPr>
            <a:r>
              <a:rPr lang="en-US" sz="1200" dirty="0">
                <a:solidFill>
                  <a:schemeClr val="tx1"/>
                </a:solidFill>
              </a:rPr>
              <a:t>Events are queried separately from the measures, to avoid multiplying them</a:t>
            </a:r>
            <a:endParaRPr lang="en-US" sz="1200" dirty="0"/>
          </a:p>
        </p:txBody>
      </p:sp>
    </p:spTree>
    <p:extLst>
      <p:ext uri="{BB962C8B-B14F-4D97-AF65-F5344CB8AC3E}">
        <p14:creationId xmlns:p14="http://schemas.microsoft.com/office/powerpoint/2010/main" val="41906070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85354" y="2468880"/>
            <a:ext cx="7973291" cy="1188720"/>
          </a:xfrm>
          <a:prstGeom prst="rect">
            <a:avLst/>
          </a:prstGeom>
          <a:noFill/>
          <a:ln/>
        </p:spPr>
        <p:txBody>
          <a:bodyPr wrap="square" lIns="0" tIns="0" rIns="0" bIns="0" rtlCol="0" anchor="ctr"/>
          <a:lstStyle/>
          <a:p>
            <a:pPr marL="0" indent="0" algn="ctr">
              <a:buNone/>
            </a:pPr>
            <a:r>
              <a:rPr lang="en-US" sz="4400" b="1" dirty="0">
                <a:solidFill>
                  <a:schemeClr val="accent1"/>
                </a:solidFill>
              </a:rPr>
              <a:t>Task 4 – ETL Pipelines</a:t>
            </a:r>
            <a:endParaRPr lang="en-US" sz="4400" b="1" dirty="0"/>
          </a:p>
        </p:txBody>
      </p:sp>
      <p:sp>
        <p:nvSpPr>
          <p:cNvPr id="3" name="Text 0"/>
          <p:cNvSpPr>
            <a:spLocks noGrp="1"/>
          </p:cNvSpPr>
          <p:nvPr>
            <p:ph type="body" idx="102" hasCustomPrompt="1"/>
          </p:nvPr>
        </p:nvSpPr>
        <p:spPr>
          <a:xfrm>
            <a:off x="685800" y="3657600"/>
            <a:ext cx="7772400" cy="731520"/>
          </a:xfrm>
          <a:prstGeom prst="rect">
            <a:avLst/>
          </a:prstGeom>
          <a:noFill/>
          <a:ln/>
        </p:spPr>
        <p:txBody>
          <a:bodyPr wrap="square" lIns="0" tIns="0" rIns="0" bIns="0" rtlCol="0" anchor="t"/>
          <a:lstStyle/>
          <a:p>
            <a:r>
              <a:rPr lang="en-US" sz="1800" dirty="0">
                <a:solidFill>
                  <a:schemeClr val="accent2"/>
                </a:solidFill>
              </a:rPr>
              <a:t>Seven Apache Hop pipelines and one workflow that load the data warehouse</a:t>
            </a:r>
            <a:endParaRPr lang="en-US" sz="1800" dirty="0"/>
          </a:p>
        </p:txBody>
      </p:sp>
    </p:spTree>
    <p:extLst>
      <p:ext uri="{BB962C8B-B14F-4D97-AF65-F5344CB8AC3E}">
        <p14:creationId xmlns:p14="http://schemas.microsoft.com/office/powerpoint/2010/main" val="16713538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Load order and workflow</a:t>
            </a:r>
            <a:endParaRPr lang="en-US" sz="3000" dirty="0"/>
          </a:p>
        </p:txBody>
      </p:sp>
      <p:sp>
        <p:nvSpPr>
          <p:cNvPr id="5" name="Step 1"/>
          <p:cNvSpPr/>
          <p:nvPr/>
        </p:nvSpPr>
        <p:spPr>
          <a:xfrm>
            <a:off x="457200" y="3017520"/>
            <a:ext cx="2499360" cy="822960"/>
          </a:xfrm>
          <a:prstGeom prst="rect">
            <a:avLst/>
          </a:prstGeom>
          <a:solidFill>
            <a:schemeClr val="accent1"/>
          </a:solidFill>
          <a:ln w="12700">
            <a:solidFill>
              <a:schemeClr val="accent1"/>
            </a:solidFill>
            <a:prstDash val="solid"/>
          </a:ln>
        </p:spPr>
        <p:txBody>
          <a:bodyPr/>
          <a:lstStyle/>
          <a:p>
            <a:endParaRPr lang="pt-PT"/>
          </a:p>
        </p:txBody>
      </p:sp>
      <p:sp>
        <p:nvSpPr>
          <p:cNvPr id="6" name="Step 1 text"/>
          <p:cNvSpPr txBox="1"/>
          <p:nvPr/>
        </p:nvSpPr>
        <p:spPr>
          <a:xfrm>
            <a:off x="457200" y="3017520"/>
            <a:ext cx="2499360" cy="822960"/>
          </a:xfrm>
          <a:prstGeom prst="rect">
            <a:avLst/>
          </a:prstGeom>
          <a:noFill/>
          <a:ln/>
        </p:spPr>
        <p:txBody>
          <a:bodyPr wrap="square" rtlCol="0" anchor="ctr"/>
          <a:lstStyle/>
          <a:p>
            <a:pPr marL="0" indent="0" algn="ctr">
              <a:buNone/>
            </a:pPr>
            <a:r>
              <a:rPr lang="en-US" sz="1300" b="1" dirty="0">
                <a:solidFill>
                  <a:schemeClr val="bg1"/>
                </a:solidFill>
              </a:rPr>
              <a:t>Dimensions country, time, sector</a:t>
            </a:r>
            <a:endParaRPr lang="en-US" sz="1300" dirty="0"/>
          </a:p>
        </p:txBody>
      </p:sp>
      <p:sp>
        <p:nvSpPr>
          <p:cNvPr id="7" name="Arrow 1"/>
          <p:cNvSpPr/>
          <p:nvPr/>
        </p:nvSpPr>
        <p:spPr>
          <a:xfrm>
            <a:off x="3002280" y="3291840"/>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8" name="Step 2"/>
          <p:cNvSpPr/>
          <p:nvPr/>
        </p:nvSpPr>
        <p:spPr>
          <a:xfrm>
            <a:off x="3322320" y="3017520"/>
            <a:ext cx="2499360" cy="822960"/>
          </a:xfrm>
          <a:prstGeom prst="rect">
            <a:avLst/>
          </a:prstGeom>
          <a:solidFill>
            <a:schemeClr val="accent1"/>
          </a:solidFill>
          <a:ln w="12700">
            <a:solidFill>
              <a:schemeClr val="accent1"/>
            </a:solidFill>
            <a:prstDash val="solid"/>
          </a:ln>
        </p:spPr>
        <p:txBody>
          <a:bodyPr/>
          <a:lstStyle/>
          <a:p>
            <a:endParaRPr lang="pt-PT"/>
          </a:p>
        </p:txBody>
      </p:sp>
      <p:sp>
        <p:nvSpPr>
          <p:cNvPr id="9" name="Step 2 text"/>
          <p:cNvSpPr txBox="1"/>
          <p:nvPr/>
        </p:nvSpPr>
        <p:spPr>
          <a:xfrm>
            <a:off x="3322320" y="3017520"/>
            <a:ext cx="2499360" cy="822960"/>
          </a:xfrm>
          <a:prstGeom prst="rect">
            <a:avLst/>
          </a:prstGeom>
          <a:noFill/>
          <a:ln/>
        </p:spPr>
        <p:txBody>
          <a:bodyPr wrap="square" rtlCol="0" anchor="ctr"/>
          <a:lstStyle/>
          <a:p>
            <a:pPr marL="0" indent="0" algn="ctr">
              <a:buNone/>
            </a:pPr>
            <a:r>
              <a:rPr lang="en-US" sz="1300" b="1" dirty="0">
                <a:solidFill>
                  <a:schemeClr val="bg1"/>
                </a:solidFill>
              </a:rPr>
              <a:t>Events bridge</a:t>
            </a:r>
            <a:endParaRPr lang="en-US" sz="1300" dirty="0"/>
          </a:p>
        </p:txBody>
      </p:sp>
      <p:sp>
        <p:nvSpPr>
          <p:cNvPr id="10" name="Arrow 2"/>
          <p:cNvSpPr/>
          <p:nvPr/>
        </p:nvSpPr>
        <p:spPr>
          <a:xfrm>
            <a:off x="5867400" y="3291840"/>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1" name="Step 3"/>
          <p:cNvSpPr/>
          <p:nvPr/>
        </p:nvSpPr>
        <p:spPr>
          <a:xfrm>
            <a:off x="6187440" y="3017520"/>
            <a:ext cx="2499360" cy="822960"/>
          </a:xfrm>
          <a:prstGeom prst="rect">
            <a:avLst/>
          </a:prstGeom>
          <a:solidFill>
            <a:schemeClr val="accent1"/>
          </a:solidFill>
          <a:ln w="12700">
            <a:solidFill>
              <a:schemeClr val="accent1"/>
            </a:solidFill>
            <a:prstDash val="solid"/>
          </a:ln>
        </p:spPr>
        <p:txBody>
          <a:bodyPr/>
          <a:lstStyle/>
          <a:p>
            <a:endParaRPr lang="pt-PT"/>
          </a:p>
        </p:txBody>
      </p:sp>
      <p:sp>
        <p:nvSpPr>
          <p:cNvPr id="12" name="Step 3 text"/>
          <p:cNvSpPr txBox="1"/>
          <p:nvPr/>
        </p:nvSpPr>
        <p:spPr>
          <a:xfrm>
            <a:off x="6187440" y="3017520"/>
            <a:ext cx="2499360" cy="822960"/>
          </a:xfrm>
          <a:prstGeom prst="rect">
            <a:avLst/>
          </a:prstGeom>
          <a:noFill/>
          <a:ln/>
        </p:spPr>
        <p:txBody>
          <a:bodyPr wrap="square" rtlCol="0" anchor="ctr"/>
          <a:lstStyle/>
          <a:p>
            <a:pPr marL="0" indent="0" algn="ctr">
              <a:buNone/>
            </a:pPr>
            <a:r>
              <a:rPr lang="en-US" sz="1300" b="1" dirty="0">
                <a:solidFill>
                  <a:schemeClr val="bg1"/>
                </a:solidFill>
              </a:rPr>
              <a:t>Facts economy, society, sector</a:t>
            </a:r>
            <a:endParaRPr lang="en-US" sz="1300" dirty="0"/>
          </a:p>
        </p:txBody>
      </p:sp>
      <p:sp>
        <p:nvSpPr>
          <p:cNvPr id="13" name="Workflow note"/>
          <p:cNvSpPr/>
          <p:nvPr/>
        </p:nvSpPr>
        <p:spPr>
          <a:xfrm>
            <a:off x="1946786" y="4640581"/>
            <a:ext cx="5250426" cy="499970"/>
          </a:xfrm>
          <a:prstGeom prst="rect">
            <a:avLst/>
          </a:prstGeom>
          <a:solidFill>
            <a:schemeClr val="bg2"/>
          </a:solidFill>
          <a:ln w="9525">
            <a:solidFill>
              <a:schemeClr val="accent3"/>
            </a:solidFill>
            <a:prstDash val="solid"/>
          </a:ln>
        </p:spPr>
        <p:txBody>
          <a:bodyPr/>
          <a:lstStyle/>
          <a:p>
            <a:endParaRPr lang="pt-PT"/>
          </a:p>
        </p:txBody>
      </p:sp>
      <p:sp>
        <p:nvSpPr>
          <p:cNvPr id="14" name="Workflow note text"/>
          <p:cNvSpPr txBox="1"/>
          <p:nvPr/>
        </p:nvSpPr>
        <p:spPr>
          <a:xfrm>
            <a:off x="1946787" y="4640581"/>
            <a:ext cx="5250426" cy="499970"/>
          </a:xfrm>
          <a:prstGeom prst="rect">
            <a:avLst/>
          </a:prstGeom>
          <a:noFill/>
          <a:ln/>
        </p:spPr>
        <p:txBody>
          <a:bodyPr wrap="square" rtlCol="0" anchor="ctr"/>
          <a:lstStyle/>
          <a:p>
            <a:pPr marL="0" indent="0">
              <a:spcAft>
                <a:spcPts val="400"/>
              </a:spcAft>
              <a:buNone/>
            </a:pPr>
            <a:r>
              <a:rPr lang="en-US" sz="1200" dirty="0">
                <a:solidFill>
                  <a:schemeClr val="tx1"/>
                </a:solidFill>
              </a:rPr>
              <a:t>Dimensions are loaded first, because events and facts look up their surrogate keys</a:t>
            </a:r>
            <a:endParaRPr lang="en-US" sz="1200" dirty="0"/>
          </a:p>
          <a:p>
            <a:pPr marL="0" indent="0">
              <a:spcAft>
                <a:spcPts val="400"/>
              </a:spcAft>
              <a:buNone/>
            </a:pPr>
            <a:r>
              <a:rPr lang="en-US" sz="1200" dirty="0">
                <a:solidFill>
                  <a:schemeClr val="tx1"/>
                </a:solidFill>
              </a:rPr>
              <a:t>load_dw.hwf runs the 7 pipelines in this order and stops if one fails</a:t>
            </a:r>
            <a:endParaRPr lang="en-US" sz="1200" dirty="0"/>
          </a:p>
        </p:txBody>
      </p:sp>
      <p:pic>
        <p:nvPicPr>
          <p:cNvPr id="16" name="Imagem 15">
            <a:extLst>
              <a:ext uri="{FF2B5EF4-FFF2-40B4-BE49-F238E27FC236}">
                <a16:creationId xmlns:a16="http://schemas.microsoft.com/office/drawing/2014/main" id="{E2A994DA-6077-AAEF-4E65-2D97A00EA611}"/>
              </a:ext>
            </a:extLst>
          </p:cNvPr>
          <p:cNvPicPr>
            <a:picLocks noChangeAspect="1"/>
          </p:cNvPicPr>
          <p:nvPr/>
        </p:nvPicPr>
        <p:blipFill>
          <a:blip r:embed="rId3">
            <a:clrChange>
              <a:clrFrom>
                <a:srgbClr val="EBEBEB"/>
              </a:clrFrom>
              <a:clrTo>
                <a:srgbClr val="EBEBEB">
                  <a:alpha val="0"/>
                </a:srgbClr>
              </a:clrTo>
            </a:clrChange>
          </a:blip>
          <a:stretch>
            <a:fillRect/>
          </a:stretch>
        </p:blipFill>
        <p:spPr>
          <a:xfrm>
            <a:off x="685800" y="1858154"/>
            <a:ext cx="7772400" cy="633585"/>
          </a:xfrm>
          <a:prstGeom prst="rect">
            <a:avLst/>
          </a:prstGeom>
        </p:spPr>
      </p:pic>
    </p:spTree>
    <p:extLst>
      <p:ext uri="{BB962C8B-B14F-4D97-AF65-F5344CB8AC3E}">
        <p14:creationId xmlns:p14="http://schemas.microsoft.com/office/powerpoint/2010/main" val="3576786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Dimension pipelines</a:t>
            </a:r>
            <a:endParaRPr lang="en-US" sz="3000" dirty="0"/>
          </a:p>
        </p:txBody>
      </p:sp>
      <p:sp>
        <p:nvSpPr>
          <p:cNvPr id="9" name="Card dim_country"/>
          <p:cNvSpPr/>
          <p:nvPr/>
        </p:nvSpPr>
        <p:spPr>
          <a:xfrm>
            <a:off x="5577840" y="1595755"/>
            <a:ext cx="2423160" cy="709397"/>
          </a:xfrm>
          <a:prstGeom prst="rect">
            <a:avLst/>
          </a:prstGeom>
          <a:solidFill>
            <a:schemeClr val="bg2"/>
          </a:solidFill>
          <a:ln w="9525">
            <a:solidFill>
              <a:schemeClr val="accent3"/>
            </a:solidFill>
            <a:prstDash val="solid"/>
          </a:ln>
        </p:spPr>
        <p:txBody>
          <a:bodyPr/>
          <a:lstStyle/>
          <a:p>
            <a:endParaRPr lang="pt-PT"/>
          </a:p>
        </p:txBody>
      </p:sp>
      <p:sp>
        <p:nvSpPr>
          <p:cNvPr id="10" name="Card dim_country text"/>
          <p:cNvSpPr txBox="1"/>
          <p:nvPr/>
        </p:nvSpPr>
        <p:spPr>
          <a:xfrm>
            <a:off x="5577840" y="1595755"/>
            <a:ext cx="2423160" cy="709397"/>
          </a:xfrm>
          <a:prstGeom prst="rect">
            <a:avLst/>
          </a:prstGeom>
          <a:noFill/>
          <a:ln/>
        </p:spPr>
        <p:txBody>
          <a:bodyPr wrap="square" rtlCol="0" anchor="t"/>
          <a:lstStyle/>
          <a:p>
            <a:pPr marL="0" indent="0">
              <a:spcAft>
                <a:spcPts val="400"/>
              </a:spcAft>
              <a:buNone/>
            </a:pPr>
            <a:r>
              <a:rPr lang="en-US" sz="1200" b="1" dirty="0">
                <a:solidFill>
                  <a:schemeClr val="accent1"/>
                </a:solidFill>
              </a:rPr>
              <a:t>DIM_COUNTRY · 16 rows</a:t>
            </a:r>
            <a:endParaRPr lang="en-US" sz="1200" dirty="0"/>
          </a:p>
          <a:p>
            <a:pPr marL="0" indent="0">
              <a:spcAft>
                <a:spcPts val="400"/>
              </a:spcAft>
              <a:buNone/>
            </a:pPr>
            <a:r>
              <a:rPr lang="en-US" sz="1200" dirty="0">
                <a:solidFill>
                  <a:schemeClr val="tx1"/>
                </a:solidFill>
              </a:rPr>
              <a:t>From stg_country_mapping, loaded with Insert / Update on iso3_code</a:t>
            </a:r>
            <a:endParaRPr lang="en-US" sz="1200" dirty="0"/>
          </a:p>
        </p:txBody>
      </p:sp>
      <p:sp>
        <p:nvSpPr>
          <p:cNvPr id="11" name="Card dim_time"/>
          <p:cNvSpPr/>
          <p:nvPr/>
        </p:nvSpPr>
        <p:spPr>
          <a:xfrm>
            <a:off x="5577840" y="2961452"/>
            <a:ext cx="2423160" cy="1063359"/>
          </a:xfrm>
          <a:prstGeom prst="rect">
            <a:avLst/>
          </a:prstGeom>
          <a:solidFill>
            <a:schemeClr val="bg2"/>
          </a:solidFill>
          <a:ln w="9525">
            <a:solidFill>
              <a:schemeClr val="accent3"/>
            </a:solidFill>
            <a:prstDash val="solid"/>
          </a:ln>
        </p:spPr>
        <p:txBody>
          <a:bodyPr/>
          <a:lstStyle/>
          <a:p>
            <a:endParaRPr lang="pt-PT"/>
          </a:p>
        </p:txBody>
      </p:sp>
      <p:sp>
        <p:nvSpPr>
          <p:cNvPr id="12" name="Card dim_time text"/>
          <p:cNvSpPr txBox="1"/>
          <p:nvPr/>
        </p:nvSpPr>
        <p:spPr>
          <a:xfrm>
            <a:off x="5577840" y="2961452"/>
            <a:ext cx="2423160" cy="1063359"/>
          </a:xfrm>
          <a:prstGeom prst="rect">
            <a:avLst/>
          </a:prstGeom>
          <a:noFill/>
          <a:ln/>
        </p:spPr>
        <p:txBody>
          <a:bodyPr wrap="square" rtlCol="0" anchor="t"/>
          <a:lstStyle/>
          <a:p>
            <a:pPr marL="0" indent="0">
              <a:spcAft>
                <a:spcPts val="400"/>
              </a:spcAft>
              <a:buNone/>
            </a:pPr>
            <a:r>
              <a:rPr lang="en-US" sz="1200" b="1" dirty="0">
                <a:solidFill>
                  <a:schemeClr val="accent1"/>
                </a:solidFill>
              </a:rPr>
              <a:t>DIM_TIME · 126 rows</a:t>
            </a:r>
            <a:endParaRPr lang="en-US" sz="1200" dirty="0"/>
          </a:p>
          <a:p>
            <a:pPr marL="0" indent="0">
              <a:spcAft>
                <a:spcPts val="400"/>
              </a:spcAft>
              <a:buNone/>
            </a:pPr>
            <a:r>
              <a:rPr lang="en-US" sz="1200" dirty="0">
                <a:solidFill>
                  <a:schemeClr val="tx1"/>
                </a:solidFill>
              </a:rPr>
              <a:t>Year range 1900–2025 from the three sources. Clone row generates one row per year. Calculator derives the decade</a:t>
            </a:r>
            <a:endParaRPr lang="en-US" sz="1200" dirty="0"/>
          </a:p>
        </p:txBody>
      </p:sp>
      <p:sp>
        <p:nvSpPr>
          <p:cNvPr id="13" name="Card dim_sector"/>
          <p:cNvSpPr/>
          <p:nvPr/>
        </p:nvSpPr>
        <p:spPr>
          <a:xfrm>
            <a:off x="5577840" y="4681111"/>
            <a:ext cx="2423160" cy="886378"/>
          </a:xfrm>
          <a:prstGeom prst="rect">
            <a:avLst/>
          </a:prstGeom>
          <a:solidFill>
            <a:schemeClr val="bg2"/>
          </a:solidFill>
          <a:ln w="9525">
            <a:solidFill>
              <a:schemeClr val="accent3"/>
            </a:solidFill>
            <a:prstDash val="solid"/>
          </a:ln>
        </p:spPr>
        <p:txBody>
          <a:bodyPr/>
          <a:lstStyle/>
          <a:p>
            <a:endParaRPr lang="pt-PT"/>
          </a:p>
        </p:txBody>
      </p:sp>
      <p:sp>
        <p:nvSpPr>
          <p:cNvPr id="14" name="Card dim_sector text"/>
          <p:cNvSpPr txBox="1"/>
          <p:nvPr/>
        </p:nvSpPr>
        <p:spPr>
          <a:xfrm>
            <a:off x="5577840" y="4681111"/>
            <a:ext cx="2423160" cy="886378"/>
          </a:xfrm>
          <a:prstGeom prst="rect">
            <a:avLst/>
          </a:prstGeom>
          <a:noFill/>
          <a:ln/>
        </p:spPr>
        <p:txBody>
          <a:bodyPr wrap="square" rtlCol="0" anchor="t"/>
          <a:lstStyle/>
          <a:p>
            <a:pPr marL="0" indent="0">
              <a:spcAft>
                <a:spcPts val="400"/>
              </a:spcAft>
              <a:buNone/>
            </a:pPr>
            <a:r>
              <a:rPr lang="en-US" sz="1200" b="1" dirty="0">
                <a:solidFill>
                  <a:schemeClr val="accent1"/>
                </a:solidFill>
              </a:rPr>
              <a:t>DIM_SECTOR · 4 rows</a:t>
            </a:r>
            <a:endParaRPr lang="en-US" sz="1200" dirty="0"/>
          </a:p>
          <a:p>
            <a:pPr marL="0" indent="0">
              <a:spcAft>
                <a:spcPts val="400"/>
              </a:spcAft>
              <a:buNone/>
            </a:pPr>
            <a:r>
              <a:rPr lang="en-US" sz="1200" dirty="0">
                <a:solidFill>
                  <a:schemeClr val="tx1"/>
                </a:solidFill>
              </a:rPr>
              <a:t>Predefined list Agriculture, Industry, Manufacturing, Services with their broad sector</a:t>
            </a:r>
            <a:endParaRPr lang="en-US" sz="1200" dirty="0"/>
          </a:p>
        </p:txBody>
      </p:sp>
      <p:pic>
        <p:nvPicPr>
          <p:cNvPr id="18" name="Imagem 17" descr="Uma imagem com texto, captura de ecrã, file, Tipo de letra&#10;&#10;Descrição gerada automaticamente">
            <a:extLst>
              <a:ext uri="{FF2B5EF4-FFF2-40B4-BE49-F238E27FC236}">
                <a16:creationId xmlns:a16="http://schemas.microsoft.com/office/drawing/2014/main" id="{164C216F-4AD0-FB0E-C1E7-2473B359A222}"/>
              </a:ext>
            </a:extLst>
          </p:cNvPr>
          <p:cNvPicPr>
            <a:picLocks noChangeAspect="1"/>
          </p:cNvPicPr>
          <p:nvPr/>
        </p:nvPicPr>
        <p:blipFill>
          <a:blip r:embed="rId3">
            <a:clrChange>
              <a:clrFrom>
                <a:srgbClr val="EBEBEB"/>
              </a:clrFrom>
              <a:clrTo>
                <a:srgbClr val="EBEBEB">
                  <a:alpha val="0"/>
                </a:srgbClr>
              </a:clrTo>
            </a:clrChange>
          </a:blip>
          <a:stretch>
            <a:fillRect/>
          </a:stretch>
        </p:blipFill>
        <p:spPr>
          <a:xfrm>
            <a:off x="865775" y="1415288"/>
            <a:ext cx="3964366" cy="1063359"/>
          </a:xfrm>
          <a:prstGeom prst="rect">
            <a:avLst/>
          </a:prstGeom>
        </p:spPr>
      </p:pic>
      <p:pic>
        <p:nvPicPr>
          <p:cNvPr id="20" name="Imagem 19" descr="Uma imagem com texto, captura de ecrã, Tipo de letra, file&#10;&#10;Descrição gerada automaticamente">
            <a:extLst>
              <a:ext uri="{FF2B5EF4-FFF2-40B4-BE49-F238E27FC236}">
                <a16:creationId xmlns:a16="http://schemas.microsoft.com/office/drawing/2014/main" id="{790661AC-E736-E142-4869-EDC9AC22DAC5}"/>
              </a:ext>
            </a:extLst>
          </p:cNvPr>
          <p:cNvPicPr>
            <a:picLocks noChangeAspect="1"/>
          </p:cNvPicPr>
          <p:nvPr/>
        </p:nvPicPr>
        <p:blipFill>
          <a:blip r:embed="rId4">
            <a:clrChange>
              <a:clrFrom>
                <a:srgbClr val="EBEBEB"/>
              </a:clrFrom>
              <a:clrTo>
                <a:srgbClr val="EBEBEB">
                  <a:alpha val="0"/>
                </a:srgbClr>
              </a:clrTo>
            </a:clrChange>
          </a:blip>
          <a:stretch>
            <a:fillRect/>
          </a:stretch>
        </p:blipFill>
        <p:spPr>
          <a:xfrm>
            <a:off x="214671" y="2994660"/>
            <a:ext cx="5089232" cy="868680"/>
          </a:xfrm>
          <a:prstGeom prst="rect">
            <a:avLst/>
          </a:prstGeom>
        </p:spPr>
      </p:pic>
      <p:pic>
        <p:nvPicPr>
          <p:cNvPr id="24" name="Imagem 23" descr="Uma imagem com captura de ecrã, file, diagrama, texto&#10;&#10;Descrição gerada automaticamente">
            <a:extLst>
              <a:ext uri="{FF2B5EF4-FFF2-40B4-BE49-F238E27FC236}">
                <a16:creationId xmlns:a16="http://schemas.microsoft.com/office/drawing/2014/main" id="{E442EE66-409D-4206-2BA5-1BFF9FA78610}"/>
              </a:ext>
            </a:extLst>
          </p:cNvPr>
          <p:cNvPicPr>
            <a:picLocks noChangeAspect="1"/>
          </p:cNvPicPr>
          <p:nvPr/>
        </p:nvPicPr>
        <p:blipFill>
          <a:blip r:embed="rId5">
            <a:clrChange>
              <a:clrFrom>
                <a:srgbClr val="EBEBEB"/>
              </a:clrFrom>
              <a:clrTo>
                <a:srgbClr val="EBEBEB">
                  <a:alpha val="0"/>
                </a:srgbClr>
              </a:clrTo>
            </a:clrChange>
          </a:blip>
          <a:stretch>
            <a:fillRect/>
          </a:stretch>
        </p:blipFill>
        <p:spPr>
          <a:xfrm>
            <a:off x="1143000" y="4579375"/>
            <a:ext cx="3833378" cy="1082094"/>
          </a:xfrm>
          <a:prstGeom prst="rect">
            <a:avLst/>
          </a:prstGeom>
        </p:spPr>
      </p:pic>
    </p:spTree>
    <p:extLst>
      <p:ext uri="{BB962C8B-B14F-4D97-AF65-F5344CB8AC3E}">
        <p14:creationId xmlns:p14="http://schemas.microsoft.com/office/powerpoint/2010/main" val="20856306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Key configurations of the dimensions</a:t>
            </a:r>
            <a:endParaRPr lang="en-US" sz="3000" dirty="0"/>
          </a:p>
        </p:txBody>
      </p:sp>
      <p:pic>
        <p:nvPicPr>
          <p:cNvPr id="12" name="Imagem 11" descr="Uma imagem com texto, captura de ecrã, número, Tipo de letra&#10;&#10;Descrição gerada automaticamente">
            <a:extLst>
              <a:ext uri="{FF2B5EF4-FFF2-40B4-BE49-F238E27FC236}">
                <a16:creationId xmlns:a16="http://schemas.microsoft.com/office/drawing/2014/main" id="{22AE49D0-1A13-EA81-000F-3F17E7664A74}"/>
              </a:ext>
            </a:extLst>
          </p:cNvPr>
          <p:cNvPicPr>
            <a:picLocks noChangeAspect="1"/>
          </p:cNvPicPr>
          <p:nvPr/>
        </p:nvPicPr>
        <p:blipFill>
          <a:blip r:embed="rId3"/>
          <a:stretch>
            <a:fillRect/>
          </a:stretch>
        </p:blipFill>
        <p:spPr>
          <a:xfrm>
            <a:off x="201608" y="1714500"/>
            <a:ext cx="3253753" cy="3429000"/>
          </a:xfrm>
          <a:prstGeom prst="rect">
            <a:avLst/>
          </a:prstGeom>
        </p:spPr>
      </p:pic>
      <p:pic>
        <p:nvPicPr>
          <p:cNvPr id="14" name="Imagem 13" descr="Uma imagem com texto, captura de ecrã, Tipo de letra, número&#10;&#10;Descrição gerada automaticamente">
            <a:extLst>
              <a:ext uri="{FF2B5EF4-FFF2-40B4-BE49-F238E27FC236}">
                <a16:creationId xmlns:a16="http://schemas.microsoft.com/office/drawing/2014/main" id="{B4395F33-AC7C-06BC-9595-1BE7DB87B369}"/>
              </a:ext>
            </a:extLst>
          </p:cNvPr>
          <p:cNvPicPr>
            <a:picLocks noChangeAspect="1"/>
          </p:cNvPicPr>
          <p:nvPr/>
        </p:nvPicPr>
        <p:blipFill>
          <a:blip r:embed="rId4"/>
          <a:stretch>
            <a:fillRect/>
          </a:stretch>
        </p:blipFill>
        <p:spPr>
          <a:xfrm>
            <a:off x="3664407" y="1891047"/>
            <a:ext cx="2962582" cy="1537952"/>
          </a:xfrm>
          <a:prstGeom prst="rect">
            <a:avLst/>
          </a:prstGeom>
        </p:spPr>
      </p:pic>
      <p:pic>
        <p:nvPicPr>
          <p:cNvPr id="16" name="Imagem 15" descr="Uma imagem com texto, captura de ecrã, Tipo de letra, número&#10;&#10;Descrição gerada automaticamente">
            <a:extLst>
              <a:ext uri="{FF2B5EF4-FFF2-40B4-BE49-F238E27FC236}">
                <a16:creationId xmlns:a16="http://schemas.microsoft.com/office/drawing/2014/main" id="{B8CB90DE-8E51-DB7A-2BD5-B390F7F7C057}"/>
              </a:ext>
            </a:extLst>
          </p:cNvPr>
          <p:cNvPicPr>
            <a:picLocks noChangeAspect="1"/>
          </p:cNvPicPr>
          <p:nvPr/>
        </p:nvPicPr>
        <p:blipFill>
          <a:blip r:embed="rId5"/>
          <a:stretch>
            <a:fillRect/>
          </a:stretch>
        </p:blipFill>
        <p:spPr>
          <a:xfrm>
            <a:off x="3664407" y="3428999"/>
            <a:ext cx="2962583" cy="1597113"/>
          </a:xfrm>
          <a:prstGeom prst="rect">
            <a:avLst/>
          </a:prstGeom>
        </p:spPr>
      </p:pic>
      <p:pic>
        <p:nvPicPr>
          <p:cNvPr id="18" name="Imagem 17" descr="Uma imagem com texto, captura de ecrã, Tipo de letra, número&#10;&#10;Descrição gerada automaticamente">
            <a:extLst>
              <a:ext uri="{FF2B5EF4-FFF2-40B4-BE49-F238E27FC236}">
                <a16:creationId xmlns:a16="http://schemas.microsoft.com/office/drawing/2014/main" id="{32EFAE36-9379-DD8D-9701-C6DD9A65FEDB}"/>
              </a:ext>
            </a:extLst>
          </p:cNvPr>
          <p:cNvPicPr>
            <a:picLocks noChangeAspect="1"/>
          </p:cNvPicPr>
          <p:nvPr/>
        </p:nvPicPr>
        <p:blipFill>
          <a:blip r:embed="rId6"/>
          <a:stretch>
            <a:fillRect/>
          </a:stretch>
        </p:blipFill>
        <p:spPr>
          <a:xfrm>
            <a:off x="6836036" y="2276380"/>
            <a:ext cx="2106356" cy="2305239"/>
          </a:xfrm>
          <a:prstGeom prst="rect">
            <a:avLst/>
          </a:prstGeom>
        </p:spPr>
      </p:pic>
    </p:spTree>
    <p:extLst>
      <p:ext uri="{BB962C8B-B14F-4D97-AF65-F5344CB8AC3E}">
        <p14:creationId xmlns:p14="http://schemas.microsoft.com/office/powerpoint/2010/main" val="35243227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172675"/>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Events pipeline (BRIDGE_EVENT)</a:t>
            </a:r>
            <a:endParaRPr lang="en-US" sz="3000" dirty="0"/>
          </a:p>
        </p:txBody>
      </p:sp>
      <p:sp>
        <p:nvSpPr>
          <p:cNvPr id="5" name="Step 1"/>
          <p:cNvSpPr/>
          <p:nvPr/>
        </p:nvSpPr>
        <p:spPr>
          <a:xfrm>
            <a:off x="457200" y="2283968"/>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6" name="Step 1 text"/>
          <p:cNvSpPr txBox="1"/>
          <p:nvPr/>
        </p:nvSpPr>
        <p:spPr>
          <a:xfrm>
            <a:off x="457200" y="2283968"/>
            <a:ext cx="1783080" cy="822960"/>
          </a:xfrm>
          <a:prstGeom prst="rect">
            <a:avLst/>
          </a:prstGeom>
          <a:noFill/>
          <a:ln/>
        </p:spPr>
        <p:txBody>
          <a:bodyPr wrap="square" rtlCol="0" anchor="ctr"/>
          <a:lstStyle/>
          <a:p>
            <a:pPr marL="0" indent="0" algn="ctr">
              <a:buNone/>
            </a:pPr>
            <a:r>
              <a:rPr lang="en-US" sz="1300" b="1" dirty="0">
                <a:solidFill>
                  <a:schemeClr val="bg1"/>
                </a:solidFill>
              </a:rPr>
              <a:t>Read stg_events</a:t>
            </a:r>
            <a:endParaRPr lang="en-US" sz="1300" dirty="0"/>
          </a:p>
        </p:txBody>
      </p:sp>
      <p:sp>
        <p:nvSpPr>
          <p:cNvPr id="7" name="Arrow 1"/>
          <p:cNvSpPr/>
          <p:nvPr/>
        </p:nvSpPr>
        <p:spPr>
          <a:xfrm>
            <a:off x="2286000" y="2558288"/>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8" name="Step 2"/>
          <p:cNvSpPr/>
          <p:nvPr/>
        </p:nvSpPr>
        <p:spPr>
          <a:xfrm>
            <a:off x="2606040" y="2283968"/>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9" name="Step 2 text"/>
          <p:cNvSpPr txBox="1"/>
          <p:nvPr/>
        </p:nvSpPr>
        <p:spPr>
          <a:xfrm>
            <a:off x="2606040" y="2283968"/>
            <a:ext cx="1783080" cy="822960"/>
          </a:xfrm>
          <a:prstGeom prst="rect">
            <a:avLst/>
          </a:prstGeom>
          <a:noFill/>
          <a:ln/>
        </p:spPr>
        <p:txBody>
          <a:bodyPr wrap="square" rtlCol="0" anchor="ctr"/>
          <a:lstStyle/>
          <a:p>
            <a:pPr marL="0" indent="0" algn="ctr">
              <a:buNone/>
            </a:pPr>
            <a:r>
              <a:rPr lang="en-US" sz="1300" b="1" dirty="0">
                <a:solidFill>
                  <a:schemeClr val="bg1"/>
                </a:solidFill>
              </a:rPr>
              <a:t>Lookup country_key</a:t>
            </a:r>
            <a:endParaRPr lang="en-US" sz="1300" dirty="0"/>
          </a:p>
        </p:txBody>
      </p:sp>
      <p:sp>
        <p:nvSpPr>
          <p:cNvPr id="10" name="Arrow 2"/>
          <p:cNvSpPr/>
          <p:nvPr/>
        </p:nvSpPr>
        <p:spPr>
          <a:xfrm>
            <a:off x="4434840" y="2558288"/>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1" name="Step 3"/>
          <p:cNvSpPr/>
          <p:nvPr/>
        </p:nvSpPr>
        <p:spPr>
          <a:xfrm>
            <a:off x="4754880" y="2283968"/>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12" name="Step 3 text"/>
          <p:cNvSpPr txBox="1"/>
          <p:nvPr/>
        </p:nvSpPr>
        <p:spPr>
          <a:xfrm>
            <a:off x="4754880" y="2283968"/>
            <a:ext cx="1783080" cy="822960"/>
          </a:xfrm>
          <a:prstGeom prst="rect">
            <a:avLst/>
          </a:prstGeom>
          <a:noFill/>
          <a:ln/>
        </p:spPr>
        <p:txBody>
          <a:bodyPr wrap="square" rtlCol="0" anchor="ctr"/>
          <a:lstStyle/>
          <a:p>
            <a:pPr marL="0" indent="0" algn="ctr">
              <a:buNone/>
            </a:pPr>
            <a:r>
              <a:rPr lang="en-US" sz="1300" b="1" dirty="0">
                <a:solidFill>
                  <a:schemeClr val="bg1"/>
                </a:solidFill>
              </a:rPr>
              <a:t>Lookup time_key</a:t>
            </a:r>
            <a:endParaRPr lang="en-US" sz="1300" dirty="0"/>
          </a:p>
        </p:txBody>
      </p:sp>
      <p:sp>
        <p:nvSpPr>
          <p:cNvPr id="13" name="Arrow 3"/>
          <p:cNvSpPr/>
          <p:nvPr/>
        </p:nvSpPr>
        <p:spPr>
          <a:xfrm>
            <a:off x="6583680" y="2558288"/>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4" name="Step 4"/>
          <p:cNvSpPr/>
          <p:nvPr/>
        </p:nvSpPr>
        <p:spPr>
          <a:xfrm>
            <a:off x="6903720" y="2283968"/>
            <a:ext cx="1783080" cy="822960"/>
          </a:xfrm>
          <a:prstGeom prst="rect">
            <a:avLst/>
          </a:prstGeom>
          <a:solidFill>
            <a:schemeClr val="accent1"/>
          </a:solidFill>
          <a:ln w="12700">
            <a:solidFill>
              <a:schemeClr val="accent1"/>
            </a:solidFill>
            <a:prstDash val="solid"/>
          </a:ln>
        </p:spPr>
        <p:txBody>
          <a:bodyPr/>
          <a:lstStyle/>
          <a:p>
            <a:endParaRPr lang="pt-PT"/>
          </a:p>
        </p:txBody>
      </p:sp>
      <p:sp>
        <p:nvSpPr>
          <p:cNvPr id="15" name="Step 4 text"/>
          <p:cNvSpPr txBox="1"/>
          <p:nvPr/>
        </p:nvSpPr>
        <p:spPr>
          <a:xfrm>
            <a:off x="6903720" y="2283968"/>
            <a:ext cx="1783080" cy="822960"/>
          </a:xfrm>
          <a:prstGeom prst="rect">
            <a:avLst/>
          </a:prstGeom>
          <a:noFill/>
          <a:ln/>
        </p:spPr>
        <p:txBody>
          <a:bodyPr wrap="square" rtlCol="0" anchor="ctr"/>
          <a:lstStyle/>
          <a:p>
            <a:pPr marL="0" indent="0" algn="ctr">
              <a:buNone/>
            </a:pPr>
            <a:r>
              <a:rPr lang="en-US" sz="1300" b="1" dirty="0">
                <a:solidFill>
                  <a:schemeClr val="bg1"/>
                </a:solidFill>
              </a:rPr>
              <a:t>Load BRIDGE_EVENT</a:t>
            </a:r>
            <a:endParaRPr lang="en-US" sz="1300" dirty="0"/>
          </a:p>
        </p:txBody>
      </p:sp>
      <p:sp>
        <p:nvSpPr>
          <p:cNvPr id="18" name="Stat events"/>
          <p:cNvSpPr/>
          <p:nvPr/>
        </p:nvSpPr>
        <p:spPr>
          <a:xfrm>
            <a:off x="5346290" y="3922488"/>
            <a:ext cx="2799244" cy="1681811"/>
          </a:xfrm>
          <a:prstGeom prst="rect">
            <a:avLst/>
          </a:prstGeom>
          <a:solidFill>
            <a:schemeClr val="bg2"/>
          </a:solidFill>
          <a:ln w="12700">
            <a:solidFill>
              <a:schemeClr val="bg2"/>
            </a:solidFill>
            <a:prstDash val="solid"/>
          </a:ln>
        </p:spPr>
        <p:txBody>
          <a:bodyPr/>
          <a:lstStyle/>
          <a:p>
            <a:endParaRPr lang="pt-PT"/>
          </a:p>
        </p:txBody>
      </p:sp>
      <p:sp>
        <p:nvSpPr>
          <p:cNvPr id="19" name="Stat events text"/>
          <p:cNvSpPr txBox="1"/>
          <p:nvPr/>
        </p:nvSpPr>
        <p:spPr>
          <a:xfrm>
            <a:off x="5346290" y="3922487"/>
            <a:ext cx="2799244" cy="1681811"/>
          </a:xfrm>
          <a:prstGeom prst="rect">
            <a:avLst/>
          </a:prstGeom>
          <a:noFill/>
          <a:ln/>
        </p:spPr>
        <p:txBody>
          <a:bodyPr wrap="square" rtlCol="0" anchor="ctr"/>
          <a:lstStyle/>
          <a:p>
            <a:pPr marL="0" indent="0" algn="ctr">
              <a:buNone/>
            </a:pPr>
            <a:r>
              <a:rPr lang="en-US" sz="3000" b="1" dirty="0">
                <a:solidFill>
                  <a:schemeClr val="accent1"/>
                </a:solidFill>
              </a:rPr>
              <a:t>387</a:t>
            </a:r>
            <a:endParaRPr lang="en-US" sz="3000" dirty="0"/>
          </a:p>
          <a:p>
            <a:pPr marL="0" indent="0" algn="ctr">
              <a:buNone/>
            </a:pPr>
            <a:r>
              <a:rPr lang="en-US" sz="1400" b="1" dirty="0">
                <a:solidFill>
                  <a:schemeClr val="tx1"/>
                </a:solidFill>
              </a:rPr>
              <a:t>events loaded</a:t>
            </a:r>
            <a:endParaRPr lang="en-US" sz="3000" dirty="0"/>
          </a:p>
        </p:txBody>
      </p:sp>
      <p:pic>
        <p:nvPicPr>
          <p:cNvPr id="21" name="Imagem 20" descr="Uma imagem com file, Tipo de letra, captura de ecrã, texto&#10;&#10;Descrição gerada automaticamente">
            <a:extLst>
              <a:ext uri="{FF2B5EF4-FFF2-40B4-BE49-F238E27FC236}">
                <a16:creationId xmlns:a16="http://schemas.microsoft.com/office/drawing/2014/main" id="{53408133-2454-0AE1-CEFF-EA7AE438CDCA}"/>
              </a:ext>
            </a:extLst>
          </p:cNvPr>
          <p:cNvPicPr>
            <a:picLocks noChangeAspect="1"/>
          </p:cNvPicPr>
          <p:nvPr/>
        </p:nvPicPr>
        <p:blipFill>
          <a:blip r:embed="rId3">
            <a:clrChange>
              <a:clrFrom>
                <a:srgbClr val="EBEBEB"/>
              </a:clrFrom>
              <a:clrTo>
                <a:srgbClr val="EBEBEB">
                  <a:alpha val="0"/>
                </a:srgbClr>
              </a:clrTo>
            </a:clrChange>
          </a:blip>
          <a:stretch>
            <a:fillRect/>
          </a:stretch>
        </p:blipFill>
        <p:spPr>
          <a:xfrm>
            <a:off x="685800" y="1089228"/>
            <a:ext cx="7772400" cy="1097159"/>
          </a:xfrm>
          <a:prstGeom prst="rect">
            <a:avLst/>
          </a:prstGeom>
        </p:spPr>
      </p:pic>
      <p:pic>
        <p:nvPicPr>
          <p:cNvPr id="23" name="Imagem 22" descr="Uma imagem com texto, captura de ecrã, Tipo de letra, número&#10;&#10;Descrição gerada automaticamente">
            <a:extLst>
              <a:ext uri="{FF2B5EF4-FFF2-40B4-BE49-F238E27FC236}">
                <a16:creationId xmlns:a16="http://schemas.microsoft.com/office/drawing/2014/main" id="{234C749D-0B6E-7EC6-B113-169855B7A861}"/>
              </a:ext>
            </a:extLst>
          </p:cNvPr>
          <p:cNvPicPr>
            <a:picLocks noChangeAspect="1"/>
          </p:cNvPicPr>
          <p:nvPr/>
        </p:nvPicPr>
        <p:blipFill>
          <a:blip r:embed="rId4"/>
          <a:stretch>
            <a:fillRect/>
          </a:stretch>
        </p:blipFill>
        <p:spPr>
          <a:xfrm>
            <a:off x="1157707" y="3429000"/>
            <a:ext cx="3597173" cy="2704924"/>
          </a:xfrm>
          <a:prstGeom prst="rect">
            <a:avLst/>
          </a:prstGeom>
        </p:spPr>
      </p:pic>
    </p:spTree>
    <p:extLst>
      <p:ext uri="{BB962C8B-B14F-4D97-AF65-F5344CB8AC3E}">
        <p14:creationId xmlns:p14="http://schemas.microsoft.com/office/powerpoint/2010/main" val="27696039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167393"/>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Facts</a:t>
            </a:r>
            <a:r>
              <a:rPr lang="en-US" b="1" dirty="0"/>
              <a:t> went </a:t>
            </a:r>
            <a:r>
              <a:rPr lang="en-US" sz="3000" b="1" dirty="0">
                <a:solidFill>
                  <a:schemeClr val="accent1"/>
                </a:solidFill>
              </a:rPr>
              <a:t>from long to wide format</a:t>
            </a:r>
            <a:endParaRPr lang="en-US" sz="3000" dirty="0"/>
          </a:p>
        </p:txBody>
      </p:sp>
      <p:sp>
        <p:nvSpPr>
          <p:cNvPr id="3" name="Code: long format"/>
          <p:cNvSpPr/>
          <p:nvPr/>
        </p:nvSpPr>
        <p:spPr>
          <a:xfrm>
            <a:off x="457200" y="1367277"/>
            <a:ext cx="3749040" cy="777240"/>
          </a:xfrm>
          <a:prstGeom prst="rect">
            <a:avLst/>
          </a:prstGeom>
          <a:solidFill>
            <a:schemeClr val="bg2"/>
          </a:solidFill>
          <a:ln w="9525">
            <a:solidFill>
              <a:schemeClr val="accent3"/>
            </a:solidFill>
            <a:prstDash val="solid"/>
          </a:ln>
        </p:spPr>
        <p:txBody>
          <a:bodyPr/>
          <a:lstStyle/>
          <a:p>
            <a:endParaRPr lang="pt-PT"/>
          </a:p>
        </p:txBody>
      </p:sp>
      <p:sp>
        <p:nvSpPr>
          <p:cNvPr id="4" name="Code: long format text"/>
          <p:cNvSpPr txBox="1"/>
          <p:nvPr/>
        </p:nvSpPr>
        <p:spPr>
          <a:xfrm>
            <a:off x="457200" y="1367278"/>
            <a:ext cx="3749040" cy="777240"/>
          </a:xfrm>
          <a:prstGeom prst="rect">
            <a:avLst/>
          </a:prstGeom>
          <a:noFill/>
          <a:ln/>
        </p:spPr>
        <p:txBody>
          <a:bodyPr wrap="square" rtlCol="0" anchor="ctr"/>
          <a:lstStyle/>
          <a:p>
            <a:pPr marL="0" indent="0">
              <a:buNone/>
            </a:pPr>
            <a:r>
              <a:rPr lang="en-US" sz="1100" dirty="0">
                <a:solidFill>
                  <a:schemeClr val="accent1"/>
                </a:solidFill>
                <a:latin typeface="Courier New" pitchFamily="34" charset="0"/>
                <a:ea typeface="Courier New" pitchFamily="34" charset="-122"/>
                <a:cs typeface="Courier New" pitchFamily="34" charset="-120"/>
              </a:rPr>
              <a:t>country | year | indicator | value</a:t>
            </a:r>
            <a:endParaRPr lang="en-US" sz="1100" dirty="0">
              <a:solidFill>
                <a:schemeClr val="accent1"/>
              </a:solidFill>
            </a:endParaRPr>
          </a:p>
          <a:p>
            <a:pPr marL="0" indent="0">
              <a:buNone/>
            </a:pPr>
            <a:r>
              <a:rPr lang="en-US" sz="1100" dirty="0">
                <a:solidFill>
                  <a:schemeClr val="accent1"/>
                </a:solidFill>
                <a:latin typeface="Courier New" pitchFamily="34" charset="0"/>
                <a:ea typeface="Courier New" pitchFamily="34" charset="-122"/>
                <a:cs typeface="Courier New" pitchFamily="34" charset="-120"/>
              </a:rPr>
              <a:t>PRT     | 2000 | gdppc     | 23372</a:t>
            </a:r>
            <a:endParaRPr lang="en-US" sz="1100" dirty="0">
              <a:solidFill>
                <a:schemeClr val="accent1"/>
              </a:solidFill>
            </a:endParaRPr>
          </a:p>
          <a:p>
            <a:pPr marL="0" indent="0">
              <a:buNone/>
            </a:pPr>
            <a:r>
              <a:rPr lang="en-US" sz="1100" dirty="0">
                <a:solidFill>
                  <a:schemeClr val="accent1"/>
                </a:solidFill>
                <a:latin typeface="Courier New" pitchFamily="34" charset="0"/>
                <a:ea typeface="Courier New" pitchFamily="34" charset="-122"/>
                <a:cs typeface="Courier New" pitchFamily="34" charset="-120"/>
              </a:rPr>
              <a:t>PRT     | 2000 | gdp       | 2.39e11</a:t>
            </a:r>
            <a:endParaRPr lang="en-US" sz="1100" dirty="0">
              <a:solidFill>
                <a:schemeClr val="accent1"/>
              </a:solidFill>
            </a:endParaRPr>
          </a:p>
          <a:p>
            <a:pPr marL="0" indent="0">
              <a:buNone/>
            </a:pPr>
            <a:r>
              <a:rPr lang="en-US" sz="1100" dirty="0">
                <a:solidFill>
                  <a:schemeClr val="accent1"/>
                </a:solidFill>
                <a:latin typeface="Courier New" pitchFamily="34" charset="0"/>
                <a:ea typeface="Courier New" pitchFamily="34" charset="-122"/>
                <a:cs typeface="Courier New" pitchFamily="34" charset="-120"/>
              </a:rPr>
              <a:t>PRT     | 2000 | NE.EXP... | 28.2</a:t>
            </a:r>
            <a:endParaRPr lang="en-US" sz="1100" dirty="0">
              <a:solidFill>
                <a:schemeClr val="accent1"/>
              </a:solidFill>
            </a:endParaRPr>
          </a:p>
        </p:txBody>
      </p:sp>
      <p:sp>
        <p:nvSpPr>
          <p:cNvPr id="5" name="Pivot arrow"/>
          <p:cNvSpPr/>
          <p:nvPr/>
        </p:nvSpPr>
        <p:spPr>
          <a:xfrm>
            <a:off x="4389120" y="1569331"/>
            <a:ext cx="274320" cy="365760"/>
          </a:xfrm>
          <a:prstGeom prst="rightArrow">
            <a:avLst/>
          </a:prstGeom>
          <a:solidFill>
            <a:schemeClr val="accent3"/>
          </a:solidFill>
          <a:ln w="12700">
            <a:solidFill>
              <a:schemeClr val="accent3"/>
            </a:solidFill>
            <a:prstDash val="solid"/>
          </a:ln>
        </p:spPr>
        <p:txBody>
          <a:bodyPr/>
          <a:lstStyle/>
          <a:p>
            <a:endParaRPr lang="pt-PT"/>
          </a:p>
        </p:txBody>
      </p:sp>
      <p:sp>
        <p:nvSpPr>
          <p:cNvPr id="6" name="Code: wide format"/>
          <p:cNvSpPr/>
          <p:nvPr/>
        </p:nvSpPr>
        <p:spPr>
          <a:xfrm>
            <a:off x="4846320" y="1553845"/>
            <a:ext cx="3657600" cy="396731"/>
          </a:xfrm>
          <a:prstGeom prst="rect">
            <a:avLst/>
          </a:prstGeom>
          <a:solidFill>
            <a:schemeClr val="bg2"/>
          </a:solidFill>
          <a:ln w="9525">
            <a:solidFill>
              <a:schemeClr val="accent3"/>
            </a:solidFill>
            <a:prstDash val="solid"/>
          </a:ln>
        </p:spPr>
        <p:txBody>
          <a:bodyPr/>
          <a:lstStyle/>
          <a:p>
            <a:endParaRPr lang="pt-PT"/>
          </a:p>
        </p:txBody>
      </p:sp>
      <p:sp>
        <p:nvSpPr>
          <p:cNvPr id="7" name="Code: wide format text"/>
          <p:cNvSpPr txBox="1"/>
          <p:nvPr/>
        </p:nvSpPr>
        <p:spPr>
          <a:xfrm>
            <a:off x="4846320" y="1553845"/>
            <a:ext cx="3657600" cy="396732"/>
          </a:xfrm>
          <a:prstGeom prst="rect">
            <a:avLst/>
          </a:prstGeom>
          <a:noFill/>
          <a:ln/>
        </p:spPr>
        <p:txBody>
          <a:bodyPr wrap="square" rtlCol="0" anchor="ctr"/>
          <a:lstStyle/>
          <a:p>
            <a:pPr marL="0" indent="0">
              <a:buNone/>
            </a:pPr>
            <a:r>
              <a:rPr lang="en-US" sz="1100" dirty="0">
                <a:solidFill>
                  <a:schemeClr val="accent1"/>
                </a:solidFill>
                <a:latin typeface="Courier New" pitchFamily="34" charset="0"/>
                <a:ea typeface="Courier New" pitchFamily="34" charset="-122"/>
                <a:cs typeface="Courier New" pitchFamily="34" charset="-120"/>
              </a:rPr>
              <a:t>country | year | gdp_pc | exports</a:t>
            </a:r>
            <a:endParaRPr lang="en-US" sz="1100" dirty="0">
              <a:solidFill>
                <a:schemeClr val="accent1"/>
              </a:solidFill>
            </a:endParaRPr>
          </a:p>
          <a:p>
            <a:pPr marL="0" indent="0">
              <a:buNone/>
            </a:pPr>
            <a:r>
              <a:rPr lang="en-US" sz="1100" dirty="0">
                <a:solidFill>
                  <a:schemeClr val="accent1"/>
                </a:solidFill>
                <a:latin typeface="Courier New" pitchFamily="34" charset="0"/>
                <a:ea typeface="Courier New" pitchFamily="34" charset="-122"/>
                <a:cs typeface="Courier New" pitchFamily="34" charset="-120"/>
              </a:rPr>
              <a:t>PRT     | 2000 | 23372  | 28.2</a:t>
            </a:r>
            <a:endParaRPr lang="en-US" sz="1100" dirty="0">
              <a:solidFill>
                <a:schemeClr val="accent1"/>
              </a:solidFill>
            </a:endParaRPr>
          </a:p>
        </p:txBody>
      </p:sp>
      <p:sp>
        <p:nvSpPr>
          <p:cNvPr id="8" name="Step 1"/>
          <p:cNvSpPr/>
          <p:nvPr/>
        </p:nvSpPr>
        <p:spPr>
          <a:xfrm>
            <a:off x="457200" y="2375278"/>
            <a:ext cx="1353312" cy="822960"/>
          </a:xfrm>
          <a:prstGeom prst="rect">
            <a:avLst/>
          </a:prstGeom>
          <a:solidFill>
            <a:schemeClr val="accent1"/>
          </a:solidFill>
          <a:ln w="12700">
            <a:solidFill>
              <a:schemeClr val="accent1"/>
            </a:solidFill>
            <a:prstDash val="solid"/>
          </a:ln>
        </p:spPr>
        <p:txBody>
          <a:bodyPr/>
          <a:lstStyle/>
          <a:p>
            <a:endParaRPr lang="pt-PT"/>
          </a:p>
        </p:txBody>
      </p:sp>
      <p:sp>
        <p:nvSpPr>
          <p:cNvPr id="9" name="Step 1 text"/>
          <p:cNvSpPr txBox="1"/>
          <p:nvPr/>
        </p:nvSpPr>
        <p:spPr>
          <a:xfrm>
            <a:off x="457200" y="2375278"/>
            <a:ext cx="1353312" cy="822960"/>
          </a:xfrm>
          <a:prstGeom prst="rect">
            <a:avLst/>
          </a:prstGeom>
          <a:noFill/>
          <a:ln/>
        </p:spPr>
        <p:txBody>
          <a:bodyPr wrap="square" rtlCol="0" anchor="ctr"/>
          <a:lstStyle/>
          <a:p>
            <a:pPr marL="0" indent="0" algn="ctr">
              <a:buNone/>
            </a:pPr>
            <a:r>
              <a:rPr lang="en-US" sz="1300" b="1" dirty="0">
                <a:solidFill>
                  <a:schemeClr val="bg1"/>
                </a:solidFill>
              </a:rPr>
              <a:t>Read Maddison + WDI</a:t>
            </a:r>
            <a:endParaRPr lang="en-US" sz="1300" dirty="0"/>
          </a:p>
        </p:txBody>
      </p:sp>
      <p:sp>
        <p:nvSpPr>
          <p:cNvPr id="10" name="Arrow 1"/>
          <p:cNvSpPr/>
          <p:nvPr/>
        </p:nvSpPr>
        <p:spPr>
          <a:xfrm>
            <a:off x="1856232" y="2649598"/>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1" name="Step 2"/>
          <p:cNvSpPr/>
          <p:nvPr/>
        </p:nvSpPr>
        <p:spPr>
          <a:xfrm>
            <a:off x="2176272" y="2375278"/>
            <a:ext cx="1353312" cy="822960"/>
          </a:xfrm>
          <a:prstGeom prst="rect">
            <a:avLst/>
          </a:prstGeom>
          <a:solidFill>
            <a:schemeClr val="accent1"/>
          </a:solidFill>
          <a:ln w="12700">
            <a:solidFill>
              <a:schemeClr val="accent1"/>
            </a:solidFill>
            <a:prstDash val="solid"/>
          </a:ln>
        </p:spPr>
        <p:txBody>
          <a:bodyPr/>
          <a:lstStyle/>
          <a:p>
            <a:endParaRPr lang="pt-PT"/>
          </a:p>
        </p:txBody>
      </p:sp>
      <p:sp>
        <p:nvSpPr>
          <p:cNvPr id="12" name="Step 2 text"/>
          <p:cNvSpPr txBox="1"/>
          <p:nvPr/>
        </p:nvSpPr>
        <p:spPr>
          <a:xfrm>
            <a:off x="2176272" y="2375278"/>
            <a:ext cx="1353312" cy="822960"/>
          </a:xfrm>
          <a:prstGeom prst="rect">
            <a:avLst/>
          </a:prstGeom>
          <a:noFill/>
          <a:ln/>
        </p:spPr>
        <p:txBody>
          <a:bodyPr wrap="square" rtlCol="0" anchor="ctr"/>
          <a:lstStyle/>
          <a:p>
            <a:pPr marL="0" indent="0" algn="ctr">
              <a:buNone/>
            </a:pPr>
            <a:r>
              <a:rPr lang="en-US" sz="1300" b="1" dirty="0">
                <a:solidFill>
                  <a:schemeClr val="bg1"/>
                </a:solidFill>
              </a:rPr>
              <a:t>Sort by country, year</a:t>
            </a:r>
            <a:endParaRPr lang="en-US" sz="1300" dirty="0"/>
          </a:p>
        </p:txBody>
      </p:sp>
      <p:sp>
        <p:nvSpPr>
          <p:cNvPr id="13" name="Arrow 2"/>
          <p:cNvSpPr/>
          <p:nvPr/>
        </p:nvSpPr>
        <p:spPr>
          <a:xfrm>
            <a:off x="3575304" y="2649598"/>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4" name="Step 3"/>
          <p:cNvSpPr/>
          <p:nvPr/>
        </p:nvSpPr>
        <p:spPr>
          <a:xfrm>
            <a:off x="3895344" y="2375278"/>
            <a:ext cx="1353312" cy="822960"/>
          </a:xfrm>
          <a:prstGeom prst="rect">
            <a:avLst/>
          </a:prstGeom>
          <a:solidFill>
            <a:schemeClr val="accent1"/>
          </a:solidFill>
          <a:ln w="12700">
            <a:solidFill>
              <a:schemeClr val="accent1"/>
            </a:solidFill>
            <a:prstDash val="solid"/>
          </a:ln>
        </p:spPr>
        <p:txBody>
          <a:bodyPr/>
          <a:lstStyle/>
          <a:p>
            <a:endParaRPr lang="pt-PT"/>
          </a:p>
        </p:txBody>
      </p:sp>
      <p:sp>
        <p:nvSpPr>
          <p:cNvPr id="15" name="Step 3 text"/>
          <p:cNvSpPr txBox="1"/>
          <p:nvPr/>
        </p:nvSpPr>
        <p:spPr>
          <a:xfrm>
            <a:off x="3895344" y="2375278"/>
            <a:ext cx="1353312" cy="822960"/>
          </a:xfrm>
          <a:prstGeom prst="rect">
            <a:avLst/>
          </a:prstGeom>
          <a:noFill/>
          <a:ln/>
        </p:spPr>
        <p:txBody>
          <a:bodyPr wrap="square" rtlCol="0" anchor="ctr"/>
          <a:lstStyle/>
          <a:p>
            <a:pPr marL="0" indent="0" algn="ctr">
              <a:buNone/>
            </a:pPr>
            <a:r>
              <a:rPr lang="en-US" sz="1300" b="1" dirty="0">
                <a:solidFill>
                  <a:schemeClr val="bg1"/>
                </a:solidFill>
              </a:rPr>
              <a:t>Row denormaliser</a:t>
            </a:r>
            <a:endParaRPr lang="en-US" sz="1300" dirty="0"/>
          </a:p>
        </p:txBody>
      </p:sp>
      <p:sp>
        <p:nvSpPr>
          <p:cNvPr id="16" name="Arrow 3"/>
          <p:cNvSpPr/>
          <p:nvPr/>
        </p:nvSpPr>
        <p:spPr>
          <a:xfrm>
            <a:off x="5294376" y="2649598"/>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17" name="Step 4"/>
          <p:cNvSpPr/>
          <p:nvPr/>
        </p:nvSpPr>
        <p:spPr>
          <a:xfrm>
            <a:off x="5614416" y="2375278"/>
            <a:ext cx="1353312" cy="822960"/>
          </a:xfrm>
          <a:prstGeom prst="rect">
            <a:avLst/>
          </a:prstGeom>
          <a:solidFill>
            <a:schemeClr val="accent1"/>
          </a:solidFill>
          <a:ln w="12700">
            <a:solidFill>
              <a:schemeClr val="accent1"/>
            </a:solidFill>
            <a:prstDash val="solid"/>
          </a:ln>
        </p:spPr>
        <p:txBody>
          <a:bodyPr/>
          <a:lstStyle/>
          <a:p>
            <a:endParaRPr lang="pt-PT"/>
          </a:p>
        </p:txBody>
      </p:sp>
      <p:sp>
        <p:nvSpPr>
          <p:cNvPr id="18" name="Step 4 text"/>
          <p:cNvSpPr txBox="1"/>
          <p:nvPr/>
        </p:nvSpPr>
        <p:spPr>
          <a:xfrm>
            <a:off x="5614416" y="2375278"/>
            <a:ext cx="1353312" cy="822960"/>
          </a:xfrm>
          <a:prstGeom prst="rect">
            <a:avLst/>
          </a:prstGeom>
          <a:noFill/>
          <a:ln/>
        </p:spPr>
        <p:txBody>
          <a:bodyPr wrap="square" rtlCol="0" anchor="ctr"/>
          <a:lstStyle/>
          <a:p>
            <a:pPr marL="0" indent="0" algn="ctr">
              <a:buNone/>
            </a:pPr>
            <a:r>
              <a:rPr lang="en-US" sz="1300" b="1" dirty="0">
                <a:solidFill>
                  <a:schemeClr val="bg1"/>
                </a:solidFill>
              </a:rPr>
              <a:t>Key lookups</a:t>
            </a:r>
            <a:endParaRPr lang="en-US" sz="1300" dirty="0"/>
          </a:p>
        </p:txBody>
      </p:sp>
      <p:sp>
        <p:nvSpPr>
          <p:cNvPr id="19" name="Arrow 4"/>
          <p:cNvSpPr/>
          <p:nvPr/>
        </p:nvSpPr>
        <p:spPr>
          <a:xfrm>
            <a:off x="7013448" y="2649598"/>
            <a:ext cx="274320" cy="274320"/>
          </a:xfrm>
          <a:prstGeom prst="rightArrow">
            <a:avLst/>
          </a:prstGeom>
          <a:solidFill>
            <a:schemeClr val="accent3"/>
          </a:solidFill>
          <a:ln w="12700">
            <a:solidFill>
              <a:schemeClr val="accent3"/>
            </a:solidFill>
            <a:prstDash val="solid"/>
          </a:ln>
        </p:spPr>
        <p:txBody>
          <a:bodyPr/>
          <a:lstStyle/>
          <a:p>
            <a:endParaRPr lang="pt-PT"/>
          </a:p>
        </p:txBody>
      </p:sp>
      <p:sp>
        <p:nvSpPr>
          <p:cNvPr id="20" name="Step 5"/>
          <p:cNvSpPr/>
          <p:nvPr/>
        </p:nvSpPr>
        <p:spPr>
          <a:xfrm>
            <a:off x="7333488" y="2375278"/>
            <a:ext cx="1353312" cy="822960"/>
          </a:xfrm>
          <a:prstGeom prst="rect">
            <a:avLst/>
          </a:prstGeom>
          <a:solidFill>
            <a:schemeClr val="accent1"/>
          </a:solidFill>
          <a:ln w="12700">
            <a:solidFill>
              <a:schemeClr val="accent1"/>
            </a:solidFill>
            <a:prstDash val="solid"/>
          </a:ln>
        </p:spPr>
        <p:txBody>
          <a:bodyPr/>
          <a:lstStyle/>
          <a:p>
            <a:endParaRPr lang="pt-PT"/>
          </a:p>
        </p:txBody>
      </p:sp>
      <p:sp>
        <p:nvSpPr>
          <p:cNvPr id="21" name="Step 5 text"/>
          <p:cNvSpPr txBox="1"/>
          <p:nvPr/>
        </p:nvSpPr>
        <p:spPr>
          <a:xfrm>
            <a:off x="7333488" y="2375278"/>
            <a:ext cx="1353312" cy="822960"/>
          </a:xfrm>
          <a:prstGeom prst="rect">
            <a:avLst/>
          </a:prstGeom>
          <a:noFill/>
          <a:ln/>
        </p:spPr>
        <p:txBody>
          <a:bodyPr wrap="square" rtlCol="0" anchor="ctr"/>
          <a:lstStyle/>
          <a:p>
            <a:pPr marL="0" indent="0" algn="ctr">
              <a:buNone/>
            </a:pPr>
            <a:r>
              <a:rPr lang="en-US" sz="1300" b="1" dirty="0">
                <a:solidFill>
                  <a:schemeClr val="bg1"/>
                </a:solidFill>
              </a:rPr>
              <a:t>Table output</a:t>
            </a:r>
            <a:endParaRPr lang="en-US" sz="1300" dirty="0"/>
          </a:p>
        </p:txBody>
      </p:sp>
      <p:sp>
        <p:nvSpPr>
          <p:cNvPr id="24" name="Pivot note"/>
          <p:cNvSpPr/>
          <p:nvPr/>
        </p:nvSpPr>
        <p:spPr>
          <a:xfrm>
            <a:off x="4572000" y="5169618"/>
            <a:ext cx="2926080" cy="440978"/>
          </a:xfrm>
          <a:prstGeom prst="rect">
            <a:avLst/>
          </a:prstGeom>
          <a:solidFill>
            <a:schemeClr val="bg2"/>
          </a:solidFill>
          <a:ln w="9525">
            <a:solidFill>
              <a:schemeClr val="accent3"/>
            </a:solidFill>
            <a:prstDash val="solid"/>
          </a:ln>
        </p:spPr>
        <p:txBody>
          <a:bodyPr/>
          <a:lstStyle/>
          <a:p>
            <a:endParaRPr lang="pt-PT"/>
          </a:p>
        </p:txBody>
      </p:sp>
      <p:sp>
        <p:nvSpPr>
          <p:cNvPr id="25" name="Pivot note text"/>
          <p:cNvSpPr txBox="1"/>
          <p:nvPr/>
        </p:nvSpPr>
        <p:spPr>
          <a:xfrm>
            <a:off x="4572000" y="5169619"/>
            <a:ext cx="2926080" cy="440977"/>
          </a:xfrm>
          <a:prstGeom prst="rect">
            <a:avLst/>
          </a:prstGeom>
          <a:noFill/>
          <a:ln/>
        </p:spPr>
        <p:txBody>
          <a:bodyPr wrap="square" rtlCol="0" anchor="ctr"/>
          <a:lstStyle/>
          <a:p>
            <a:pPr marL="0" indent="0">
              <a:spcAft>
                <a:spcPts val="400"/>
              </a:spcAft>
              <a:buNone/>
            </a:pPr>
            <a:r>
              <a:rPr lang="en-US" sz="1200" dirty="0">
                <a:solidFill>
                  <a:schemeClr val="tx1"/>
                </a:solidFill>
              </a:rPr>
              <a:t>Both sources share the same long layout, so they are joined in one stream</a:t>
            </a:r>
            <a:endParaRPr lang="en-US" sz="1200" dirty="0"/>
          </a:p>
        </p:txBody>
      </p:sp>
      <p:pic>
        <p:nvPicPr>
          <p:cNvPr id="27" name="Imagem 26" descr="Uma imagem com texto, captura de ecrã, software, número&#10;&#10;Descrição gerada automaticamente">
            <a:extLst>
              <a:ext uri="{FF2B5EF4-FFF2-40B4-BE49-F238E27FC236}">
                <a16:creationId xmlns:a16="http://schemas.microsoft.com/office/drawing/2014/main" id="{E54C03C2-FA2A-8213-4FB8-9D67C33A8FCA}"/>
              </a:ext>
            </a:extLst>
          </p:cNvPr>
          <p:cNvPicPr>
            <a:picLocks noChangeAspect="1"/>
          </p:cNvPicPr>
          <p:nvPr/>
        </p:nvPicPr>
        <p:blipFill>
          <a:blip r:embed="rId3"/>
          <a:stretch>
            <a:fillRect/>
          </a:stretch>
        </p:blipFill>
        <p:spPr>
          <a:xfrm>
            <a:off x="969264" y="3429000"/>
            <a:ext cx="3238500" cy="2787650"/>
          </a:xfrm>
          <a:prstGeom prst="rect">
            <a:avLst/>
          </a:prstGeom>
        </p:spPr>
      </p:pic>
      <p:pic>
        <p:nvPicPr>
          <p:cNvPr id="29" name="Imagem 28" descr="Uma imagem com file, diagrama, captura de ecrã, Tipo de letra&#10;&#10;Descrição gerada automaticamente">
            <a:extLst>
              <a:ext uri="{FF2B5EF4-FFF2-40B4-BE49-F238E27FC236}">
                <a16:creationId xmlns:a16="http://schemas.microsoft.com/office/drawing/2014/main" id="{5E5469C6-66B6-E409-0BA8-3447E8D640A3}"/>
              </a:ext>
            </a:extLst>
          </p:cNvPr>
          <p:cNvPicPr>
            <a:picLocks noChangeAspect="1"/>
          </p:cNvPicPr>
          <p:nvPr/>
        </p:nvPicPr>
        <p:blipFill>
          <a:blip r:embed="rId4">
            <a:clrChange>
              <a:clrFrom>
                <a:srgbClr val="EBEBEB"/>
              </a:clrFrom>
              <a:clrTo>
                <a:srgbClr val="EBEBEB">
                  <a:alpha val="0"/>
                </a:srgbClr>
              </a:clrTo>
            </a:clrChange>
          </a:blip>
          <a:stretch>
            <a:fillRect/>
          </a:stretch>
        </p:blipFill>
        <p:spPr>
          <a:xfrm>
            <a:off x="4389120" y="3752972"/>
            <a:ext cx="4372443" cy="1069853"/>
          </a:xfrm>
          <a:prstGeom prst="rect">
            <a:avLst/>
          </a:prstGeom>
        </p:spPr>
      </p:pic>
    </p:spTree>
    <p:extLst>
      <p:ext uri="{BB962C8B-B14F-4D97-AF65-F5344CB8AC3E}">
        <p14:creationId xmlns:p14="http://schemas.microsoft.com/office/powerpoint/2010/main" val="23517286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FACT_ECONOMY and FACT_SOCIETY</a:t>
            </a:r>
            <a:endParaRPr lang="en-US" sz="3000" dirty="0"/>
          </a:p>
        </p:txBody>
      </p:sp>
      <p:sp>
        <p:nvSpPr>
          <p:cNvPr id="11" name="Stat economy"/>
          <p:cNvSpPr/>
          <p:nvPr/>
        </p:nvSpPr>
        <p:spPr>
          <a:xfrm>
            <a:off x="457200" y="4560714"/>
            <a:ext cx="3977640" cy="822960"/>
          </a:xfrm>
          <a:prstGeom prst="rect">
            <a:avLst/>
          </a:prstGeom>
          <a:solidFill>
            <a:schemeClr val="bg2"/>
          </a:solidFill>
          <a:ln w="12700">
            <a:solidFill>
              <a:schemeClr val="bg2"/>
            </a:solidFill>
            <a:prstDash val="solid"/>
          </a:ln>
        </p:spPr>
        <p:txBody>
          <a:bodyPr/>
          <a:lstStyle/>
          <a:p>
            <a:endParaRPr lang="pt-PT"/>
          </a:p>
        </p:txBody>
      </p:sp>
      <p:sp>
        <p:nvSpPr>
          <p:cNvPr id="12" name="Stat economy text"/>
          <p:cNvSpPr txBox="1"/>
          <p:nvPr/>
        </p:nvSpPr>
        <p:spPr>
          <a:xfrm>
            <a:off x="548640" y="4560714"/>
            <a:ext cx="3794760" cy="822960"/>
          </a:xfrm>
          <a:prstGeom prst="rect">
            <a:avLst/>
          </a:prstGeom>
          <a:noFill/>
          <a:ln/>
        </p:spPr>
        <p:txBody>
          <a:bodyPr wrap="square" rtlCol="0" anchor="ctr"/>
          <a:lstStyle/>
          <a:p>
            <a:pPr marL="0" indent="0" algn="ctr">
              <a:buNone/>
            </a:pPr>
            <a:r>
              <a:rPr lang="en-US" sz="2200" b="1" dirty="0">
                <a:solidFill>
                  <a:schemeClr val="accent1"/>
                </a:solidFill>
              </a:rPr>
              <a:t>1,571 rows</a:t>
            </a:r>
            <a:endParaRPr lang="en-US" sz="2200" dirty="0"/>
          </a:p>
          <a:p>
            <a:pPr marL="0" indent="0" algn="ctr">
              <a:buNone/>
            </a:pPr>
            <a:r>
              <a:rPr lang="en-US" sz="1200" dirty="0">
                <a:solidFill>
                  <a:schemeClr val="accent2"/>
                </a:solidFill>
              </a:rPr>
              <a:t>FACT_ECONOMY</a:t>
            </a:r>
            <a:endParaRPr lang="en-US" sz="2200" dirty="0"/>
          </a:p>
        </p:txBody>
      </p:sp>
      <p:sp>
        <p:nvSpPr>
          <p:cNvPr id="13" name="Stat society"/>
          <p:cNvSpPr/>
          <p:nvPr/>
        </p:nvSpPr>
        <p:spPr>
          <a:xfrm>
            <a:off x="4709160" y="4560714"/>
            <a:ext cx="3977640" cy="822960"/>
          </a:xfrm>
          <a:prstGeom prst="rect">
            <a:avLst/>
          </a:prstGeom>
          <a:solidFill>
            <a:schemeClr val="bg2"/>
          </a:solidFill>
          <a:ln w="12700">
            <a:solidFill>
              <a:schemeClr val="bg2"/>
            </a:solidFill>
            <a:prstDash val="solid"/>
          </a:ln>
        </p:spPr>
        <p:txBody>
          <a:bodyPr/>
          <a:lstStyle/>
          <a:p>
            <a:endParaRPr lang="pt-PT"/>
          </a:p>
        </p:txBody>
      </p:sp>
      <p:sp>
        <p:nvSpPr>
          <p:cNvPr id="14" name="Stat society text"/>
          <p:cNvSpPr txBox="1"/>
          <p:nvPr/>
        </p:nvSpPr>
        <p:spPr>
          <a:xfrm>
            <a:off x="4800600" y="4560714"/>
            <a:ext cx="3794760" cy="822960"/>
          </a:xfrm>
          <a:prstGeom prst="rect">
            <a:avLst/>
          </a:prstGeom>
          <a:noFill/>
          <a:ln/>
        </p:spPr>
        <p:txBody>
          <a:bodyPr wrap="square" rtlCol="0" anchor="ctr"/>
          <a:lstStyle/>
          <a:p>
            <a:pPr marL="0" indent="0" algn="ctr">
              <a:buNone/>
            </a:pPr>
            <a:r>
              <a:rPr lang="en-US" sz="2200" b="1" dirty="0">
                <a:solidFill>
                  <a:schemeClr val="accent1"/>
                </a:solidFill>
              </a:rPr>
              <a:t>1,622 rows</a:t>
            </a:r>
            <a:endParaRPr lang="en-US" sz="2200" dirty="0"/>
          </a:p>
          <a:p>
            <a:pPr marL="0" indent="0" algn="ctr">
              <a:buNone/>
            </a:pPr>
            <a:r>
              <a:rPr lang="en-US" sz="1200" dirty="0">
                <a:solidFill>
                  <a:schemeClr val="accent2"/>
                </a:solidFill>
              </a:rPr>
              <a:t>FACT_SOCIETY</a:t>
            </a:r>
            <a:endParaRPr lang="en-US" sz="2200" dirty="0"/>
          </a:p>
        </p:txBody>
      </p:sp>
      <p:pic>
        <p:nvPicPr>
          <p:cNvPr id="16" name="Imagem 15" descr="Uma imagem com texto, file, captura de ecrã, Tipo de letra&#10;&#10;Descrição gerada automaticamente">
            <a:extLst>
              <a:ext uri="{FF2B5EF4-FFF2-40B4-BE49-F238E27FC236}">
                <a16:creationId xmlns:a16="http://schemas.microsoft.com/office/drawing/2014/main" id="{4FC45B65-CABD-2503-8FCA-51E2EDD3B210}"/>
              </a:ext>
            </a:extLst>
          </p:cNvPr>
          <p:cNvPicPr>
            <a:picLocks noChangeAspect="1"/>
          </p:cNvPicPr>
          <p:nvPr/>
        </p:nvPicPr>
        <p:blipFill>
          <a:blip r:embed="rId3">
            <a:clrChange>
              <a:clrFrom>
                <a:srgbClr val="EBEBEB"/>
              </a:clrFrom>
              <a:clrTo>
                <a:srgbClr val="EBEBEB">
                  <a:alpha val="0"/>
                </a:srgbClr>
              </a:clrTo>
            </a:clrChange>
          </a:blip>
          <a:stretch>
            <a:fillRect/>
          </a:stretch>
        </p:blipFill>
        <p:spPr>
          <a:xfrm>
            <a:off x="0" y="1543724"/>
            <a:ext cx="4781882" cy="1246109"/>
          </a:xfrm>
          <a:prstGeom prst="rect">
            <a:avLst/>
          </a:prstGeom>
        </p:spPr>
      </p:pic>
      <p:pic>
        <p:nvPicPr>
          <p:cNvPr id="18" name="Imagem 17" descr="Uma imagem com texto, file, diagrama, Tipo de letra&#10;&#10;Descrição gerada automaticamente">
            <a:extLst>
              <a:ext uri="{FF2B5EF4-FFF2-40B4-BE49-F238E27FC236}">
                <a16:creationId xmlns:a16="http://schemas.microsoft.com/office/drawing/2014/main" id="{B86C9B40-EB73-0343-82C1-74D19AAEFBF5}"/>
              </a:ext>
            </a:extLst>
          </p:cNvPr>
          <p:cNvPicPr>
            <a:picLocks noChangeAspect="1"/>
          </p:cNvPicPr>
          <p:nvPr/>
        </p:nvPicPr>
        <p:blipFill>
          <a:blip r:embed="rId4">
            <a:clrChange>
              <a:clrFrom>
                <a:srgbClr val="EBEBEB"/>
              </a:clrFrom>
              <a:clrTo>
                <a:srgbClr val="EBEBEB">
                  <a:alpha val="0"/>
                </a:srgbClr>
              </a:clrTo>
            </a:clrChange>
          </a:blip>
          <a:stretch>
            <a:fillRect/>
          </a:stretch>
        </p:blipFill>
        <p:spPr>
          <a:xfrm>
            <a:off x="4572001" y="1543724"/>
            <a:ext cx="4572000" cy="1097097"/>
          </a:xfrm>
          <a:prstGeom prst="rect">
            <a:avLst/>
          </a:prstGeom>
        </p:spPr>
      </p:pic>
      <p:pic>
        <p:nvPicPr>
          <p:cNvPr id="20" name="Imagem 19" descr="Uma imagem com texto, captura de ecrã, Tipo de letra, recibo&#10;&#10;Descrição gerada automaticamente">
            <a:extLst>
              <a:ext uri="{FF2B5EF4-FFF2-40B4-BE49-F238E27FC236}">
                <a16:creationId xmlns:a16="http://schemas.microsoft.com/office/drawing/2014/main" id="{7EB01BD6-36C0-B553-5858-BC3B26A30A2B}"/>
              </a:ext>
            </a:extLst>
          </p:cNvPr>
          <p:cNvPicPr>
            <a:picLocks noChangeAspect="1"/>
          </p:cNvPicPr>
          <p:nvPr/>
        </p:nvPicPr>
        <p:blipFill>
          <a:blip r:embed="rId5"/>
          <a:stretch>
            <a:fillRect/>
          </a:stretch>
        </p:blipFill>
        <p:spPr>
          <a:xfrm>
            <a:off x="248048" y="3041545"/>
            <a:ext cx="8647904" cy="1118445"/>
          </a:xfrm>
          <a:prstGeom prst="rect">
            <a:avLst/>
          </a:prstGeom>
        </p:spPr>
      </p:pic>
    </p:spTree>
    <p:extLst>
      <p:ext uri="{BB962C8B-B14F-4D97-AF65-F5344CB8AC3E}">
        <p14:creationId xmlns:p14="http://schemas.microsoft.com/office/powerpoint/2010/main" val="27201736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FACT_SECTOR pipeline</a:t>
            </a:r>
            <a:endParaRPr lang="en-US" sz="3000" dirty="0"/>
          </a:p>
        </p:txBody>
      </p:sp>
      <p:graphicFrame>
        <p:nvGraphicFramePr>
          <p:cNvPr id="9" name="Mapping table"/>
          <p:cNvGraphicFramePr>
            <a:graphicFrameLocks noGrp="1"/>
          </p:cNvGraphicFramePr>
          <p:nvPr>
            <p:extLst>
              <p:ext uri="{D42A27DB-BD31-4B8C-83A1-F6EECF244321}">
                <p14:modId xmlns:p14="http://schemas.microsoft.com/office/powerpoint/2010/main" val="1502000661"/>
              </p:ext>
            </p:extLst>
          </p:nvPr>
        </p:nvGraphicFramePr>
        <p:xfrm>
          <a:off x="457200" y="3176351"/>
          <a:ext cx="4206240" cy="1670304"/>
        </p:xfrm>
        <a:graphic>
          <a:graphicData uri="http://schemas.openxmlformats.org/drawingml/2006/table">
            <a:tbl>
              <a:tblPr/>
              <a:tblGrid>
                <a:gridCol w="16002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tblGrid>
              <a:tr h="281694">
                <a:tc>
                  <a:txBody>
                    <a:bodyPr/>
                    <a:lstStyle/>
                    <a:p>
                      <a:pPr marL="0" indent="0">
                        <a:buNone/>
                      </a:pPr>
                      <a:r>
                        <a:rPr lang="en-US" sz="1300" b="1" dirty="0">
                          <a:solidFill>
                            <a:schemeClr val="bg1"/>
                          </a:solidFill>
                        </a:rPr>
                        <a:t>Indicator</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Sector</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Measure</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chemeClr val="tx1"/>
                          </a:solidFill>
                        </a:rPr>
                        <a:t>NV.AGR.TOTL.ZS / .CD</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Agriculture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value added % GDP / US$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200" dirty="0">
                          <a:solidFill>
                            <a:schemeClr val="tx1"/>
                          </a:solidFill>
                        </a:rPr>
                        <a:t>NV.IND.MANF.ZS / .CD</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Manufacturing</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value added % GDP / US$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200" dirty="0">
                          <a:solidFill>
                            <a:schemeClr val="tx1"/>
                          </a:solidFill>
                        </a:rPr>
                        <a:t>SL.AGR.EMPL.ZS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Agriculture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employment %</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Screenshot: sector check"/>
          <p:cNvSpPr/>
          <p:nvPr/>
        </p:nvSpPr>
        <p:spPr>
          <a:xfrm>
            <a:off x="4846320" y="3291840"/>
            <a:ext cx="3840480" cy="1645920"/>
          </a:xfrm>
          <a:prstGeom prst="rect">
            <a:avLst/>
          </a:prstGeom>
          <a:solidFill>
            <a:schemeClr val="bg2"/>
          </a:solidFill>
          <a:ln w="12700">
            <a:solidFill>
              <a:schemeClr val="accent1"/>
            </a:solidFill>
            <a:prstDash val="dash"/>
          </a:ln>
        </p:spPr>
        <p:txBody>
          <a:bodyPr/>
          <a:lstStyle/>
          <a:p>
            <a:endParaRPr lang="pt-PT"/>
          </a:p>
        </p:txBody>
      </p:sp>
      <p:sp>
        <p:nvSpPr>
          <p:cNvPr id="7" name="Screenshot: sector check label"/>
          <p:cNvSpPr txBox="1"/>
          <p:nvPr/>
        </p:nvSpPr>
        <p:spPr>
          <a:xfrm>
            <a:off x="5029200" y="3291840"/>
            <a:ext cx="3474720" cy="164592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Check: PRT 1993 and 2000 by sector</a:t>
            </a:r>
            <a:endParaRPr lang="en-US" sz="1400" dirty="0"/>
          </a:p>
        </p:txBody>
      </p:sp>
      <p:sp>
        <p:nvSpPr>
          <p:cNvPr id="8" name="Mapping note"/>
          <p:cNvSpPr/>
          <p:nvPr/>
        </p:nvSpPr>
        <p:spPr>
          <a:xfrm>
            <a:off x="1787502" y="2610179"/>
            <a:ext cx="5291721" cy="286119"/>
          </a:xfrm>
          <a:prstGeom prst="rect">
            <a:avLst/>
          </a:prstGeom>
          <a:solidFill>
            <a:schemeClr val="bg2"/>
          </a:solidFill>
          <a:ln w="9525">
            <a:solidFill>
              <a:schemeClr val="accent3"/>
            </a:solidFill>
            <a:prstDash val="solid"/>
          </a:ln>
        </p:spPr>
        <p:txBody>
          <a:bodyPr/>
          <a:lstStyle/>
          <a:p>
            <a:endParaRPr lang="pt-PT"/>
          </a:p>
        </p:txBody>
      </p:sp>
      <p:sp>
        <p:nvSpPr>
          <p:cNvPr id="5" name="Mapping note text"/>
          <p:cNvSpPr txBox="1"/>
          <p:nvPr/>
        </p:nvSpPr>
        <p:spPr>
          <a:xfrm>
            <a:off x="1787503" y="2610180"/>
            <a:ext cx="5291721" cy="286119"/>
          </a:xfrm>
          <a:prstGeom prst="rect">
            <a:avLst/>
          </a:prstGeom>
          <a:noFill/>
          <a:ln/>
        </p:spPr>
        <p:txBody>
          <a:bodyPr wrap="square" rtlCol="0" anchor="ctr"/>
          <a:lstStyle/>
          <a:p>
            <a:pPr marL="0" indent="0">
              <a:spcAft>
                <a:spcPts val="400"/>
              </a:spcAft>
              <a:buNone/>
            </a:pPr>
            <a:r>
              <a:rPr lang="en-US" sz="1200" dirty="0">
                <a:solidFill>
                  <a:schemeClr val="tx1"/>
                </a:solidFill>
              </a:rPr>
              <a:t>Two value mappers assign the sector and the measure of each of the 11 indicators</a:t>
            </a:r>
            <a:endParaRPr lang="en-US" sz="1200" dirty="0"/>
          </a:p>
        </p:txBody>
      </p:sp>
      <p:sp>
        <p:nvSpPr>
          <p:cNvPr id="10" name="Stat sector"/>
          <p:cNvSpPr/>
          <p:nvPr/>
        </p:nvSpPr>
        <p:spPr>
          <a:xfrm>
            <a:off x="4846320" y="5120640"/>
            <a:ext cx="3840480" cy="1005840"/>
          </a:xfrm>
          <a:prstGeom prst="rect">
            <a:avLst/>
          </a:prstGeom>
          <a:solidFill>
            <a:schemeClr val="bg2"/>
          </a:solidFill>
          <a:ln w="12700">
            <a:solidFill>
              <a:schemeClr val="bg2"/>
            </a:solidFill>
            <a:prstDash val="solid"/>
          </a:ln>
        </p:spPr>
        <p:txBody>
          <a:bodyPr/>
          <a:lstStyle/>
          <a:p>
            <a:endParaRPr lang="pt-PT"/>
          </a:p>
        </p:txBody>
      </p:sp>
      <p:sp>
        <p:nvSpPr>
          <p:cNvPr id="11" name="Stat sector text"/>
          <p:cNvSpPr txBox="1"/>
          <p:nvPr/>
        </p:nvSpPr>
        <p:spPr>
          <a:xfrm>
            <a:off x="4937760" y="5120640"/>
            <a:ext cx="3657600" cy="1005840"/>
          </a:xfrm>
          <a:prstGeom prst="rect">
            <a:avLst/>
          </a:prstGeom>
          <a:noFill/>
          <a:ln/>
        </p:spPr>
        <p:txBody>
          <a:bodyPr wrap="square" rtlCol="0" anchor="ctr"/>
          <a:lstStyle/>
          <a:p>
            <a:pPr marL="0" indent="0" algn="ctr">
              <a:buNone/>
            </a:pPr>
            <a:r>
              <a:rPr lang="en-US" sz="2200" b="1" dirty="0">
                <a:solidFill>
                  <a:schemeClr val="accent1"/>
                </a:solidFill>
              </a:rPr>
              <a:t>2,329 rows</a:t>
            </a:r>
            <a:endParaRPr lang="en-US" sz="2200" dirty="0"/>
          </a:p>
          <a:p>
            <a:pPr marL="0" indent="0" algn="ctr">
              <a:buNone/>
            </a:pPr>
            <a:r>
              <a:rPr lang="en-US" sz="1200" dirty="0">
                <a:solidFill>
                  <a:schemeClr val="accent2"/>
                </a:solidFill>
              </a:rPr>
              <a:t>manufacturing has no employment value</a:t>
            </a:r>
            <a:endParaRPr lang="en-US" sz="2200" dirty="0"/>
          </a:p>
        </p:txBody>
      </p:sp>
      <p:pic>
        <p:nvPicPr>
          <p:cNvPr id="13" name="Imagem 12">
            <a:extLst>
              <a:ext uri="{FF2B5EF4-FFF2-40B4-BE49-F238E27FC236}">
                <a16:creationId xmlns:a16="http://schemas.microsoft.com/office/drawing/2014/main" id="{0960ACE4-3632-E4A4-1AA8-A53DC1237F9E}"/>
              </a:ext>
            </a:extLst>
          </p:cNvPr>
          <p:cNvPicPr>
            <a:picLocks noChangeAspect="1"/>
          </p:cNvPicPr>
          <p:nvPr/>
        </p:nvPicPr>
        <p:blipFill>
          <a:blip r:embed="rId3"/>
          <a:stretch>
            <a:fillRect/>
          </a:stretch>
        </p:blipFill>
        <p:spPr>
          <a:xfrm>
            <a:off x="777240" y="1463374"/>
            <a:ext cx="7772400" cy="547972"/>
          </a:xfrm>
          <a:prstGeom prst="rect">
            <a:avLst/>
          </a:prstGeom>
        </p:spPr>
      </p:pic>
    </p:spTree>
    <p:extLst>
      <p:ext uri="{BB962C8B-B14F-4D97-AF65-F5344CB8AC3E}">
        <p14:creationId xmlns:p14="http://schemas.microsoft.com/office/powerpoint/2010/main" val="35473099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Full reload from scratch</a:t>
            </a:r>
            <a:endParaRPr lang="en-US" sz="3000" dirty="0"/>
          </a:p>
        </p:txBody>
      </p:sp>
      <p:graphicFrame>
        <p:nvGraphicFramePr>
          <p:cNvPr id="10" name="Counts table"/>
          <p:cNvGraphicFramePr>
            <a:graphicFrameLocks noGrp="1"/>
          </p:cNvGraphicFramePr>
          <p:nvPr>
            <p:extLst>
              <p:ext uri="{D42A27DB-BD31-4B8C-83A1-F6EECF244321}">
                <p14:modId xmlns:p14="http://schemas.microsoft.com/office/powerpoint/2010/main" val="1579011935"/>
              </p:ext>
            </p:extLst>
          </p:nvPr>
        </p:nvGraphicFramePr>
        <p:xfrm>
          <a:off x="457200" y="1280160"/>
          <a:ext cx="3291840" cy="3657600"/>
        </p:xfrm>
        <a:graphic>
          <a:graphicData uri="http://schemas.openxmlformats.org/drawingml/2006/table">
            <a:tbl>
              <a:tblPr/>
              <a:tblGrid>
                <a:gridCol w="21945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tblGrid>
              <a:tr h="457200">
                <a:tc>
                  <a:txBody>
                    <a:bodyPr/>
                    <a:lstStyle/>
                    <a:p>
                      <a:pPr marL="0" indent="0">
                        <a:buNone/>
                      </a:pPr>
                      <a:r>
                        <a:rPr lang="en-US" sz="1300" b="1" dirty="0">
                          <a:solidFill>
                            <a:schemeClr val="bg1"/>
                          </a:solidFill>
                        </a:rPr>
                        <a:t>Table</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Rows</a:t>
                      </a:r>
                      <a:endParaRPr lang="en-US" sz="13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chemeClr val="accent1"/>
                          </a:solidFill>
                        </a:rPr>
                        <a:t>DIM_COUNTRY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16</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200" b="1" dirty="0">
                          <a:solidFill>
                            <a:schemeClr val="accent1"/>
                          </a:solidFill>
                        </a:rPr>
                        <a:t>DIM_TIME</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126</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200" b="1" dirty="0">
                          <a:solidFill>
                            <a:schemeClr val="accent1"/>
                          </a:solidFill>
                        </a:rPr>
                        <a:t>DIM_SECTOR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4</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200" b="1" dirty="0">
                          <a:solidFill>
                            <a:schemeClr val="accent1"/>
                          </a:solidFill>
                        </a:rPr>
                        <a:t>BRIDGE_EVENT</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387</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200" b="1" dirty="0">
                          <a:solidFill>
                            <a:schemeClr val="accent1"/>
                          </a:solidFill>
                        </a:rPr>
                        <a:t>FACT_ECONOMY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1,571</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200" b="1" dirty="0">
                          <a:solidFill>
                            <a:schemeClr val="accent1"/>
                          </a:solidFill>
                        </a:rPr>
                        <a:t>FACT_SOCIETY</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1,622</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200" b="1" dirty="0">
                          <a:solidFill>
                            <a:schemeClr val="accent1"/>
                          </a:solidFill>
                        </a:rPr>
                        <a:t>FACT_SECTOR</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2,329</a:t>
                      </a:r>
                      <a:endParaRPr lang="en-US" sz="1200" dirty="0"/>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Screenshot: counts query"/>
          <p:cNvSpPr/>
          <p:nvPr/>
        </p:nvSpPr>
        <p:spPr>
          <a:xfrm>
            <a:off x="4023360" y="1280160"/>
            <a:ext cx="4663440" cy="3657600"/>
          </a:xfrm>
          <a:prstGeom prst="rect">
            <a:avLst/>
          </a:prstGeom>
          <a:solidFill>
            <a:schemeClr val="bg2"/>
          </a:solidFill>
          <a:ln w="12700">
            <a:solidFill>
              <a:schemeClr val="accent1"/>
            </a:solidFill>
            <a:prstDash val="dash"/>
          </a:ln>
        </p:spPr>
        <p:txBody>
          <a:bodyPr/>
          <a:lstStyle/>
          <a:p>
            <a:endParaRPr lang="pt-PT"/>
          </a:p>
        </p:txBody>
      </p:sp>
      <p:sp>
        <p:nvSpPr>
          <p:cNvPr id="5" name="Screenshot: counts query label"/>
          <p:cNvSpPr txBox="1"/>
          <p:nvPr/>
        </p:nvSpPr>
        <p:spPr>
          <a:xfrm>
            <a:off x="4206240" y="1280160"/>
            <a:ext cx="4297680" cy="365760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Workbench: row counts of the 7 tables after the workflow</a:t>
            </a:r>
            <a:endParaRPr lang="en-US" sz="1400" dirty="0"/>
          </a:p>
        </p:txBody>
      </p:sp>
      <p:sp>
        <p:nvSpPr>
          <p:cNvPr id="6" name="Reload note"/>
          <p:cNvSpPr/>
          <p:nvPr/>
        </p:nvSpPr>
        <p:spPr>
          <a:xfrm>
            <a:off x="457200" y="5120640"/>
            <a:ext cx="8229600" cy="1005840"/>
          </a:xfrm>
          <a:prstGeom prst="rect">
            <a:avLst/>
          </a:prstGeom>
          <a:solidFill>
            <a:schemeClr val="bg2"/>
          </a:solidFill>
          <a:ln w="9525">
            <a:solidFill>
              <a:schemeClr val="accent3"/>
            </a:solidFill>
            <a:prstDash val="solid"/>
          </a:ln>
        </p:spPr>
        <p:txBody>
          <a:bodyPr/>
          <a:lstStyle/>
          <a:p>
            <a:endParaRPr lang="pt-PT"/>
          </a:p>
        </p:txBody>
      </p:sp>
      <p:sp>
        <p:nvSpPr>
          <p:cNvPr id="7" name="Reload note text"/>
          <p:cNvSpPr txBox="1"/>
          <p:nvPr/>
        </p:nvSpPr>
        <p:spPr>
          <a:xfrm>
            <a:off x="548640" y="5120640"/>
            <a:ext cx="8046720" cy="1005840"/>
          </a:xfrm>
          <a:prstGeom prst="rect">
            <a:avLst/>
          </a:prstGeom>
          <a:noFill/>
          <a:ln/>
        </p:spPr>
        <p:txBody>
          <a:bodyPr wrap="square" rtlCol="0" anchor="ctr"/>
          <a:lstStyle/>
          <a:p>
            <a:pPr marL="0" indent="0">
              <a:spcAft>
                <a:spcPts val="400"/>
              </a:spcAft>
              <a:buNone/>
            </a:pPr>
            <a:r>
              <a:rPr lang="en-US" sz="1200" dirty="0">
                <a:solidFill>
                  <a:schemeClr val="tx1"/>
                </a:solidFill>
              </a:rPr>
              <a:t>Test: create_dw.sql recreated an empty aid_dw, and load_dw.hwf alone reloaded all tables with the same counts</a:t>
            </a:r>
            <a:endParaRPr lang="en-US" sz="1200" dirty="0"/>
          </a:p>
        </p:txBody>
      </p:sp>
    </p:spTree>
    <p:extLst>
      <p:ext uri="{BB962C8B-B14F-4D97-AF65-F5344CB8AC3E}">
        <p14:creationId xmlns:p14="http://schemas.microsoft.com/office/powerpoint/2010/main" val="19188077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685800" y="2377440"/>
            <a:ext cx="7772400" cy="1188720"/>
          </a:xfrm>
          <a:prstGeom prst="rect">
            <a:avLst/>
          </a:prstGeom>
          <a:noFill/>
          <a:ln/>
        </p:spPr>
        <p:txBody>
          <a:bodyPr wrap="square" lIns="0" tIns="0" rIns="0" bIns="0" rtlCol="0" anchor="ctr"/>
          <a:lstStyle/>
          <a:p>
            <a:pPr marL="0" indent="0" algn="ctr">
              <a:buNone/>
            </a:pPr>
            <a:r>
              <a:rPr lang="en-US" sz="4400" b="1" dirty="0">
                <a:solidFill>
                  <a:schemeClr val="accent1"/>
                </a:solidFill>
              </a:rPr>
              <a:t>Task 5 – OLAP Cube and Saiku</a:t>
            </a:r>
            <a:endParaRPr lang="en-US" sz="4400" dirty="0"/>
          </a:p>
        </p:txBody>
      </p:sp>
      <p:sp>
        <p:nvSpPr>
          <p:cNvPr id="3" name="Text 0"/>
          <p:cNvSpPr>
            <a:spLocks noGrp="1"/>
          </p:cNvSpPr>
          <p:nvPr>
            <p:ph type="body" idx="102" hasCustomPrompt="1"/>
          </p:nvPr>
        </p:nvSpPr>
        <p:spPr>
          <a:xfrm>
            <a:off x="685800" y="3657600"/>
            <a:ext cx="7772400" cy="731520"/>
          </a:xfrm>
          <a:prstGeom prst="rect">
            <a:avLst/>
          </a:prstGeom>
          <a:noFill/>
          <a:ln/>
        </p:spPr>
        <p:txBody>
          <a:bodyPr wrap="square" lIns="0" tIns="0" rIns="0" bIns="0" rtlCol="0" anchor="t"/>
          <a:lstStyle/>
          <a:p>
            <a:pPr marL="0" indent="0" algn="ctr">
              <a:buNone/>
            </a:pPr>
            <a:r>
              <a:rPr lang="en-US" sz="1800" dirty="0">
                <a:solidFill>
                  <a:schemeClr val="accent2"/>
                </a:solidFill>
              </a:rPr>
              <a:t>Mondrian schema with three cubes and a virtual cube; three analyses explained with historical events</a:t>
            </a:r>
            <a:endParaRPr lang="en-US" sz="1800" dirty="0"/>
          </a:p>
        </p:txBody>
      </p:sp>
    </p:spTree>
    <p:extLst>
      <p:ext uri="{BB962C8B-B14F-4D97-AF65-F5344CB8AC3E}">
        <p14:creationId xmlns:p14="http://schemas.microsoft.com/office/powerpoint/2010/main" val="38655197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Cube structure in Schema Workbench</a:t>
            </a:r>
            <a:endParaRPr lang="en-US" sz="3000" dirty="0"/>
          </a:p>
        </p:txBody>
      </p:sp>
      <p:sp>
        <p:nvSpPr>
          <p:cNvPr id="3" name="Screenshot: PSW tree"/>
          <p:cNvSpPr/>
          <p:nvPr/>
        </p:nvSpPr>
        <p:spPr>
          <a:xfrm>
            <a:off x="457200" y="1280160"/>
            <a:ext cx="3566160" cy="4846320"/>
          </a:xfrm>
          <a:prstGeom prst="rect">
            <a:avLst/>
          </a:prstGeom>
          <a:solidFill>
            <a:schemeClr val="bg2"/>
          </a:solidFill>
          <a:ln w="12700">
            <a:solidFill>
              <a:schemeClr val="accent1"/>
            </a:solidFill>
            <a:prstDash val="dash"/>
          </a:ln>
        </p:spPr>
        <p:txBody>
          <a:bodyPr/>
          <a:lstStyle/>
          <a:p>
            <a:endParaRPr lang="pt-PT"/>
          </a:p>
        </p:txBody>
      </p:sp>
      <p:sp>
        <p:nvSpPr>
          <p:cNvPr id="4" name="Screenshot: PSW tree label"/>
          <p:cNvSpPr txBox="1"/>
          <p:nvPr/>
        </p:nvSpPr>
        <p:spPr>
          <a:xfrm>
            <a:off x="640080" y="1280160"/>
            <a:ext cx="3200400" cy="484632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Schema Workbench: full tree of schema.xml</a:t>
            </a:r>
            <a:endParaRPr lang="en-US" sz="1400" dirty="0"/>
          </a:p>
        </p:txBody>
      </p:sp>
      <p:graphicFrame>
        <p:nvGraphicFramePr>
          <p:cNvPr id="5" name="Cubes table"/>
          <p:cNvGraphicFramePr>
            <a:graphicFrameLocks noGrp="1"/>
          </p:cNvGraphicFramePr>
          <p:nvPr>
            <p:extLst>
              <p:ext uri="{D42A27DB-BD31-4B8C-83A1-F6EECF244321}">
                <p14:modId xmlns:p14="http://schemas.microsoft.com/office/powerpoint/2010/main" val="1579011935"/>
              </p:ext>
            </p:extLst>
          </p:nvPr>
        </p:nvGraphicFramePr>
        <p:xfrm>
          <a:off x="4251960" y="1280160"/>
          <a:ext cx="4434840" cy="2514600"/>
        </p:xfrm>
        <a:graphic>
          <a:graphicData uri="http://schemas.openxmlformats.org/drawingml/2006/table">
            <a:tbl>
              <a:tblPr/>
              <a:tblGrid>
                <a:gridCol w="10058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502920">
                <a:tc>
                  <a:txBody>
                    <a:bodyPr/>
                    <a:lstStyle/>
                    <a:p>
                      <a:pPr marL="0" indent="0">
                        <a:buNone/>
                      </a:pPr>
                      <a:r>
                        <a:rPr lang="en-US" sz="1300" b="1" dirty="0">
                          <a:solidFill>
                            <a:schemeClr val="bg1"/>
                          </a:solidFill>
                        </a:rPr>
                        <a:t>Cube</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Fact table</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Dimensions</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ctr">
                        <a:buNone/>
                      </a:pPr>
                      <a:r>
                        <a:rPr lang="en-US" sz="1300" b="1" dirty="0">
                          <a:solidFill>
                            <a:schemeClr val="bg1"/>
                          </a:solidFill>
                        </a:rPr>
                        <a:t>Measures</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chemeClr val="accent1"/>
                          </a:solidFill>
                        </a:rPr>
                        <a:t>Economy</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FACT_ECONOMY</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Time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5</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200" b="1" dirty="0">
                          <a:solidFill>
                            <a:schemeClr val="accent1"/>
                          </a:solidFill>
                        </a:rPr>
                        <a:t>Society</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FACT_SOCIETY</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Time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4</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200" b="1" dirty="0">
                          <a:solidFill>
                            <a:schemeClr val="accent1"/>
                          </a:solidFill>
                        </a:rPr>
                        <a:t>Sector</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FACT_SECTOR</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Time, Sector</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3</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200" b="1" dirty="0">
                          <a:solidFill>
                            <a:schemeClr val="accent1"/>
                          </a:solidFill>
                        </a:rPr>
                        <a:t>Development</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Virtual: Economy + Society</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buNone/>
                      </a:pPr>
                      <a:r>
                        <a:rPr lang="en-US" sz="1200" dirty="0">
                          <a:solidFill>
                            <a:schemeClr val="tx1"/>
                          </a:solidFill>
                        </a:rPr>
                        <a:t>Country, Time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chemeClr val="tx1"/>
                          </a:solidFill>
                        </a:rPr>
                        <a:t>9</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Hierarchies card"/>
          <p:cNvSpPr/>
          <p:nvPr/>
        </p:nvSpPr>
        <p:spPr>
          <a:xfrm>
            <a:off x="4251960" y="3977640"/>
            <a:ext cx="4434840" cy="1005840"/>
          </a:xfrm>
          <a:prstGeom prst="rect">
            <a:avLst/>
          </a:prstGeom>
          <a:solidFill>
            <a:schemeClr val="bg2"/>
          </a:solidFill>
          <a:ln w="9525">
            <a:solidFill>
              <a:schemeClr val="accent3"/>
            </a:solidFill>
            <a:prstDash val="solid"/>
          </a:ln>
        </p:spPr>
        <p:txBody>
          <a:bodyPr/>
          <a:lstStyle/>
          <a:p>
            <a:endParaRPr lang="pt-PT"/>
          </a:p>
        </p:txBody>
      </p:sp>
      <p:sp>
        <p:nvSpPr>
          <p:cNvPr id="7" name="Hierarchies card text"/>
          <p:cNvSpPr txBox="1"/>
          <p:nvPr/>
        </p:nvSpPr>
        <p:spPr>
          <a:xfrm>
            <a:off x="4343400" y="4023360"/>
            <a:ext cx="4251960" cy="914400"/>
          </a:xfrm>
          <a:prstGeom prst="rect">
            <a:avLst/>
          </a:prstGeom>
          <a:noFill/>
          <a:ln/>
        </p:spPr>
        <p:txBody>
          <a:bodyPr wrap="square" rtlCol="0" anchor="t"/>
          <a:lstStyle/>
          <a:p>
            <a:pPr marL="0" indent="0">
              <a:spcAft>
                <a:spcPts val="400"/>
              </a:spcAft>
              <a:buNone/>
            </a:pPr>
            <a:r>
              <a:rPr lang="en-US" sz="1200" b="1" dirty="0">
                <a:solidFill>
                  <a:schemeClr val="accent1"/>
                </a:solidFill>
              </a:rPr>
              <a:t>Hierarchies</a:t>
            </a:r>
            <a:endParaRPr lang="en-US" sz="1200" dirty="0"/>
          </a:p>
          <a:p>
            <a:pPr marL="0" indent="0">
              <a:spcAft>
                <a:spcPts val="400"/>
              </a:spcAft>
              <a:buNone/>
            </a:pPr>
            <a:r>
              <a:rPr lang="en-US" sz="1200" dirty="0">
                <a:solidFill>
                  <a:schemeClr val="tx1"/>
                </a:solidFill>
              </a:rPr>
              <a:t>Country Group → Country; Decade → Year; Broad Sector → Sector</a:t>
            </a:r>
            <a:endParaRPr lang="en-US" sz="1200" dirty="0"/>
          </a:p>
        </p:txBody>
      </p:sp>
      <p:sp>
        <p:nvSpPr>
          <p:cNvPr id="8" name="Cube note"/>
          <p:cNvSpPr/>
          <p:nvPr/>
        </p:nvSpPr>
        <p:spPr>
          <a:xfrm>
            <a:off x="4251960" y="5120640"/>
            <a:ext cx="4434840" cy="1005840"/>
          </a:xfrm>
          <a:prstGeom prst="rect">
            <a:avLst/>
          </a:prstGeom>
          <a:solidFill>
            <a:schemeClr val="bg2"/>
          </a:solidFill>
          <a:ln w="9525">
            <a:solidFill>
              <a:schemeClr val="accent3"/>
            </a:solidFill>
            <a:prstDash val="solid"/>
          </a:ln>
        </p:spPr>
        <p:txBody>
          <a:bodyPr/>
          <a:lstStyle/>
          <a:p>
            <a:endParaRPr lang="pt-PT"/>
          </a:p>
        </p:txBody>
      </p:sp>
      <p:sp>
        <p:nvSpPr>
          <p:cNvPr id="9" name="Cube note text"/>
          <p:cNvSpPr txBox="1"/>
          <p:nvPr/>
        </p:nvSpPr>
        <p:spPr>
          <a:xfrm>
            <a:off x="4343400" y="5120640"/>
            <a:ext cx="4251960" cy="1005840"/>
          </a:xfrm>
          <a:prstGeom prst="rect">
            <a:avLst/>
          </a:prstGeom>
          <a:noFill/>
          <a:ln/>
        </p:spPr>
        <p:txBody>
          <a:bodyPr wrap="square" rtlCol="0" anchor="ctr"/>
          <a:lstStyle/>
          <a:p>
            <a:pPr marL="0" indent="0">
              <a:spcAft>
                <a:spcPts val="400"/>
              </a:spcAft>
              <a:buNone/>
            </a:pPr>
            <a:r>
              <a:rPr lang="en-US" sz="1200" dirty="0">
                <a:solidFill>
                  <a:schemeClr val="tx1"/>
                </a:solidFill>
              </a:rPr>
              <a:t>Country and Time are shared dimensions, defined once and used by all cubes</a:t>
            </a:r>
            <a:endParaRPr lang="en-US" sz="1200" dirty="0"/>
          </a:p>
          <a:p>
            <a:pPr marL="0" indent="0">
              <a:spcAft>
                <a:spcPts val="400"/>
              </a:spcAft>
              <a:buNone/>
            </a:pPr>
            <a:r>
              <a:rPr lang="en-US" sz="1200" dirty="0">
                <a:solidFill>
                  <a:schemeClr val="tx1"/>
                </a:solidFill>
              </a:rPr>
              <a:t>All measures use the avg aggregator</a:t>
            </a:r>
            <a:endParaRPr lang="en-US" sz="1200" dirty="0"/>
          </a:p>
        </p:txBody>
      </p:sp>
    </p:spTree>
    <p:extLst>
      <p:ext uri="{BB962C8B-B14F-4D97-AF65-F5344CB8AC3E}">
        <p14:creationId xmlns:p14="http://schemas.microsoft.com/office/powerpoint/2010/main" val="4041816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Schema XML (schema.xml)</a:t>
            </a:r>
            <a:endParaRPr lang="en-US" sz="3000" dirty="0"/>
          </a:p>
        </p:txBody>
      </p:sp>
      <p:sp>
        <p:nvSpPr>
          <p:cNvPr id="3" name="Code: schema excerpt"/>
          <p:cNvSpPr/>
          <p:nvPr/>
        </p:nvSpPr>
        <p:spPr>
          <a:xfrm>
            <a:off x="457200" y="1280160"/>
            <a:ext cx="5120640" cy="4846320"/>
          </a:xfrm>
          <a:prstGeom prst="rect">
            <a:avLst/>
          </a:prstGeom>
          <a:solidFill>
            <a:schemeClr val="bg2"/>
          </a:solidFill>
          <a:ln w="9525">
            <a:solidFill>
              <a:schemeClr val="accent3"/>
            </a:solidFill>
            <a:prstDash val="solid"/>
          </a:ln>
        </p:spPr>
        <p:txBody>
          <a:bodyPr/>
          <a:lstStyle/>
          <a:p>
            <a:endParaRPr lang="pt-PT"/>
          </a:p>
        </p:txBody>
      </p:sp>
      <p:sp>
        <p:nvSpPr>
          <p:cNvPr id="4" name="Code: schema excerpt text"/>
          <p:cNvSpPr txBox="1"/>
          <p:nvPr/>
        </p:nvSpPr>
        <p:spPr>
          <a:xfrm>
            <a:off x="548640" y="1325880"/>
            <a:ext cx="4937760" cy="4754880"/>
          </a:xfrm>
          <a:prstGeom prst="rect">
            <a:avLst/>
          </a:prstGeom>
          <a:noFill/>
          <a:ln/>
        </p:spPr>
        <p:txBody>
          <a:bodyPr wrap="square" rtlCol="0" anchor="ctr"/>
          <a:lstStyle/>
          <a:p>
            <a:pPr marL="0" indent="0">
              <a:buNone/>
            </a:pPr>
            <a:r>
              <a:rPr lang="en-US" sz="900" dirty="0">
                <a:solidFill>
                  <a:schemeClr val="tx1"/>
                </a:solidFill>
                <a:latin typeface="Courier New" pitchFamily="34" charset="0"/>
                <a:ea typeface="Courier New" pitchFamily="34" charset="-122"/>
                <a:cs typeface="Courier New" pitchFamily="34" charset="-120"/>
              </a:rPr>
              <a:t>&lt;Dimension name="Country"&gt;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&lt;Hierarchy name="Country Hierarchy" hasAll="true"</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primaryKey="country_key"&gt;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&lt;Table name="DIM_COUNTRY"/&gt;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&lt;Level name="Country Group" column="country_group"/&gt;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&lt;Level name="Country" column="country_name"/&gt;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&lt;/Hierarchy&gt;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&lt;/Dimension&gt;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&lt;Cube name="Economy"&gt;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&lt;Table name="FACT_ECONOMY"/&gt;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&lt;DimensionUsage source="Country" name="Country"</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foreignKey="country_key"/&gt;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&lt;DimensionUsage source="Time" name="Time"</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foreignKey="time_key"/&gt;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&lt;Measure name="GDP per capita" column="gdp_per_capita"</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aggregator="avg" formatString="#,##0"/&gt;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&lt;/Cube&gt;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&lt;VirtualCube name="Development"&gt;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&lt;VirtualCubeMeasure cubeName="Society"</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name="[Measures].[Life expectancy]"/&gt;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&lt;/VirtualCube&gt;</a:t>
            </a:r>
            <a:endParaRPr lang="en-US" sz="900" dirty="0"/>
          </a:p>
        </p:txBody>
      </p:sp>
      <p:sp>
        <p:nvSpPr>
          <p:cNvPr id="5" name="XML note 1 badge"/>
          <p:cNvSpPr/>
          <p:nvPr/>
        </p:nvSpPr>
        <p:spPr>
          <a:xfrm>
            <a:off x="5806440" y="135331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6" name="XML note 1 number"/>
          <p:cNvSpPr txBox="1"/>
          <p:nvPr/>
        </p:nvSpPr>
        <p:spPr>
          <a:xfrm>
            <a:off x="5806440" y="135331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7" name="XML note 1 text"/>
          <p:cNvSpPr txBox="1"/>
          <p:nvPr/>
        </p:nvSpPr>
        <p:spPr>
          <a:xfrm>
            <a:off x="6263640" y="1325880"/>
            <a:ext cx="3429000" cy="566928"/>
          </a:xfrm>
          <a:prstGeom prst="rect">
            <a:avLst/>
          </a:prstGeom>
          <a:noFill/>
          <a:ln/>
        </p:spPr>
        <p:txBody>
          <a:bodyPr wrap="square" lIns="0" tIns="0" rIns="0" bIns="0" rtlCol="0" anchor="t"/>
          <a:lstStyle/>
          <a:p>
            <a:pPr marL="0" indent="0">
              <a:buNone/>
            </a:pPr>
            <a:r>
              <a:rPr lang="en-US" sz="1400" b="1" dirty="0">
                <a:solidFill>
                  <a:schemeClr val="tx1"/>
                </a:solidFill>
              </a:rPr>
              <a:t>Shared dimension</a:t>
            </a:r>
            <a:endParaRPr lang="en-US" sz="1400" dirty="0"/>
          </a:p>
          <a:p>
            <a:pPr marL="0" indent="0">
              <a:buNone/>
            </a:pPr>
            <a:r>
              <a:rPr lang="en-US" sz="1200" dirty="0">
                <a:solidFill>
                  <a:schemeClr val="accent2"/>
                </a:solidFill>
              </a:rPr>
              <a:t>Country and Time defined once</a:t>
            </a:r>
            <a:endParaRPr lang="en-US" sz="1400" dirty="0"/>
          </a:p>
        </p:txBody>
      </p:sp>
      <p:sp>
        <p:nvSpPr>
          <p:cNvPr id="8" name="XML note 2 badge"/>
          <p:cNvSpPr/>
          <p:nvPr/>
        </p:nvSpPr>
        <p:spPr>
          <a:xfrm>
            <a:off x="5806440" y="231343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9" name="XML note 2 number"/>
          <p:cNvSpPr txBox="1"/>
          <p:nvPr/>
        </p:nvSpPr>
        <p:spPr>
          <a:xfrm>
            <a:off x="5806440" y="231343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10" name="XML note 2 text"/>
          <p:cNvSpPr txBox="1"/>
          <p:nvPr/>
        </p:nvSpPr>
        <p:spPr>
          <a:xfrm>
            <a:off x="6263640" y="2286000"/>
            <a:ext cx="3429000" cy="566928"/>
          </a:xfrm>
          <a:prstGeom prst="rect">
            <a:avLst/>
          </a:prstGeom>
          <a:noFill/>
          <a:ln/>
        </p:spPr>
        <p:txBody>
          <a:bodyPr wrap="square" lIns="0" tIns="0" rIns="0" bIns="0" rtlCol="0" anchor="t"/>
          <a:lstStyle/>
          <a:p>
            <a:pPr marL="0" indent="0">
              <a:buNone/>
            </a:pPr>
            <a:r>
              <a:rPr lang="en-US" sz="1400" b="1" dirty="0">
                <a:solidFill>
                  <a:schemeClr val="tx1"/>
                </a:solidFill>
              </a:rPr>
              <a:t>Dimension usage</a:t>
            </a:r>
            <a:endParaRPr lang="en-US" sz="1400" dirty="0"/>
          </a:p>
          <a:p>
            <a:pPr marL="0" indent="0">
              <a:buNone/>
            </a:pPr>
            <a:r>
              <a:rPr lang="en-US" sz="1200" dirty="0">
                <a:solidFill>
                  <a:schemeClr val="accent2"/>
                </a:solidFill>
              </a:rPr>
              <a:t>Each cube links them by foreign key</a:t>
            </a:r>
            <a:endParaRPr lang="en-US" sz="1400" dirty="0"/>
          </a:p>
        </p:txBody>
      </p:sp>
      <p:sp>
        <p:nvSpPr>
          <p:cNvPr id="11" name="XML note 3 badge"/>
          <p:cNvSpPr/>
          <p:nvPr/>
        </p:nvSpPr>
        <p:spPr>
          <a:xfrm>
            <a:off x="5806440" y="327355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12" name="XML note 3 number"/>
          <p:cNvSpPr txBox="1"/>
          <p:nvPr/>
        </p:nvSpPr>
        <p:spPr>
          <a:xfrm>
            <a:off x="5806440" y="327355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3" name="XML note 3 text"/>
          <p:cNvSpPr txBox="1"/>
          <p:nvPr/>
        </p:nvSpPr>
        <p:spPr>
          <a:xfrm>
            <a:off x="6263640" y="3246120"/>
            <a:ext cx="3429000" cy="566928"/>
          </a:xfrm>
          <a:prstGeom prst="rect">
            <a:avLst/>
          </a:prstGeom>
          <a:noFill/>
          <a:ln/>
        </p:spPr>
        <p:txBody>
          <a:bodyPr wrap="square" lIns="0" tIns="0" rIns="0" bIns="0" rtlCol="0" anchor="t"/>
          <a:lstStyle/>
          <a:p>
            <a:pPr marL="0" indent="0">
              <a:buNone/>
            </a:pPr>
            <a:r>
              <a:rPr lang="en-US" sz="1400" b="1" dirty="0">
                <a:solidFill>
                  <a:schemeClr val="tx1"/>
                </a:solidFill>
              </a:rPr>
              <a:t>avg aggregator</a:t>
            </a:r>
            <a:endParaRPr lang="en-US" sz="1400" dirty="0"/>
          </a:p>
          <a:p>
            <a:pPr marL="0" indent="0">
              <a:buNone/>
            </a:pPr>
            <a:r>
              <a:rPr lang="en-US" sz="1200" dirty="0">
                <a:solidFill>
                  <a:schemeClr val="accent2"/>
                </a:solidFill>
              </a:rPr>
              <a:t>Decades and groups show averages</a:t>
            </a:r>
            <a:endParaRPr lang="en-US" sz="1400" dirty="0"/>
          </a:p>
        </p:txBody>
      </p:sp>
      <p:sp>
        <p:nvSpPr>
          <p:cNvPr id="14" name="XML note 4 badge"/>
          <p:cNvSpPr/>
          <p:nvPr/>
        </p:nvSpPr>
        <p:spPr>
          <a:xfrm>
            <a:off x="5806440" y="423367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15" name="XML note 4 number"/>
          <p:cNvSpPr txBox="1"/>
          <p:nvPr/>
        </p:nvSpPr>
        <p:spPr>
          <a:xfrm>
            <a:off x="5806440" y="423367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6" name="XML note 4 text"/>
          <p:cNvSpPr txBox="1"/>
          <p:nvPr/>
        </p:nvSpPr>
        <p:spPr>
          <a:xfrm>
            <a:off x="6263640" y="4206240"/>
            <a:ext cx="3429000" cy="566928"/>
          </a:xfrm>
          <a:prstGeom prst="rect">
            <a:avLst/>
          </a:prstGeom>
          <a:noFill/>
          <a:ln/>
        </p:spPr>
        <p:txBody>
          <a:bodyPr wrap="square" lIns="0" tIns="0" rIns="0" bIns="0" rtlCol="0" anchor="t"/>
          <a:lstStyle/>
          <a:p>
            <a:pPr marL="0" indent="0">
              <a:buNone/>
            </a:pPr>
            <a:r>
              <a:rPr lang="en-US" sz="1400" b="1" dirty="0">
                <a:solidFill>
                  <a:schemeClr val="tx1"/>
                </a:solidFill>
              </a:rPr>
              <a:t>Virtual cube</a:t>
            </a:r>
            <a:endParaRPr lang="en-US" sz="1400" dirty="0"/>
          </a:p>
          <a:p>
            <a:pPr marL="0" indent="0">
              <a:buNone/>
            </a:pPr>
            <a:r>
              <a:rPr lang="en-US" sz="1200" dirty="0">
                <a:solidFill>
                  <a:schemeClr val="accent2"/>
                </a:solidFill>
              </a:rPr>
              <a:t>Joins Economy and Society measures</a:t>
            </a:r>
            <a:endParaRPr lang="en-US" sz="1400" dirty="0"/>
          </a:p>
        </p:txBody>
      </p:sp>
      <p:sp>
        <p:nvSpPr>
          <p:cNvPr id="17" name="XML note 5 badge"/>
          <p:cNvSpPr/>
          <p:nvPr/>
        </p:nvSpPr>
        <p:spPr>
          <a:xfrm>
            <a:off x="5806440" y="519379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18" name="XML note 5 number"/>
          <p:cNvSpPr txBox="1"/>
          <p:nvPr/>
        </p:nvSpPr>
        <p:spPr>
          <a:xfrm>
            <a:off x="5806440" y="519379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9" name="XML note 5 text"/>
          <p:cNvSpPr txBox="1"/>
          <p:nvPr/>
        </p:nvSpPr>
        <p:spPr>
          <a:xfrm>
            <a:off x="6263640" y="5166360"/>
            <a:ext cx="3429000" cy="566928"/>
          </a:xfrm>
          <a:prstGeom prst="rect">
            <a:avLst/>
          </a:prstGeom>
          <a:noFill/>
          <a:ln/>
        </p:spPr>
        <p:txBody>
          <a:bodyPr wrap="square" lIns="0" tIns="0" rIns="0" bIns="0" rtlCol="0" anchor="t"/>
          <a:lstStyle/>
          <a:p>
            <a:pPr marL="0" indent="0">
              <a:buNone/>
            </a:pPr>
            <a:r>
              <a:rPr lang="en-US" sz="1400" b="1" dirty="0">
                <a:solidFill>
                  <a:schemeClr val="tx1"/>
                </a:solidFill>
              </a:rPr>
              <a:t>Full file</a:t>
            </a:r>
            <a:endParaRPr lang="en-US" sz="1400" dirty="0"/>
          </a:p>
          <a:p>
            <a:pPr marL="0" indent="0">
              <a:buNone/>
            </a:pPr>
            <a:r>
              <a:rPr lang="en-US" sz="1200" dirty="0">
                <a:solidFill>
                  <a:schemeClr val="accent2"/>
                </a:solidFill>
              </a:rPr>
              <a:t>task_05/schema.xml</a:t>
            </a:r>
            <a:endParaRPr lang="en-US" sz="1400" dirty="0"/>
          </a:p>
        </p:txBody>
      </p:sp>
    </p:spTree>
    <p:extLst>
      <p:ext uri="{BB962C8B-B14F-4D97-AF65-F5344CB8AC3E}">
        <p14:creationId xmlns:p14="http://schemas.microsoft.com/office/powerpoint/2010/main" val="27260306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Saiku environment</a:t>
            </a:r>
            <a:endParaRPr lang="en-US" sz="3000" dirty="0"/>
          </a:p>
        </p:txBody>
      </p:sp>
      <p:sp>
        <p:nvSpPr>
          <p:cNvPr id="3" name="Screenshot: Saiku Development"/>
          <p:cNvSpPr/>
          <p:nvPr/>
        </p:nvSpPr>
        <p:spPr>
          <a:xfrm>
            <a:off x="457200" y="1280160"/>
            <a:ext cx="5120640" cy="4846320"/>
          </a:xfrm>
          <a:prstGeom prst="rect">
            <a:avLst/>
          </a:prstGeom>
          <a:solidFill>
            <a:schemeClr val="bg2"/>
          </a:solidFill>
          <a:ln w="12700">
            <a:solidFill>
              <a:schemeClr val="accent1"/>
            </a:solidFill>
            <a:prstDash val="dash"/>
          </a:ln>
        </p:spPr>
        <p:txBody>
          <a:bodyPr/>
          <a:lstStyle/>
          <a:p>
            <a:endParaRPr lang="pt-PT"/>
          </a:p>
        </p:txBody>
      </p:sp>
      <p:sp>
        <p:nvSpPr>
          <p:cNvPr id="4" name="Screenshot: Saiku Development label"/>
          <p:cNvSpPr txBox="1"/>
          <p:nvPr/>
        </p:nvSpPr>
        <p:spPr>
          <a:xfrm>
            <a:off x="640080" y="1280160"/>
            <a:ext cx="4754880" cy="484632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Development cube with measures and dimensions loaded</a:t>
            </a:r>
            <a:endParaRPr lang="en-US" sz="1400" dirty="0"/>
          </a:p>
        </p:txBody>
      </p:sp>
      <p:sp>
        <p:nvSpPr>
          <p:cNvPr id="5" name="Lab image card"/>
          <p:cNvSpPr/>
          <p:nvPr/>
        </p:nvSpPr>
        <p:spPr>
          <a:xfrm>
            <a:off x="5806440" y="1280160"/>
            <a:ext cx="2880360" cy="2377440"/>
          </a:xfrm>
          <a:prstGeom prst="rect">
            <a:avLst/>
          </a:prstGeom>
          <a:solidFill>
            <a:schemeClr val="bg2"/>
          </a:solidFill>
          <a:ln w="9525">
            <a:solidFill>
              <a:schemeClr val="accent3"/>
            </a:solidFill>
            <a:prstDash val="solid"/>
          </a:ln>
        </p:spPr>
        <p:txBody>
          <a:bodyPr/>
          <a:lstStyle/>
          <a:p>
            <a:endParaRPr lang="pt-PT"/>
          </a:p>
        </p:txBody>
      </p:sp>
      <p:sp>
        <p:nvSpPr>
          <p:cNvPr id="6" name="Lab image card text"/>
          <p:cNvSpPr txBox="1"/>
          <p:nvPr/>
        </p:nvSpPr>
        <p:spPr>
          <a:xfrm>
            <a:off x="5897880" y="1325880"/>
            <a:ext cx="2697480" cy="2286000"/>
          </a:xfrm>
          <a:prstGeom prst="rect">
            <a:avLst/>
          </a:prstGeom>
          <a:noFill/>
          <a:ln/>
        </p:spPr>
        <p:txBody>
          <a:bodyPr wrap="square" rtlCol="0" anchor="t"/>
          <a:lstStyle/>
          <a:p>
            <a:pPr marL="0" indent="0">
              <a:spcAft>
                <a:spcPts val="400"/>
              </a:spcAft>
              <a:buNone/>
            </a:pPr>
            <a:r>
              <a:rPr lang="en-US" sz="1200" b="1" dirty="0">
                <a:solidFill>
                  <a:schemeClr val="accent1"/>
                </a:solidFill>
              </a:rPr>
              <a:t>Lab image (diogoff/saiku:3.90)</a:t>
            </a:r>
            <a:endParaRPr lang="en-US" sz="1200" dirty="0"/>
          </a:p>
          <a:p>
            <a:pPr marL="0" indent="0">
              <a:spcAft>
                <a:spcPts val="400"/>
              </a:spcAft>
              <a:buNone/>
            </a:pPr>
            <a:r>
              <a:rPr lang="en-US" sz="1200" dirty="0">
                <a:solidFill>
                  <a:schemeClr val="tx1"/>
                </a:solidFill>
              </a:rPr>
              <a:t>Measures and dimensions stayed loading for every cube, including the bundled sample; the log showed NoClassDefFoundError: mondrian/olap/LevelType</a:t>
            </a:r>
            <a:endParaRPr lang="en-US" sz="1200" dirty="0"/>
          </a:p>
        </p:txBody>
      </p:sp>
      <p:sp>
        <p:nvSpPr>
          <p:cNvPr id="7" name="Image used card"/>
          <p:cNvSpPr/>
          <p:nvPr/>
        </p:nvSpPr>
        <p:spPr>
          <a:xfrm>
            <a:off x="5806440" y="3794760"/>
            <a:ext cx="2880360" cy="2331720"/>
          </a:xfrm>
          <a:prstGeom prst="rect">
            <a:avLst/>
          </a:prstGeom>
          <a:solidFill>
            <a:schemeClr val="bg2"/>
          </a:solidFill>
          <a:ln w="9525">
            <a:solidFill>
              <a:schemeClr val="accent3"/>
            </a:solidFill>
            <a:prstDash val="solid"/>
          </a:ln>
        </p:spPr>
        <p:txBody>
          <a:bodyPr/>
          <a:lstStyle/>
          <a:p>
            <a:endParaRPr lang="pt-PT"/>
          </a:p>
        </p:txBody>
      </p:sp>
      <p:sp>
        <p:nvSpPr>
          <p:cNvPr id="8" name="Image used card text"/>
          <p:cNvSpPr txBox="1"/>
          <p:nvPr/>
        </p:nvSpPr>
        <p:spPr>
          <a:xfrm>
            <a:off x="5897880" y="3840480"/>
            <a:ext cx="2697480" cy="2240280"/>
          </a:xfrm>
          <a:prstGeom prst="rect">
            <a:avLst/>
          </a:prstGeom>
          <a:noFill/>
          <a:ln/>
        </p:spPr>
        <p:txBody>
          <a:bodyPr wrap="square" rtlCol="0" anchor="t"/>
          <a:lstStyle/>
          <a:p>
            <a:pPr marL="0" indent="0">
              <a:spcAft>
                <a:spcPts val="400"/>
              </a:spcAft>
              <a:buNone/>
            </a:pPr>
            <a:r>
              <a:rPr lang="en-US" sz="1200" b="1" dirty="0">
                <a:solidFill>
                  <a:schemeClr val="accent1"/>
                </a:solidFill>
              </a:rPr>
              <a:t>Image used</a:t>
            </a:r>
            <a:endParaRPr lang="en-US" sz="1200" dirty="0"/>
          </a:p>
          <a:p>
            <a:pPr marL="0" indent="0">
              <a:spcAft>
                <a:spcPts val="400"/>
              </a:spcAft>
              <a:buNone/>
            </a:pPr>
            <a:r>
              <a:rPr lang="en-US" sz="1200" dirty="0">
                <a:solidFill>
                  <a:schemeClr val="tx1"/>
                </a:solidFill>
              </a:rPr>
              <a:t>ghcr.io/spiculedata/saiku:latest, with the same schema.xml and a Mondrian data source pointing to aid_dw</a:t>
            </a:r>
            <a:endParaRPr lang="en-US" sz="1200" dirty="0"/>
          </a:p>
        </p:txBody>
      </p:sp>
    </p:spTree>
    <p:extLst>
      <p:ext uri="{BB962C8B-B14F-4D97-AF65-F5344CB8AC3E}">
        <p14:creationId xmlns:p14="http://schemas.microsoft.com/office/powerpoint/2010/main" val="22243847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Analysis A – growth since 1900</a:t>
            </a:r>
            <a:endParaRPr lang="en-US" sz="3000" dirty="0"/>
          </a:p>
        </p:txBody>
      </p:sp>
      <p:sp>
        <p:nvSpPr>
          <p:cNvPr id="3" name="Screenshot: Analysis A chart"/>
          <p:cNvSpPr/>
          <p:nvPr/>
        </p:nvSpPr>
        <p:spPr>
          <a:xfrm>
            <a:off x="457200" y="1280160"/>
            <a:ext cx="8229600" cy="3657600"/>
          </a:xfrm>
          <a:prstGeom prst="rect">
            <a:avLst/>
          </a:prstGeom>
          <a:solidFill>
            <a:schemeClr val="bg2"/>
          </a:solidFill>
          <a:ln w="12700">
            <a:solidFill>
              <a:schemeClr val="accent1"/>
            </a:solidFill>
            <a:prstDash val="dash"/>
          </a:ln>
        </p:spPr>
        <p:txBody>
          <a:bodyPr/>
          <a:lstStyle/>
          <a:p>
            <a:endParaRPr lang="pt-PT"/>
          </a:p>
        </p:txBody>
      </p:sp>
      <p:sp>
        <p:nvSpPr>
          <p:cNvPr id="4" name="Screenshot: Analysis A chart label"/>
          <p:cNvSpPr txBox="1"/>
          <p:nvPr/>
        </p:nvSpPr>
        <p:spPr>
          <a:xfrm>
            <a:off x="640080" y="1280160"/>
            <a:ext cx="7863840" cy="365760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line chart: GDP per capita by year, Portugal and 5 Western countries</a:t>
            </a:r>
            <a:endParaRPr lang="en-US" sz="1400" dirty="0"/>
          </a:p>
        </p:txBody>
      </p:sp>
      <p:sp>
        <p:nvSpPr>
          <p:cNvPr id="5" name="Event mark 1"/>
          <p:cNvSpPr/>
          <p:nvPr/>
        </p:nvSpPr>
        <p:spPr>
          <a:xfrm>
            <a:off x="457200" y="5074920"/>
            <a:ext cx="1289304" cy="1051560"/>
          </a:xfrm>
          <a:prstGeom prst="rect">
            <a:avLst/>
          </a:prstGeom>
          <a:solidFill>
            <a:schemeClr val="bg2"/>
          </a:solidFill>
          <a:ln w="9525">
            <a:solidFill>
              <a:schemeClr val="accent3"/>
            </a:solidFill>
            <a:prstDash val="solid"/>
          </a:ln>
        </p:spPr>
        <p:txBody>
          <a:bodyPr/>
          <a:lstStyle/>
          <a:p>
            <a:endParaRPr lang="pt-PT"/>
          </a:p>
        </p:txBody>
      </p:sp>
      <p:sp>
        <p:nvSpPr>
          <p:cNvPr id="6" name="Event mark 1 text"/>
          <p:cNvSpPr txBox="1"/>
          <p:nvPr/>
        </p:nvSpPr>
        <p:spPr>
          <a:xfrm>
            <a:off x="548640" y="5120640"/>
            <a:ext cx="1106424" cy="960120"/>
          </a:xfrm>
          <a:prstGeom prst="rect">
            <a:avLst/>
          </a:prstGeom>
          <a:noFill/>
          <a:ln/>
        </p:spPr>
        <p:txBody>
          <a:bodyPr wrap="square" rtlCol="0" anchor="t"/>
          <a:lstStyle/>
          <a:p>
            <a:pPr marL="0" indent="0">
              <a:spcAft>
                <a:spcPts val="400"/>
              </a:spcAft>
              <a:buNone/>
            </a:pPr>
            <a:r>
              <a:rPr lang="en-US" sz="1200" b="1" dirty="0">
                <a:solidFill>
                  <a:schemeClr val="accent1"/>
                </a:solidFill>
              </a:rPr>
              <a:t>1910–1926</a:t>
            </a:r>
            <a:endParaRPr lang="en-US" sz="1200" dirty="0"/>
          </a:p>
          <a:p>
            <a:pPr marL="0" indent="0">
              <a:spcAft>
                <a:spcPts val="400"/>
              </a:spcAft>
              <a:buNone/>
            </a:pPr>
            <a:r>
              <a:rPr lang="en-US" sz="1200" dirty="0">
                <a:solidFill>
                  <a:schemeClr val="tx1"/>
                </a:solidFill>
              </a:rPr>
              <a:t>Republic, WWI, instability</a:t>
            </a:r>
            <a:endParaRPr lang="en-US" sz="1200" dirty="0"/>
          </a:p>
        </p:txBody>
      </p:sp>
      <p:sp>
        <p:nvSpPr>
          <p:cNvPr id="7" name="Event mark 2"/>
          <p:cNvSpPr/>
          <p:nvPr/>
        </p:nvSpPr>
        <p:spPr>
          <a:xfrm>
            <a:off x="1856232" y="5074920"/>
            <a:ext cx="1289304" cy="1051560"/>
          </a:xfrm>
          <a:prstGeom prst="rect">
            <a:avLst/>
          </a:prstGeom>
          <a:solidFill>
            <a:schemeClr val="bg2"/>
          </a:solidFill>
          <a:ln w="9525">
            <a:solidFill>
              <a:schemeClr val="accent3"/>
            </a:solidFill>
            <a:prstDash val="solid"/>
          </a:ln>
        </p:spPr>
        <p:txBody>
          <a:bodyPr/>
          <a:lstStyle/>
          <a:p>
            <a:endParaRPr lang="pt-PT"/>
          </a:p>
        </p:txBody>
      </p:sp>
      <p:sp>
        <p:nvSpPr>
          <p:cNvPr id="8" name="Event mark 2 text"/>
          <p:cNvSpPr txBox="1"/>
          <p:nvPr/>
        </p:nvSpPr>
        <p:spPr>
          <a:xfrm>
            <a:off x="1947672" y="5120640"/>
            <a:ext cx="1106424" cy="960120"/>
          </a:xfrm>
          <a:prstGeom prst="rect">
            <a:avLst/>
          </a:prstGeom>
          <a:noFill/>
          <a:ln/>
        </p:spPr>
        <p:txBody>
          <a:bodyPr wrap="square" rtlCol="0" anchor="t"/>
          <a:lstStyle/>
          <a:p>
            <a:pPr marL="0" indent="0">
              <a:spcAft>
                <a:spcPts val="400"/>
              </a:spcAft>
              <a:buNone/>
            </a:pPr>
            <a:r>
              <a:rPr lang="en-US" sz="1200" b="1" dirty="0">
                <a:solidFill>
                  <a:schemeClr val="accent1"/>
                </a:solidFill>
              </a:rPr>
              <a:t>1960</a:t>
            </a:r>
            <a:endParaRPr lang="en-US" sz="1200" dirty="0"/>
          </a:p>
          <a:p>
            <a:pPr marL="0" indent="0">
              <a:spcAft>
                <a:spcPts val="400"/>
              </a:spcAft>
              <a:buNone/>
            </a:pPr>
            <a:r>
              <a:rPr lang="en-US" sz="1200" dirty="0">
                <a:solidFill>
                  <a:schemeClr val="tx1"/>
                </a:solidFill>
              </a:rPr>
              <a:t>EFTA founding member</a:t>
            </a:r>
            <a:endParaRPr lang="en-US" sz="1200" dirty="0"/>
          </a:p>
        </p:txBody>
      </p:sp>
      <p:sp>
        <p:nvSpPr>
          <p:cNvPr id="9" name="Event mark 3"/>
          <p:cNvSpPr/>
          <p:nvPr/>
        </p:nvSpPr>
        <p:spPr>
          <a:xfrm>
            <a:off x="3255264" y="5074920"/>
            <a:ext cx="1289304" cy="1051560"/>
          </a:xfrm>
          <a:prstGeom prst="rect">
            <a:avLst/>
          </a:prstGeom>
          <a:solidFill>
            <a:schemeClr val="bg2"/>
          </a:solidFill>
          <a:ln w="9525">
            <a:solidFill>
              <a:schemeClr val="accent3"/>
            </a:solidFill>
            <a:prstDash val="solid"/>
          </a:ln>
        </p:spPr>
        <p:txBody>
          <a:bodyPr/>
          <a:lstStyle/>
          <a:p>
            <a:endParaRPr lang="pt-PT"/>
          </a:p>
        </p:txBody>
      </p:sp>
      <p:sp>
        <p:nvSpPr>
          <p:cNvPr id="10" name="Event mark 3 text"/>
          <p:cNvSpPr txBox="1"/>
          <p:nvPr/>
        </p:nvSpPr>
        <p:spPr>
          <a:xfrm>
            <a:off x="3346704" y="5120640"/>
            <a:ext cx="1106424" cy="960120"/>
          </a:xfrm>
          <a:prstGeom prst="rect">
            <a:avLst/>
          </a:prstGeom>
          <a:noFill/>
          <a:ln/>
        </p:spPr>
        <p:txBody>
          <a:bodyPr wrap="square" rtlCol="0" anchor="t"/>
          <a:lstStyle/>
          <a:p>
            <a:pPr marL="0" indent="0">
              <a:spcAft>
                <a:spcPts val="400"/>
              </a:spcAft>
              <a:buNone/>
            </a:pPr>
            <a:r>
              <a:rPr lang="en-US" sz="1200" b="1" dirty="0">
                <a:solidFill>
                  <a:schemeClr val="accent1"/>
                </a:solidFill>
              </a:rPr>
              <a:t>1974–1975</a:t>
            </a:r>
            <a:endParaRPr lang="en-US" sz="1200" dirty="0"/>
          </a:p>
          <a:p>
            <a:pPr marL="0" indent="0">
              <a:spcAft>
                <a:spcPts val="400"/>
              </a:spcAft>
              <a:buNone/>
            </a:pPr>
            <a:r>
              <a:rPr lang="en-US" sz="1200" dirty="0">
                <a:solidFill>
                  <a:schemeClr val="tx1"/>
                </a:solidFill>
              </a:rPr>
              <a:t>Revolution, nationalisations</a:t>
            </a:r>
            <a:endParaRPr lang="en-US" sz="1200" dirty="0"/>
          </a:p>
        </p:txBody>
      </p:sp>
      <p:sp>
        <p:nvSpPr>
          <p:cNvPr id="11" name="Event mark 4"/>
          <p:cNvSpPr/>
          <p:nvPr/>
        </p:nvSpPr>
        <p:spPr>
          <a:xfrm>
            <a:off x="4654296" y="5074920"/>
            <a:ext cx="1289304" cy="1051560"/>
          </a:xfrm>
          <a:prstGeom prst="rect">
            <a:avLst/>
          </a:prstGeom>
          <a:solidFill>
            <a:schemeClr val="bg2"/>
          </a:solidFill>
          <a:ln w="9525">
            <a:solidFill>
              <a:schemeClr val="accent3"/>
            </a:solidFill>
            <a:prstDash val="solid"/>
          </a:ln>
        </p:spPr>
        <p:txBody>
          <a:bodyPr/>
          <a:lstStyle/>
          <a:p>
            <a:endParaRPr lang="pt-PT"/>
          </a:p>
        </p:txBody>
      </p:sp>
      <p:sp>
        <p:nvSpPr>
          <p:cNvPr id="12" name="Event mark 4 text"/>
          <p:cNvSpPr txBox="1"/>
          <p:nvPr/>
        </p:nvSpPr>
        <p:spPr>
          <a:xfrm>
            <a:off x="4745736" y="5120640"/>
            <a:ext cx="1106424" cy="960120"/>
          </a:xfrm>
          <a:prstGeom prst="rect">
            <a:avLst/>
          </a:prstGeom>
          <a:noFill/>
          <a:ln/>
        </p:spPr>
        <p:txBody>
          <a:bodyPr wrap="square" rtlCol="0" anchor="t"/>
          <a:lstStyle/>
          <a:p>
            <a:pPr marL="0" indent="0">
              <a:spcAft>
                <a:spcPts val="400"/>
              </a:spcAft>
              <a:buNone/>
            </a:pPr>
            <a:r>
              <a:rPr lang="en-US" sz="1200" b="1" dirty="0">
                <a:solidFill>
                  <a:schemeClr val="accent1"/>
                </a:solidFill>
              </a:rPr>
              <a:t>1986</a:t>
            </a:r>
            <a:endParaRPr lang="en-US" sz="1200" dirty="0"/>
          </a:p>
          <a:p>
            <a:pPr marL="0" indent="0">
              <a:spcAft>
                <a:spcPts val="400"/>
              </a:spcAft>
              <a:buNone/>
            </a:pPr>
            <a:r>
              <a:rPr lang="en-US" sz="1200" dirty="0">
                <a:solidFill>
                  <a:schemeClr val="tx1"/>
                </a:solidFill>
              </a:rPr>
              <a:t>EEC accession</a:t>
            </a:r>
            <a:endParaRPr lang="en-US" sz="1200" dirty="0"/>
          </a:p>
        </p:txBody>
      </p:sp>
      <p:sp>
        <p:nvSpPr>
          <p:cNvPr id="13" name="Event mark 5"/>
          <p:cNvSpPr/>
          <p:nvPr/>
        </p:nvSpPr>
        <p:spPr>
          <a:xfrm>
            <a:off x="6053328" y="5074920"/>
            <a:ext cx="1289304" cy="1051560"/>
          </a:xfrm>
          <a:prstGeom prst="rect">
            <a:avLst/>
          </a:prstGeom>
          <a:solidFill>
            <a:schemeClr val="bg2"/>
          </a:solidFill>
          <a:ln w="9525">
            <a:solidFill>
              <a:schemeClr val="accent3"/>
            </a:solidFill>
            <a:prstDash val="solid"/>
          </a:ln>
        </p:spPr>
        <p:txBody>
          <a:bodyPr/>
          <a:lstStyle/>
          <a:p>
            <a:endParaRPr lang="pt-PT"/>
          </a:p>
        </p:txBody>
      </p:sp>
      <p:sp>
        <p:nvSpPr>
          <p:cNvPr id="14" name="Event mark 5 text"/>
          <p:cNvSpPr txBox="1"/>
          <p:nvPr/>
        </p:nvSpPr>
        <p:spPr>
          <a:xfrm>
            <a:off x="6144768" y="5120640"/>
            <a:ext cx="1106424" cy="960120"/>
          </a:xfrm>
          <a:prstGeom prst="rect">
            <a:avLst/>
          </a:prstGeom>
          <a:noFill/>
          <a:ln/>
        </p:spPr>
        <p:txBody>
          <a:bodyPr wrap="square" rtlCol="0" anchor="t"/>
          <a:lstStyle/>
          <a:p>
            <a:pPr marL="0" indent="0">
              <a:spcAft>
                <a:spcPts val="400"/>
              </a:spcAft>
              <a:buNone/>
            </a:pPr>
            <a:r>
              <a:rPr lang="en-US" sz="1200" b="1" dirty="0">
                <a:solidFill>
                  <a:schemeClr val="accent1"/>
                </a:solidFill>
              </a:rPr>
              <a:t>2008–2013</a:t>
            </a:r>
            <a:endParaRPr lang="en-US" sz="1200" dirty="0"/>
          </a:p>
          <a:p>
            <a:pPr marL="0" indent="0">
              <a:spcAft>
                <a:spcPts val="400"/>
              </a:spcAft>
              <a:buNone/>
            </a:pPr>
            <a:r>
              <a:rPr lang="en-US" sz="1200" dirty="0">
                <a:solidFill>
                  <a:schemeClr val="tx1"/>
                </a:solidFill>
              </a:rPr>
              <a:t>Crisis, Troika bailout</a:t>
            </a:r>
            <a:endParaRPr lang="en-US" sz="1200" dirty="0"/>
          </a:p>
        </p:txBody>
      </p:sp>
      <p:sp>
        <p:nvSpPr>
          <p:cNvPr id="15" name="Event mark 6"/>
          <p:cNvSpPr/>
          <p:nvPr/>
        </p:nvSpPr>
        <p:spPr>
          <a:xfrm>
            <a:off x="7452360" y="5074920"/>
            <a:ext cx="1289304" cy="1051560"/>
          </a:xfrm>
          <a:prstGeom prst="rect">
            <a:avLst/>
          </a:prstGeom>
          <a:solidFill>
            <a:schemeClr val="bg2"/>
          </a:solidFill>
          <a:ln w="9525">
            <a:solidFill>
              <a:schemeClr val="accent3"/>
            </a:solidFill>
            <a:prstDash val="solid"/>
          </a:ln>
        </p:spPr>
        <p:txBody>
          <a:bodyPr/>
          <a:lstStyle/>
          <a:p>
            <a:endParaRPr lang="pt-PT"/>
          </a:p>
        </p:txBody>
      </p:sp>
      <p:sp>
        <p:nvSpPr>
          <p:cNvPr id="16" name="Event mark 6 text"/>
          <p:cNvSpPr txBox="1"/>
          <p:nvPr/>
        </p:nvSpPr>
        <p:spPr>
          <a:xfrm>
            <a:off x="7543800" y="5120640"/>
            <a:ext cx="1106424" cy="960120"/>
          </a:xfrm>
          <a:prstGeom prst="rect">
            <a:avLst/>
          </a:prstGeom>
          <a:noFill/>
          <a:ln/>
        </p:spPr>
        <p:txBody>
          <a:bodyPr wrap="square" rtlCol="0" anchor="t"/>
          <a:lstStyle/>
          <a:p>
            <a:pPr marL="0" indent="0">
              <a:spcAft>
                <a:spcPts val="400"/>
              </a:spcAft>
              <a:buNone/>
            </a:pPr>
            <a:r>
              <a:rPr lang="en-US" sz="1200" b="1" dirty="0">
                <a:solidFill>
                  <a:schemeClr val="accent1"/>
                </a:solidFill>
              </a:rPr>
              <a:t>2020</a:t>
            </a:r>
            <a:endParaRPr lang="en-US" sz="1200" dirty="0"/>
          </a:p>
          <a:p>
            <a:pPr marL="0" indent="0">
              <a:spcAft>
                <a:spcPts val="400"/>
              </a:spcAft>
              <a:buNone/>
            </a:pPr>
            <a:r>
              <a:rPr lang="en-US" sz="1200" dirty="0">
                <a:solidFill>
                  <a:schemeClr val="tx1"/>
                </a:solidFill>
              </a:rPr>
              <a:t>COVID-19</a:t>
            </a:r>
            <a:endParaRPr lang="en-US" sz="1200" dirty="0"/>
          </a:p>
        </p:txBody>
      </p:sp>
    </p:spTree>
    <p:extLst>
      <p:ext uri="{BB962C8B-B14F-4D97-AF65-F5344CB8AC3E}">
        <p14:creationId xmlns:p14="http://schemas.microsoft.com/office/powerpoint/2010/main" val="18773975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Analysis A – convergence by decade</a:t>
            </a:r>
            <a:endParaRPr lang="en-US" sz="3000" dirty="0"/>
          </a:p>
        </p:txBody>
      </p:sp>
      <p:sp>
        <p:nvSpPr>
          <p:cNvPr id="3" name="Screenshot: Analysis A decades"/>
          <p:cNvSpPr/>
          <p:nvPr/>
        </p:nvSpPr>
        <p:spPr>
          <a:xfrm>
            <a:off x="457200" y="1280160"/>
            <a:ext cx="4937760" cy="4846320"/>
          </a:xfrm>
          <a:prstGeom prst="rect">
            <a:avLst/>
          </a:prstGeom>
          <a:solidFill>
            <a:schemeClr val="bg2"/>
          </a:solidFill>
          <a:ln w="12700">
            <a:solidFill>
              <a:schemeClr val="accent1"/>
            </a:solidFill>
            <a:prstDash val="dash"/>
          </a:ln>
        </p:spPr>
        <p:txBody>
          <a:bodyPr/>
          <a:lstStyle/>
          <a:p>
            <a:endParaRPr lang="pt-PT"/>
          </a:p>
        </p:txBody>
      </p:sp>
      <p:sp>
        <p:nvSpPr>
          <p:cNvPr id="4" name="Screenshot: Analysis A decades label"/>
          <p:cNvSpPr txBox="1"/>
          <p:nvPr/>
        </p:nvSpPr>
        <p:spPr>
          <a:xfrm>
            <a:off x="640080" y="1280160"/>
            <a:ext cx="4572000" cy="484632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table: GDP per capita by decade, 6 countries</a:t>
            </a:r>
            <a:endParaRPr lang="en-US" sz="1400" dirty="0"/>
          </a:p>
        </p:txBody>
      </p:sp>
      <p:graphicFrame>
        <p:nvGraphicFramePr>
          <p:cNvPr id="7" name="PT avg table"/>
          <p:cNvGraphicFramePr>
            <a:graphicFrameLocks noGrp="1"/>
          </p:cNvGraphicFramePr>
          <p:nvPr>
            <p:extLst>
              <p:ext uri="{D42A27DB-BD31-4B8C-83A1-F6EECF244321}">
                <p14:modId xmlns:p14="http://schemas.microsoft.com/office/powerpoint/2010/main" val="1579011935"/>
              </p:ext>
            </p:extLst>
          </p:nvPr>
        </p:nvGraphicFramePr>
        <p:xfrm>
          <a:off x="5577840" y="1280160"/>
          <a:ext cx="3108960" cy="3127248"/>
        </p:xfrm>
        <a:graphic>
          <a:graphicData uri="http://schemas.openxmlformats.org/drawingml/2006/table">
            <a:tbl>
              <a:tblPr/>
              <a:tblGrid>
                <a:gridCol w="13716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tblGrid>
              <a:tr h="347472">
                <a:tc>
                  <a:txBody>
                    <a:bodyPr/>
                    <a:lstStyle/>
                    <a:p>
                      <a:pPr marL="0" indent="0">
                        <a:buNone/>
                      </a:pPr>
                      <a:r>
                        <a:rPr lang="en-US" sz="1300" b="1" dirty="0">
                          <a:solidFill>
                            <a:schemeClr val="bg1"/>
                          </a:solidFill>
                        </a:rPr>
                        <a:t>Decade</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PT / avg.</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47472">
                <a:tc>
                  <a:txBody>
                    <a:bodyPr/>
                    <a:lstStyle/>
                    <a:p>
                      <a:pPr marL="0" indent="0">
                        <a:buNone/>
                      </a:pPr>
                      <a:r>
                        <a:rPr lang="en-US" sz="1200" b="1" dirty="0">
                          <a:solidFill>
                            <a:schemeClr val="accent1"/>
                          </a:solidFill>
                        </a:rPr>
                        <a:t>1900s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55%</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200" b="1" dirty="0">
                          <a:solidFill>
                            <a:schemeClr val="accent1"/>
                          </a:solidFill>
                        </a:rPr>
                        <a:t>1920s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50%</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200" b="1" dirty="0">
                          <a:solidFill>
                            <a:schemeClr val="accent1"/>
                          </a:solidFill>
                        </a:rPr>
                        <a:t>1940s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65%</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200" b="1" dirty="0">
                          <a:solidFill>
                            <a:schemeClr val="accent1"/>
                          </a:solidFill>
                        </a:rPr>
                        <a:t>1960s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57%</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200" b="1" dirty="0">
                          <a:solidFill>
                            <a:schemeClr val="accent1"/>
                          </a:solidFill>
                        </a:rPr>
                        <a:t>1980s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68%</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1200" b="1" dirty="0">
                          <a:solidFill>
                            <a:schemeClr val="accent1"/>
                          </a:solidFill>
                        </a:rPr>
                        <a:t>1990s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78%</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6"/>
                  </a:ext>
                </a:extLst>
              </a:tr>
              <a:tr h="347472">
                <a:tc>
                  <a:txBody>
                    <a:bodyPr/>
                    <a:lstStyle/>
                    <a:p>
                      <a:pPr marL="0" indent="0">
                        <a:buNone/>
                      </a:pPr>
                      <a:r>
                        <a:rPr lang="en-US" sz="1200" b="1" dirty="0">
                          <a:solidFill>
                            <a:schemeClr val="accent1"/>
                          </a:solidFill>
                        </a:rPr>
                        <a:t>2010s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74%</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7"/>
                  </a:ext>
                </a:extLst>
              </a:tr>
              <a:tr h="347472">
                <a:tc>
                  <a:txBody>
                    <a:bodyPr/>
                    <a:lstStyle/>
                    <a:p>
                      <a:pPr marL="0" indent="0">
                        <a:buNone/>
                      </a:pPr>
                      <a:r>
                        <a:rPr lang="en-US" sz="1200" b="1" dirty="0">
                          <a:solidFill>
                            <a:schemeClr val="accent1"/>
                          </a:solidFill>
                        </a:rPr>
                        <a:t>2020s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78%</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6" name="Decades note"/>
          <p:cNvSpPr/>
          <p:nvPr/>
        </p:nvSpPr>
        <p:spPr>
          <a:xfrm>
            <a:off x="5577840" y="4572000"/>
            <a:ext cx="3108960" cy="1554480"/>
          </a:xfrm>
          <a:prstGeom prst="rect">
            <a:avLst/>
          </a:prstGeom>
          <a:solidFill>
            <a:schemeClr val="bg2"/>
          </a:solidFill>
          <a:ln w="9525">
            <a:solidFill>
              <a:schemeClr val="accent3"/>
            </a:solidFill>
            <a:prstDash val="solid"/>
          </a:ln>
        </p:spPr>
        <p:txBody>
          <a:bodyPr/>
          <a:lstStyle/>
          <a:p>
            <a:endParaRPr lang="pt-PT"/>
          </a:p>
        </p:txBody>
      </p:sp>
      <p:sp>
        <p:nvSpPr>
          <p:cNvPr id="5" name="Decades note text"/>
          <p:cNvSpPr txBox="1"/>
          <p:nvPr/>
        </p:nvSpPr>
        <p:spPr>
          <a:xfrm>
            <a:off x="5669280" y="4572000"/>
            <a:ext cx="2926080" cy="1554480"/>
          </a:xfrm>
          <a:prstGeom prst="rect">
            <a:avLst/>
          </a:prstGeom>
          <a:noFill/>
          <a:ln/>
        </p:spPr>
        <p:txBody>
          <a:bodyPr wrap="square" rtlCol="0" anchor="ctr"/>
          <a:lstStyle/>
          <a:p>
            <a:pPr marL="0" indent="0">
              <a:spcAft>
                <a:spcPts val="400"/>
              </a:spcAft>
              <a:buNone/>
            </a:pPr>
            <a:r>
              <a:rPr lang="en-US" sz="1200" dirty="0">
                <a:solidFill>
                  <a:schemeClr val="tx1"/>
                </a:solidFill>
              </a:rPr>
              <a:t>Fastest convergence after EEC accession (68% → 78%)</a:t>
            </a:r>
            <a:endParaRPr lang="en-US" sz="1200" dirty="0"/>
          </a:p>
          <a:p>
            <a:pPr marL="0" indent="0">
              <a:spcAft>
                <a:spcPts val="400"/>
              </a:spcAft>
              <a:buNone/>
            </a:pPr>
            <a:r>
              <a:rPr lang="en-US" sz="1200" dirty="0">
                <a:solidFill>
                  <a:schemeClr val="tx1"/>
                </a:solidFill>
              </a:rPr>
              <a:t>Stagnation after 2000; the 1940s gain comes from the others’ war losses</a:t>
            </a:r>
            <a:endParaRPr lang="en-US" sz="1200" dirty="0"/>
          </a:p>
        </p:txBody>
      </p:sp>
    </p:spTree>
    <p:extLst>
      <p:ext uri="{BB962C8B-B14F-4D97-AF65-F5344CB8AC3E}">
        <p14:creationId xmlns:p14="http://schemas.microsoft.com/office/powerpoint/2010/main" val="30797577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Analysis B – vs Western Europe</a:t>
            </a:r>
            <a:endParaRPr lang="en-US" sz="3000" dirty="0"/>
          </a:p>
        </p:txBody>
      </p:sp>
      <p:sp>
        <p:nvSpPr>
          <p:cNvPr id="3" name="Screenshot: Analysis B West"/>
          <p:cNvSpPr/>
          <p:nvPr/>
        </p:nvSpPr>
        <p:spPr>
          <a:xfrm>
            <a:off x="457200" y="1280160"/>
            <a:ext cx="4572000" cy="4846320"/>
          </a:xfrm>
          <a:prstGeom prst="rect">
            <a:avLst/>
          </a:prstGeom>
          <a:solidFill>
            <a:schemeClr val="bg2"/>
          </a:solidFill>
          <a:ln w="12700">
            <a:solidFill>
              <a:schemeClr val="accent1"/>
            </a:solidFill>
            <a:prstDash val="dash"/>
          </a:ln>
        </p:spPr>
        <p:txBody>
          <a:bodyPr/>
          <a:lstStyle/>
          <a:p>
            <a:endParaRPr lang="pt-PT"/>
          </a:p>
        </p:txBody>
      </p:sp>
      <p:sp>
        <p:nvSpPr>
          <p:cNvPr id="4" name="Screenshot: Analysis B West label"/>
          <p:cNvSpPr txBox="1"/>
          <p:nvPr/>
        </p:nvSpPr>
        <p:spPr>
          <a:xfrm>
            <a:off x="640080" y="1280160"/>
            <a:ext cx="4206240" cy="484632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table: Development cube, Focus and Western Europe, 1975–2025</a:t>
            </a:r>
            <a:endParaRPr lang="en-US" sz="1400" dirty="0"/>
          </a:p>
        </p:txBody>
      </p:sp>
      <p:graphicFrame>
        <p:nvGraphicFramePr>
          <p:cNvPr id="8" name="West table"/>
          <p:cNvGraphicFramePr>
            <a:graphicFrameLocks noGrp="1"/>
          </p:cNvGraphicFramePr>
          <p:nvPr>
            <p:extLst>
              <p:ext uri="{D42A27DB-BD31-4B8C-83A1-F6EECF244321}">
                <p14:modId xmlns:p14="http://schemas.microsoft.com/office/powerpoint/2010/main" val="1579011935"/>
              </p:ext>
            </p:extLst>
          </p:nvPr>
        </p:nvGraphicFramePr>
        <p:xfrm>
          <a:off x="5212080" y="1280160"/>
          <a:ext cx="3474720" cy="2432304"/>
        </p:xfrm>
        <a:graphic>
          <a:graphicData uri="http://schemas.openxmlformats.org/drawingml/2006/table">
            <a:tbl>
              <a:tblPr/>
              <a:tblGrid>
                <a:gridCol w="7315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347472">
                <a:tc>
                  <a:txBody>
                    <a:bodyPr/>
                    <a:lstStyle/>
                    <a:p>
                      <a:pPr marL="0" indent="0">
                        <a:buNone/>
                      </a:pPr>
                      <a:r>
                        <a:rPr lang="en-US" sz="1300" b="1" dirty="0">
                          <a:solidFill>
                            <a:schemeClr val="bg1"/>
                          </a:solidFill>
                        </a:rPr>
                        <a:t>Year</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GDP p.c.</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GNI p.c.</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Life exp. gap</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47472">
                <a:tc>
                  <a:txBody>
                    <a:bodyPr/>
                    <a:lstStyle/>
                    <a:p>
                      <a:pPr marL="0" indent="0">
                        <a:buNone/>
                      </a:pPr>
                      <a:r>
                        <a:rPr lang="en-US" sz="1200" b="1" dirty="0">
                          <a:solidFill>
                            <a:schemeClr val="accent1"/>
                          </a:solidFill>
                        </a:rPr>
                        <a:t>1975</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45%</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4.1</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200" b="1" dirty="0">
                          <a:solidFill>
                            <a:schemeClr val="accent1"/>
                          </a:solidFill>
                        </a:rPr>
                        <a:t>1985</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66%</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34%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200" b="1" dirty="0">
                          <a:solidFill>
                            <a:schemeClr val="accent1"/>
                          </a:solidFill>
                        </a:rPr>
                        <a:t>1990</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75%</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44%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2.2</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200" b="1" dirty="0">
                          <a:solidFill>
                            <a:schemeClr val="accent1"/>
                          </a:solidFill>
                        </a:rPr>
                        <a:t>2000</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74%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56%</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2.0</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200" b="1" dirty="0">
                          <a:solidFill>
                            <a:schemeClr val="accent1"/>
                          </a:solidFill>
                        </a:rPr>
                        <a:t>2013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67%</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55%</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0.9</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1200" b="1" dirty="0">
                          <a:solidFill>
                            <a:schemeClr val="accent1"/>
                          </a:solidFill>
                        </a:rPr>
                        <a:t>2022</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72%</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56%</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0.3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West caption"/>
          <p:cNvSpPr txBox="1"/>
          <p:nvPr/>
        </p:nvSpPr>
        <p:spPr>
          <a:xfrm>
            <a:off x="5212080" y="3749040"/>
            <a:ext cx="3474720" cy="365760"/>
          </a:xfrm>
          <a:prstGeom prst="rect">
            <a:avLst/>
          </a:prstGeom>
          <a:noFill/>
          <a:ln/>
        </p:spPr>
        <p:txBody>
          <a:bodyPr wrap="square" rtlCol="0" anchor="ctr"/>
          <a:lstStyle/>
          <a:p>
            <a:pPr marL="0" indent="0">
              <a:buNone/>
            </a:pPr>
            <a:r>
              <a:rPr lang="en-US" sz="1000" i="1" dirty="0">
                <a:solidFill>
                  <a:schemeClr val="accent2"/>
                </a:solidFill>
              </a:rPr>
              <a:t>Portugal as % of the Western European average; life expectancy gap in years</a:t>
            </a:r>
            <a:endParaRPr lang="en-US" sz="1000" dirty="0"/>
          </a:p>
        </p:txBody>
      </p:sp>
      <p:sp>
        <p:nvSpPr>
          <p:cNvPr id="7" name="West note"/>
          <p:cNvSpPr/>
          <p:nvPr/>
        </p:nvSpPr>
        <p:spPr>
          <a:xfrm>
            <a:off x="5212080" y="4206240"/>
            <a:ext cx="3474720" cy="1920240"/>
          </a:xfrm>
          <a:prstGeom prst="rect">
            <a:avLst/>
          </a:prstGeom>
          <a:solidFill>
            <a:schemeClr val="bg2"/>
          </a:solidFill>
          <a:ln w="9525">
            <a:solidFill>
              <a:schemeClr val="accent3"/>
            </a:solidFill>
            <a:prstDash val="solid"/>
          </a:ln>
        </p:spPr>
        <p:txBody>
          <a:bodyPr/>
          <a:lstStyle/>
          <a:p>
            <a:endParaRPr lang="pt-PT"/>
          </a:p>
        </p:txBody>
      </p:sp>
      <p:sp>
        <p:nvSpPr>
          <p:cNvPr id="5" name="West note text"/>
          <p:cNvSpPr txBox="1"/>
          <p:nvPr/>
        </p:nvSpPr>
        <p:spPr>
          <a:xfrm>
            <a:off x="5303520" y="4206240"/>
            <a:ext cx="3291840" cy="1920240"/>
          </a:xfrm>
          <a:prstGeom prst="rect">
            <a:avLst/>
          </a:prstGeom>
          <a:noFill/>
          <a:ln/>
        </p:spPr>
        <p:txBody>
          <a:bodyPr wrap="square" rtlCol="0" anchor="ctr"/>
          <a:lstStyle/>
          <a:p>
            <a:pPr marL="0" indent="0">
              <a:spcAft>
                <a:spcPts val="400"/>
              </a:spcAft>
              <a:buNone/>
            </a:pPr>
            <a:r>
              <a:rPr lang="en-US" sz="1200" dirty="0">
                <a:solidFill>
                  <a:schemeClr val="tx1"/>
                </a:solidFill>
              </a:rPr>
              <a:t>Convergence after EEC accession (1986)</a:t>
            </a:r>
            <a:endParaRPr lang="en-US" sz="1200" dirty="0"/>
          </a:p>
          <a:p>
            <a:pPr marL="0" indent="0">
              <a:spcAft>
                <a:spcPts val="400"/>
              </a:spcAft>
              <a:buNone/>
            </a:pPr>
            <a:r>
              <a:rPr lang="en-US" sz="1200" dirty="0">
                <a:solidFill>
                  <a:schemeClr val="tx1"/>
                </a:solidFill>
              </a:rPr>
              <a:t>Divergence after 2000: euro, crises, Troika (2011)</a:t>
            </a:r>
            <a:endParaRPr lang="en-US" sz="1200" dirty="0"/>
          </a:p>
          <a:p>
            <a:pPr marL="0" indent="0">
              <a:spcAft>
                <a:spcPts val="400"/>
              </a:spcAft>
              <a:buNone/>
            </a:pPr>
            <a:r>
              <a:rPr lang="en-US" sz="1200" dirty="0">
                <a:solidFill>
                  <a:schemeClr val="tx1"/>
                </a:solidFill>
              </a:rPr>
              <a:t>Life expectancy almost fully converges</a:t>
            </a:r>
            <a:endParaRPr lang="en-US" sz="1200" dirty="0"/>
          </a:p>
        </p:txBody>
      </p:sp>
    </p:spTree>
    <p:extLst>
      <p:ext uri="{BB962C8B-B14F-4D97-AF65-F5344CB8AC3E}">
        <p14:creationId xmlns:p14="http://schemas.microsoft.com/office/powerpoint/2010/main" val="3607385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Analysis B – vs Eastern Europe</a:t>
            </a:r>
            <a:endParaRPr lang="en-US" sz="3000" dirty="0"/>
          </a:p>
        </p:txBody>
      </p:sp>
      <p:sp>
        <p:nvSpPr>
          <p:cNvPr id="3" name="Screenshot: Analysis B East"/>
          <p:cNvSpPr/>
          <p:nvPr/>
        </p:nvSpPr>
        <p:spPr>
          <a:xfrm>
            <a:off x="457200" y="1280160"/>
            <a:ext cx="4572000" cy="4846320"/>
          </a:xfrm>
          <a:prstGeom prst="rect">
            <a:avLst/>
          </a:prstGeom>
          <a:solidFill>
            <a:schemeClr val="bg2"/>
          </a:solidFill>
          <a:ln w="12700">
            <a:solidFill>
              <a:schemeClr val="accent1"/>
            </a:solidFill>
            <a:prstDash val="dash"/>
          </a:ln>
        </p:spPr>
        <p:txBody>
          <a:bodyPr/>
          <a:lstStyle/>
          <a:p>
            <a:endParaRPr lang="pt-PT"/>
          </a:p>
        </p:txBody>
      </p:sp>
      <p:sp>
        <p:nvSpPr>
          <p:cNvPr id="4" name="Screenshot: Analysis B East label"/>
          <p:cNvSpPr txBox="1"/>
          <p:nvPr/>
        </p:nvSpPr>
        <p:spPr>
          <a:xfrm>
            <a:off x="640080" y="1280160"/>
            <a:ext cx="4206240" cy="484632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table: Development cube, Focus and the two Eastern groups, 1990–2025</a:t>
            </a:r>
            <a:endParaRPr lang="en-US" sz="1400" dirty="0"/>
          </a:p>
        </p:txBody>
      </p:sp>
      <p:graphicFrame>
        <p:nvGraphicFramePr>
          <p:cNvPr id="9" name="East table"/>
          <p:cNvGraphicFramePr>
            <a:graphicFrameLocks noGrp="1"/>
          </p:cNvGraphicFramePr>
          <p:nvPr>
            <p:extLst>
              <p:ext uri="{D42A27DB-BD31-4B8C-83A1-F6EECF244321}">
                <p14:modId xmlns:p14="http://schemas.microsoft.com/office/powerpoint/2010/main" val="1579011935"/>
              </p:ext>
            </p:extLst>
          </p:nvPr>
        </p:nvGraphicFramePr>
        <p:xfrm>
          <a:off x="5212080" y="1280160"/>
          <a:ext cx="3474720" cy="2084832"/>
        </p:xfrm>
        <a:graphic>
          <a:graphicData uri="http://schemas.openxmlformats.org/drawingml/2006/table">
            <a:tbl>
              <a:tblPr/>
              <a:tblGrid>
                <a:gridCol w="6400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47472">
                <a:tc>
                  <a:txBody>
                    <a:bodyPr/>
                    <a:lstStyle/>
                    <a:p>
                      <a:pPr marL="0" indent="0">
                        <a:buNone/>
                      </a:pPr>
                      <a:r>
                        <a:rPr lang="en-US" sz="1300" b="1" dirty="0">
                          <a:solidFill>
                            <a:schemeClr val="bg1"/>
                          </a:solidFill>
                        </a:rPr>
                        <a:t>Year</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Portugal</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C./E. Europe</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Post-Soviet</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47472">
                <a:tc>
                  <a:txBody>
                    <a:bodyPr/>
                    <a:lstStyle/>
                    <a:p>
                      <a:pPr marL="0" indent="0">
                        <a:buNone/>
                      </a:pPr>
                      <a:r>
                        <a:rPr lang="en-US" sz="1200" b="1" dirty="0">
                          <a:solidFill>
                            <a:schemeClr val="accent1"/>
                          </a:solidFill>
                        </a:rPr>
                        <a:t>1990</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17,256</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9,555</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15,621</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200" b="1" dirty="0">
                          <a:solidFill>
                            <a:schemeClr val="accent1"/>
                          </a:solidFill>
                        </a:rPr>
                        <a:t>1995</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19,262</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10,027</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9,963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200" b="1" dirty="0">
                          <a:solidFill>
                            <a:schemeClr val="accent1"/>
                          </a:solidFill>
                        </a:rPr>
                        <a:t>2004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24,143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15,748</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17,057</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200" b="1" dirty="0">
                          <a:solidFill>
                            <a:schemeClr val="accent1"/>
                          </a:solidFill>
                        </a:rPr>
                        <a:t>2019</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28,056</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27,977</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27,783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200" b="1" dirty="0">
                          <a:solidFill>
                            <a:schemeClr val="accent1"/>
                          </a:solidFill>
                        </a:rPr>
                        <a:t>2022</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28,992</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30,091</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29,384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East caption"/>
          <p:cNvSpPr txBox="1"/>
          <p:nvPr/>
        </p:nvSpPr>
        <p:spPr>
          <a:xfrm>
            <a:off x="5212080" y="3429000"/>
            <a:ext cx="3474720" cy="320040"/>
          </a:xfrm>
          <a:prstGeom prst="rect">
            <a:avLst/>
          </a:prstGeom>
          <a:noFill/>
          <a:ln/>
        </p:spPr>
        <p:txBody>
          <a:bodyPr wrap="square" rtlCol="0" anchor="ctr"/>
          <a:lstStyle/>
          <a:p>
            <a:pPr marL="0" indent="0">
              <a:buNone/>
            </a:pPr>
            <a:r>
              <a:rPr lang="en-US" sz="1000" i="1" dirty="0">
                <a:solidFill>
                  <a:schemeClr val="accent2"/>
                </a:solidFill>
              </a:rPr>
              <a:t>GDP per capita (2011 int. $)</a:t>
            </a:r>
            <a:endParaRPr lang="en-US" sz="1000" dirty="0"/>
          </a:p>
        </p:txBody>
      </p:sp>
      <p:sp>
        <p:nvSpPr>
          <p:cNvPr id="7" name="East note"/>
          <p:cNvSpPr/>
          <p:nvPr/>
        </p:nvSpPr>
        <p:spPr>
          <a:xfrm>
            <a:off x="5212080" y="3840480"/>
            <a:ext cx="3474720" cy="2286000"/>
          </a:xfrm>
          <a:prstGeom prst="rect">
            <a:avLst/>
          </a:prstGeom>
          <a:solidFill>
            <a:schemeClr val="bg2"/>
          </a:solidFill>
          <a:ln w="9525">
            <a:solidFill>
              <a:schemeClr val="accent3"/>
            </a:solidFill>
            <a:prstDash val="solid"/>
          </a:ln>
        </p:spPr>
        <p:txBody>
          <a:bodyPr/>
          <a:lstStyle/>
          <a:p>
            <a:endParaRPr lang="pt-PT"/>
          </a:p>
        </p:txBody>
      </p:sp>
      <p:sp>
        <p:nvSpPr>
          <p:cNvPr id="8" name="East note text"/>
          <p:cNvSpPr txBox="1"/>
          <p:nvPr/>
        </p:nvSpPr>
        <p:spPr>
          <a:xfrm>
            <a:off x="5303520" y="3840480"/>
            <a:ext cx="3291840" cy="2286000"/>
          </a:xfrm>
          <a:prstGeom prst="rect">
            <a:avLst/>
          </a:prstGeom>
          <a:noFill/>
          <a:ln/>
        </p:spPr>
        <p:txBody>
          <a:bodyPr wrap="square" rtlCol="0" anchor="ctr"/>
          <a:lstStyle/>
          <a:p>
            <a:pPr marL="0" indent="0">
              <a:spcAft>
                <a:spcPts val="400"/>
              </a:spcAft>
              <a:buNone/>
            </a:pPr>
            <a:r>
              <a:rPr lang="en-US" sz="1200" dirty="0">
                <a:solidFill>
                  <a:schemeClr val="tx1"/>
                </a:solidFill>
              </a:rPr>
              <a:t>Transition shock after 1989–1991</a:t>
            </a:r>
            <a:endParaRPr lang="en-US" sz="1200" dirty="0"/>
          </a:p>
          <a:p>
            <a:pPr marL="0" indent="0">
              <a:spcAft>
                <a:spcPts val="400"/>
              </a:spcAft>
              <a:buNone/>
            </a:pPr>
            <a:r>
              <a:rPr lang="en-US" sz="1200" dirty="0">
                <a:solidFill>
                  <a:schemeClr val="tx1"/>
                </a:solidFill>
              </a:rPr>
              <a:t>Fast catch-up after EU accession (2004; Romania 2007)</a:t>
            </a:r>
            <a:endParaRPr lang="en-US" sz="1200" dirty="0"/>
          </a:p>
          <a:p>
            <a:pPr marL="0" indent="0">
              <a:spcAft>
                <a:spcPts val="400"/>
              </a:spcAft>
              <a:buNone/>
            </a:pPr>
            <a:r>
              <a:rPr lang="en-US" sz="1200" dirty="0">
                <a:solidFill>
                  <a:schemeClr val="tx1"/>
                </a:solidFill>
              </a:rPr>
              <a:t>Both groups overtake Portugal in 2020</a:t>
            </a:r>
            <a:endParaRPr lang="en-US" sz="1200" dirty="0"/>
          </a:p>
          <a:p>
            <a:pPr marL="0" indent="0">
              <a:spcAft>
                <a:spcPts val="400"/>
              </a:spcAft>
              <a:buNone/>
            </a:pPr>
            <a:r>
              <a:rPr lang="en-US" sz="1200" dirty="0">
                <a:solidFill>
                  <a:schemeClr val="tx1"/>
                </a:solidFill>
              </a:rPr>
              <a:t>Portugal stays about 5 years ahead in life expectancy</a:t>
            </a:r>
            <a:endParaRPr lang="en-US" sz="1200" dirty="0"/>
          </a:p>
        </p:txBody>
      </p:sp>
    </p:spTree>
    <p:extLst>
      <p:ext uri="{BB962C8B-B14F-4D97-AF65-F5344CB8AC3E}">
        <p14:creationId xmlns:p14="http://schemas.microsoft.com/office/powerpoint/2010/main" val="2785470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Analysis C – sector drill-down</a:t>
            </a:r>
            <a:endParaRPr lang="en-US" sz="3000" dirty="0"/>
          </a:p>
        </p:txBody>
      </p:sp>
      <p:sp>
        <p:nvSpPr>
          <p:cNvPr id="3" name="Screenshot: C before drill"/>
          <p:cNvSpPr/>
          <p:nvPr/>
        </p:nvSpPr>
        <p:spPr>
          <a:xfrm>
            <a:off x="457200" y="1280160"/>
            <a:ext cx="3977640" cy="2194560"/>
          </a:xfrm>
          <a:prstGeom prst="rect">
            <a:avLst/>
          </a:prstGeom>
          <a:solidFill>
            <a:schemeClr val="bg2"/>
          </a:solidFill>
          <a:ln w="12700">
            <a:solidFill>
              <a:schemeClr val="accent1"/>
            </a:solidFill>
            <a:prstDash val="dash"/>
          </a:ln>
        </p:spPr>
        <p:txBody>
          <a:bodyPr/>
          <a:lstStyle/>
          <a:p>
            <a:endParaRPr lang="pt-PT"/>
          </a:p>
        </p:txBody>
      </p:sp>
      <p:sp>
        <p:nvSpPr>
          <p:cNvPr id="4" name="Screenshot: C before drill label"/>
          <p:cNvSpPr txBox="1"/>
          <p:nvPr/>
        </p:nvSpPr>
        <p:spPr>
          <a:xfrm>
            <a:off x="640080" y="1280160"/>
            <a:ext cx="3611880" cy="219456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Before drill-down: Broad Sector by decade</a:t>
            </a:r>
            <a:endParaRPr lang="en-US" sz="1400" dirty="0"/>
          </a:p>
        </p:txBody>
      </p:sp>
      <p:sp>
        <p:nvSpPr>
          <p:cNvPr id="5" name="Screenshot: C after drill"/>
          <p:cNvSpPr/>
          <p:nvPr/>
        </p:nvSpPr>
        <p:spPr>
          <a:xfrm>
            <a:off x="4709160" y="1280160"/>
            <a:ext cx="3977640" cy="2194560"/>
          </a:xfrm>
          <a:prstGeom prst="rect">
            <a:avLst/>
          </a:prstGeom>
          <a:solidFill>
            <a:schemeClr val="bg2"/>
          </a:solidFill>
          <a:ln w="12700">
            <a:solidFill>
              <a:schemeClr val="accent1"/>
            </a:solidFill>
            <a:prstDash val="dash"/>
          </a:ln>
        </p:spPr>
        <p:txBody>
          <a:bodyPr/>
          <a:lstStyle/>
          <a:p>
            <a:endParaRPr lang="pt-PT"/>
          </a:p>
        </p:txBody>
      </p:sp>
      <p:sp>
        <p:nvSpPr>
          <p:cNvPr id="6" name="Screenshot: C after drill label"/>
          <p:cNvSpPr txBox="1"/>
          <p:nvPr/>
        </p:nvSpPr>
        <p:spPr>
          <a:xfrm>
            <a:off x="4892040" y="1280160"/>
            <a:ext cx="3611880" cy="219456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After drill-down: Secondary → Industry, Manufacturing</a:t>
            </a:r>
            <a:endParaRPr lang="en-US" sz="1400" dirty="0"/>
          </a:p>
        </p:txBody>
      </p:sp>
      <p:graphicFrame>
        <p:nvGraphicFramePr>
          <p:cNvPr id="10" name="Sector table"/>
          <p:cNvGraphicFramePr>
            <a:graphicFrameLocks noGrp="1"/>
          </p:cNvGraphicFramePr>
          <p:nvPr>
            <p:extLst>
              <p:ext uri="{D42A27DB-BD31-4B8C-83A1-F6EECF244321}">
                <p14:modId xmlns:p14="http://schemas.microsoft.com/office/powerpoint/2010/main" val="1579011935"/>
              </p:ext>
            </p:extLst>
          </p:nvPr>
        </p:nvGraphicFramePr>
        <p:xfrm>
          <a:off x="457200" y="3657600"/>
          <a:ext cx="3977640" cy="1920240"/>
        </p:xfrm>
        <a:graphic>
          <a:graphicData uri="http://schemas.openxmlformats.org/drawingml/2006/table">
            <a:tbl>
              <a:tblPr/>
              <a:tblGrid>
                <a:gridCol w="19659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384048">
                <a:tc>
                  <a:txBody>
                    <a:bodyPr/>
                    <a:lstStyle/>
                    <a:p>
                      <a:pPr marL="0" indent="0">
                        <a:buNone/>
                      </a:pPr>
                      <a:r>
                        <a:rPr lang="en-US" sz="1300" b="1" dirty="0">
                          <a:solidFill>
                            <a:schemeClr val="bg1"/>
                          </a:solidFill>
                        </a:rPr>
                        <a:t>Sector</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1990s</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2020s</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chemeClr val="accent1"/>
                          </a:solidFill>
                        </a:rPr>
                        <a:t>Agriculture</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4.0</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2.1</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chemeClr val="accent1"/>
                          </a:solidFill>
                        </a:rPr>
                        <a:t>Industry</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25.2</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18.8</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chemeClr val="accent1"/>
                          </a:solidFill>
                        </a:rPr>
                        <a:t>Manufacturing</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16.1</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12.0</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chemeClr val="accent1"/>
                          </a:solidFill>
                        </a:rPr>
                        <a:t>Services</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58.5</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66.0</a:t>
                      </a:r>
                      <a:endParaRPr lang="en-US" sz="12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Drill note"/>
          <p:cNvSpPr/>
          <p:nvPr/>
        </p:nvSpPr>
        <p:spPr>
          <a:xfrm>
            <a:off x="4709160" y="3657600"/>
            <a:ext cx="3977640" cy="2468880"/>
          </a:xfrm>
          <a:prstGeom prst="rect">
            <a:avLst/>
          </a:prstGeom>
          <a:solidFill>
            <a:schemeClr val="bg2"/>
          </a:solidFill>
          <a:ln w="9525">
            <a:solidFill>
              <a:schemeClr val="accent3"/>
            </a:solidFill>
            <a:prstDash val="solid"/>
          </a:ln>
        </p:spPr>
        <p:txBody>
          <a:bodyPr/>
          <a:lstStyle/>
          <a:p>
            <a:endParaRPr lang="pt-PT"/>
          </a:p>
        </p:txBody>
      </p:sp>
      <p:sp>
        <p:nvSpPr>
          <p:cNvPr id="9" name="Drill note text"/>
          <p:cNvSpPr txBox="1"/>
          <p:nvPr/>
        </p:nvSpPr>
        <p:spPr>
          <a:xfrm>
            <a:off x="4800600" y="3657600"/>
            <a:ext cx="3794760" cy="2468880"/>
          </a:xfrm>
          <a:prstGeom prst="rect">
            <a:avLst/>
          </a:prstGeom>
          <a:noFill/>
          <a:ln/>
        </p:spPr>
        <p:txBody>
          <a:bodyPr wrap="square" rtlCol="0" anchor="ctr"/>
          <a:lstStyle/>
          <a:p>
            <a:pPr marL="0" indent="0">
              <a:spcAft>
                <a:spcPts val="400"/>
              </a:spcAft>
              <a:buNone/>
            </a:pPr>
            <a:r>
              <a:rPr lang="en-US" sz="1200" dirty="0">
                <a:solidFill>
                  <a:schemeClr val="tx1"/>
                </a:solidFill>
              </a:rPr>
              <a:t>Deindustrialisation: Lisnave (2000) and Siderurgia Nacional (2001) close</a:t>
            </a:r>
            <a:endParaRPr lang="en-US" sz="1200" dirty="0"/>
          </a:p>
          <a:p>
            <a:pPr marL="0" indent="0">
              <a:spcAft>
                <a:spcPts val="400"/>
              </a:spcAft>
              <a:buNone/>
            </a:pPr>
            <a:r>
              <a:rPr lang="en-US" sz="1200" dirty="0">
                <a:solidFill>
                  <a:schemeClr val="tx1"/>
                </a:solidFill>
              </a:rPr>
              <a:t>Services grow with EU funds, infrastructure and the euro</a:t>
            </a:r>
            <a:endParaRPr lang="en-US" sz="1200" dirty="0"/>
          </a:p>
          <a:p>
            <a:pPr marL="0" indent="0">
              <a:spcAft>
                <a:spcPts val="400"/>
              </a:spcAft>
              <a:buNone/>
            </a:pPr>
            <a:r>
              <a:rPr lang="en-US" sz="1200" dirty="0">
                <a:solidFill>
                  <a:schemeClr val="tx1"/>
                </a:solidFill>
              </a:rPr>
              <a:t>The Secondary value averages two overlapping sectors, so it is read at Sector level</a:t>
            </a:r>
            <a:endParaRPr lang="en-US" sz="1200" dirty="0"/>
          </a:p>
        </p:txBody>
      </p:sp>
    </p:spTree>
    <p:extLst>
      <p:ext uri="{BB962C8B-B14F-4D97-AF65-F5344CB8AC3E}">
        <p14:creationId xmlns:p14="http://schemas.microsoft.com/office/powerpoint/2010/main" val="15471848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Analysis C – sectors by group</a:t>
            </a:r>
            <a:endParaRPr lang="en-US" sz="3000" dirty="0"/>
          </a:p>
        </p:txBody>
      </p:sp>
      <p:sp>
        <p:nvSpPr>
          <p:cNvPr id="3" name="Screenshot: C groups"/>
          <p:cNvSpPr/>
          <p:nvPr/>
        </p:nvSpPr>
        <p:spPr>
          <a:xfrm>
            <a:off x="457200" y="1280160"/>
            <a:ext cx="4937760" cy="3291840"/>
          </a:xfrm>
          <a:prstGeom prst="rect">
            <a:avLst/>
          </a:prstGeom>
          <a:solidFill>
            <a:schemeClr val="bg2"/>
          </a:solidFill>
          <a:ln w="12700">
            <a:solidFill>
              <a:schemeClr val="accent1"/>
            </a:solidFill>
            <a:prstDash val="dash"/>
          </a:ln>
        </p:spPr>
        <p:txBody>
          <a:bodyPr/>
          <a:lstStyle/>
          <a:p>
            <a:endParaRPr lang="pt-PT"/>
          </a:p>
        </p:txBody>
      </p:sp>
      <p:sp>
        <p:nvSpPr>
          <p:cNvPr id="4" name="Screenshot: C groups label"/>
          <p:cNvSpPr txBox="1"/>
          <p:nvPr/>
        </p:nvSpPr>
        <p:spPr>
          <a:xfrm>
            <a:off x="640080" y="1280160"/>
            <a:ext cx="4572000" cy="329184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table: Sector by Country Group, filter Decade 2010</a:t>
            </a:r>
            <a:endParaRPr lang="en-US" sz="1400" dirty="0"/>
          </a:p>
        </p:txBody>
      </p:sp>
      <p:graphicFrame>
        <p:nvGraphicFramePr>
          <p:cNvPr id="11" name="Groups table"/>
          <p:cNvGraphicFramePr>
            <a:graphicFrameLocks noGrp="1"/>
          </p:cNvGraphicFramePr>
          <p:nvPr>
            <p:extLst>
              <p:ext uri="{D42A27DB-BD31-4B8C-83A1-F6EECF244321}">
                <p14:modId xmlns:p14="http://schemas.microsoft.com/office/powerpoint/2010/main" val="1579011935"/>
              </p:ext>
            </p:extLst>
          </p:nvPr>
        </p:nvGraphicFramePr>
        <p:xfrm>
          <a:off x="5577840" y="1280160"/>
          <a:ext cx="3108960" cy="2304288"/>
        </p:xfrm>
        <a:graphic>
          <a:graphicData uri="http://schemas.openxmlformats.org/drawingml/2006/table">
            <a:tbl>
              <a:tblPr/>
              <a:tblGrid>
                <a:gridCol w="11430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84048">
                <a:tc>
                  <a:txBody>
                    <a:bodyPr/>
                    <a:lstStyle/>
                    <a:p>
                      <a:pPr marL="0" indent="0">
                        <a:buNone/>
                      </a:pPr>
                      <a:r>
                        <a:rPr lang="en-US" sz="1300" b="1" dirty="0">
                          <a:solidFill>
                            <a:schemeClr val="bg1"/>
                          </a:solidFill>
                        </a:rPr>
                        <a:t>Group</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Industry</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Manuf.</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Services</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chemeClr val="accent1"/>
                          </a:solidFill>
                        </a:rPr>
                        <a:t>Portugal</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19.3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11.9</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65.9</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chemeClr val="accent1"/>
                          </a:solidFill>
                        </a:rPr>
                        <a:t>W. Europe</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21.3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14.6</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66.8</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chemeClr val="accent1"/>
                          </a:solidFill>
                        </a:rPr>
                        <a:t>C./E. Europe</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30.0</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19.7</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54.7</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chemeClr val="accent1"/>
                          </a:solidFill>
                        </a:rPr>
                        <a:t>Post-Soviet</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23.6</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14.0</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61.2</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b="1" dirty="0">
                          <a:solidFill>
                            <a:schemeClr val="accent1"/>
                          </a:solidFill>
                        </a:rPr>
                        <a:t>EU</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22.3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14.8</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65.3</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Groups note"/>
          <p:cNvSpPr/>
          <p:nvPr/>
        </p:nvSpPr>
        <p:spPr>
          <a:xfrm>
            <a:off x="457200" y="4754880"/>
            <a:ext cx="8229600" cy="1371600"/>
          </a:xfrm>
          <a:prstGeom prst="rect">
            <a:avLst/>
          </a:prstGeom>
          <a:solidFill>
            <a:schemeClr val="bg2"/>
          </a:solidFill>
          <a:ln w="9525">
            <a:solidFill>
              <a:schemeClr val="accent3"/>
            </a:solidFill>
            <a:prstDash val="solid"/>
          </a:ln>
        </p:spPr>
        <p:txBody>
          <a:bodyPr/>
          <a:lstStyle/>
          <a:p>
            <a:endParaRPr lang="pt-PT"/>
          </a:p>
        </p:txBody>
      </p:sp>
      <p:sp>
        <p:nvSpPr>
          <p:cNvPr id="7" name="Groups note text"/>
          <p:cNvSpPr txBox="1"/>
          <p:nvPr/>
        </p:nvSpPr>
        <p:spPr>
          <a:xfrm>
            <a:off x="548640" y="4754880"/>
            <a:ext cx="8046720" cy="1371600"/>
          </a:xfrm>
          <a:prstGeom prst="rect">
            <a:avLst/>
          </a:prstGeom>
          <a:noFill/>
          <a:ln/>
        </p:spPr>
        <p:txBody>
          <a:bodyPr wrap="square" rtlCol="0" anchor="ctr"/>
          <a:lstStyle/>
          <a:p>
            <a:pPr marL="0" indent="0">
              <a:spcAft>
                <a:spcPts val="400"/>
              </a:spcAft>
              <a:buNone/>
            </a:pPr>
            <a:r>
              <a:rPr lang="en-US" sz="1200" dirty="0">
                <a:solidFill>
                  <a:schemeClr val="tx1"/>
                </a:solidFill>
              </a:rPr>
              <a:t>Portugal has a Western European structure, with less manufacturing than the Western and EU averages</a:t>
            </a:r>
            <a:endParaRPr lang="en-US" sz="1200" dirty="0"/>
          </a:p>
          <a:p>
            <a:pPr marL="0" indent="0">
              <a:spcAft>
                <a:spcPts val="400"/>
              </a:spcAft>
              <a:buNone/>
            </a:pPr>
            <a:r>
              <a:rPr lang="en-US" sz="1200" dirty="0">
                <a:solidFill>
                  <a:schemeClr val="tx1"/>
                </a:solidFill>
              </a:rPr>
              <a:t>Central/Eastern Europe keeps a much larger industry (30% of GDP)</a:t>
            </a:r>
            <a:endParaRPr lang="en-US" sz="1200" dirty="0"/>
          </a:p>
        </p:txBody>
      </p:sp>
    </p:spTree>
    <p:extLst>
      <p:ext uri="{BB962C8B-B14F-4D97-AF65-F5344CB8AC3E}">
        <p14:creationId xmlns:p14="http://schemas.microsoft.com/office/powerpoint/2010/main" val="9488657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Reading notes</a:t>
            </a:r>
            <a:endParaRPr lang="en-US" sz="3000" dirty="0"/>
          </a:p>
        </p:txBody>
      </p:sp>
      <p:sp>
        <p:nvSpPr>
          <p:cNvPr id="3" name="Reading note 1 badge"/>
          <p:cNvSpPr/>
          <p:nvPr/>
        </p:nvSpPr>
        <p:spPr>
          <a:xfrm>
            <a:off x="640080" y="144475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4" name="Reading note 1 number"/>
          <p:cNvSpPr txBox="1"/>
          <p:nvPr/>
        </p:nvSpPr>
        <p:spPr>
          <a:xfrm>
            <a:off x="640080" y="144475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Reading note 1 text"/>
          <p:cNvSpPr txBox="1"/>
          <p:nvPr/>
        </p:nvSpPr>
        <p:spPr>
          <a:xfrm>
            <a:off x="1097280" y="1417320"/>
            <a:ext cx="3429000" cy="566928"/>
          </a:xfrm>
          <a:prstGeom prst="rect">
            <a:avLst/>
          </a:prstGeom>
          <a:noFill/>
          <a:ln/>
        </p:spPr>
        <p:txBody>
          <a:bodyPr wrap="square" lIns="0" tIns="0" rIns="0" bIns="0" rtlCol="0" anchor="t"/>
          <a:lstStyle/>
          <a:p>
            <a:pPr marL="0" indent="0">
              <a:buNone/>
            </a:pPr>
            <a:r>
              <a:rPr lang="en-US" sz="1400" b="1" dirty="0">
                <a:solidFill>
                  <a:schemeClr val="tx1"/>
                </a:solidFill>
              </a:rPr>
              <a:t>Unweighted averages</a:t>
            </a:r>
            <a:endParaRPr lang="en-US" sz="1400" dirty="0"/>
          </a:p>
          <a:p>
            <a:pPr marL="0" indent="0">
              <a:buNone/>
            </a:pPr>
            <a:r>
              <a:rPr lang="en-US" sz="1200" dirty="0">
                <a:solidFill>
                  <a:schemeClr val="accent2"/>
                </a:solidFill>
              </a:rPr>
              <a:t>Group values give the same weight to small and large countries</a:t>
            </a:r>
            <a:endParaRPr lang="en-US" sz="1400" dirty="0"/>
          </a:p>
        </p:txBody>
      </p:sp>
      <p:sp>
        <p:nvSpPr>
          <p:cNvPr id="6" name="Reading note 2 badge"/>
          <p:cNvSpPr/>
          <p:nvPr/>
        </p:nvSpPr>
        <p:spPr>
          <a:xfrm>
            <a:off x="640080" y="231343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7" name="Reading note 2 number"/>
          <p:cNvSpPr txBox="1"/>
          <p:nvPr/>
        </p:nvSpPr>
        <p:spPr>
          <a:xfrm>
            <a:off x="640080" y="231343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8" name="Reading note 2 text"/>
          <p:cNvSpPr txBox="1"/>
          <p:nvPr/>
        </p:nvSpPr>
        <p:spPr>
          <a:xfrm>
            <a:off x="1097280" y="2286000"/>
            <a:ext cx="3429000" cy="566928"/>
          </a:xfrm>
          <a:prstGeom prst="rect">
            <a:avLst/>
          </a:prstGeom>
          <a:noFill/>
          <a:ln/>
        </p:spPr>
        <p:txBody>
          <a:bodyPr wrap="square" lIns="0" tIns="0" rIns="0" bIns="0" rtlCol="0" anchor="t"/>
          <a:lstStyle/>
          <a:p>
            <a:pPr marL="0" indent="0">
              <a:buNone/>
            </a:pPr>
            <a:r>
              <a:rPr lang="en-US" sz="1400" b="1" dirty="0">
                <a:solidFill>
                  <a:schemeClr val="tx1"/>
                </a:solidFill>
              </a:rPr>
              <a:t>Partial decades</a:t>
            </a:r>
            <a:endParaRPr lang="en-US" sz="1400" dirty="0"/>
          </a:p>
          <a:p>
            <a:pPr marL="0" indent="0">
              <a:buNone/>
            </a:pPr>
            <a:r>
              <a:rPr lang="en-US" sz="1200" dirty="0">
                <a:solidFill>
                  <a:schemeClr val="accent2"/>
                </a:solidFill>
              </a:rPr>
              <a:t>Decades with gaps or partial years average fewer values</a:t>
            </a:r>
            <a:endParaRPr lang="en-US" sz="1400" dirty="0"/>
          </a:p>
        </p:txBody>
      </p:sp>
      <p:sp>
        <p:nvSpPr>
          <p:cNvPr id="9" name="Reading note 3 badge"/>
          <p:cNvSpPr/>
          <p:nvPr/>
        </p:nvSpPr>
        <p:spPr>
          <a:xfrm>
            <a:off x="640080" y="318211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10" name="Reading note 3 number"/>
          <p:cNvSpPr txBox="1"/>
          <p:nvPr/>
        </p:nvSpPr>
        <p:spPr>
          <a:xfrm>
            <a:off x="640080" y="318211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Reading note 3 text"/>
          <p:cNvSpPr txBox="1"/>
          <p:nvPr/>
        </p:nvSpPr>
        <p:spPr>
          <a:xfrm>
            <a:off x="1097280" y="3154680"/>
            <a:ext cx="3429000" cy="566928"/>
          </a:xfrm>
          <a:prstGeom prst="rect">
            <a:avLst/>
          </a:prstGeom>
          <a:noFill/>
          <a:ln/>
        </p:spPr>
        <p:txBody>
          <a:bodyPr wrap="square" lIns="0" tIns="0" rIns="0" bIns="0" rtlCol="0" anchor="t"/>
          <a:lstStyle/>
          <a:p>
            <a:pPr marL="0" indent="0">
              <a:buNone/>
            </a:pPr>
            <a:r>
              <a:rPr lang="en-US" sz="1400" b="1" dirty="0">
                <a:solidFill>
                  <a:schemeClr val="tx1"/>
                </a:solidFill>
              </a:rPr>
              <a:t>Secondary level</a:t>
            </a:r>
            <a:endParaRPr lang="en-US" sz="1400" dirty="0"/>
          </a:p>
          <a:p>
            <a:pPr marL="0" indent="0">
              <a:buNone/>
            </a:pPr>
            <a:r>
              <a:rPr lang="en-US" sz="1200" dirty="0">
                <a:solidFill>
                  <a:schemeClr val="accent2"/>
                </a:solidFill>
              </a:rPr>
              <a:t>Industry and manufacturing overlap; compare at Sector level</a:t>
            </a:r>
            <a:endParaRPr lang="en-US" sz="1400" dirty="0"/>
          </a:p>
        </p:txBody>
      </p:sp>
      <p:sp>
        <p:nvSpPr>
          <p:cNvPr id="12" name="Reading note 4 badge"/>
          <p:cNvSpPr/>
          <p:nvPr/>
        </p:nvSpPr>
        <p:spPr>
          <a:xfrm>
            <a:off x="640080" y="405079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13" name="Reading note 4 number"/>
          <p:cNvSpPr txBox="1"/>
          <p:nvPr/>
        </p:nvSpPr>
        <p:spPr>
          <a:xfrm>
            <a:off x="640080" y="405079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4" name="Reading note 4 text"/>
          <p:cNvSpPr txBox="1"/>
          <p:nvPr/>
        </p:nvSpPr>
        <p:spPr>
          <a:xfrm>
            <a:off x="1097280" y="4023360"/>
            <a:ext cx="3429000" cy="566928"/>
          </a:xfrm>
          <a:prstGeom prst="rect">
            <a:avLst/>
          </a:prstGeom>
          <a:noFill/>
          <a:ln/>
        </p:spPr>
        <p:txBody>
          <a:bodyPr wrap="square" lIns="0" tIns="0" rIns="0" bIns="0" rtlCol="0" anchor="t"/>
          <a:lstStyle/>
          <a:p>
            <a:pPr marL="0" indent="0">
              <a:buNone/>
            </a:pPr>
            <a:r>
              <a:rPr lang="en-US" sz="1400" b="1" dirty="0">
                <a:solidFill>
                  <a:schemeClr val="tx1"/>
                </a:solidFill>
              </a:rPr>
              <a:t>Different units</a:t>
            </a:r>
            <a:endParaRPr lang="en-US" sz="1400" dirty="0"/>
          </a:p>
          <a:p>
            <a:pPr marL="0" indent="0">
              <a:buNone/>
            </a:pPr>
            <a:r>
              <a:rPr lang="en-US" sz="1200" dirty="0">
                <a:solidFill>
                  <a:schemeClr val="accent2"/>
                </a:solidFill>
              </a:rPr>
              <a:t>GDP p.c. in 2011 int. $; GNI p.c. in current US$</a:t>
            </a:r>
            <a:endParaRPr lang="en-US" sz="1400" dirty="0"/>
          </a:p>
        </p:txBody>
      </p:sp>
      <p:sp>
        <p:nvSpPr>
          <p:cNvPr id="15" name="Reading note 5 badge"/>
          <p:cNvSpPr/>
          <p:nvPr/>
        </p:nvSpPr>
        <p:spPr>
          <a:xfrm>
            <a:off x="640080" y="4919472"/>
            <a:ext cx="347472" cy="347472"/>
          </a:xfrm>
          <a:prstGeom prst="ellipse">
            <a:avLst/>
          </a:prstGeom>
          <a:solidFill>
            <a:schemeClr val="accent1"/>
          </a:solidFill>
          <a:ln w="12700">
            <a:solidFill>
              <a:schemeClr val="accent1"/>
            </a:solidFill>
            <a:prstDash val="solid"/>
          </a:ln>
        </p:spPr>
        <p:txBody>
          <a:bodyPr/>
          <a:lstStyle/>
          <a:p>
            <a:endParaRPr lang="pt-PT"/>
          </a:p>
        </p:txBody>
      </p:sp>
      <p:sp>
        <p:nvSpPr>
          <p:cNvPr id="16" name="Reading note 5 number"/>
          <p:cNvSpPr txBox="1"/>
          <p:nvPr/>
        </p:nvSpPr>
        <p:spPr>
          <a:xfrm>
            <a:off x="640080" y="4919472"/>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7" name="Reading note 5 text"/>
          <p:cNvSpPr txBox="1"/>
          <p:nvPr/>
        </p:nvSpPr>
        <p:spPr>
          <a:xfrm>
            <a:off x="1097280" y="4892040"/>
            <a:ext cx="3429000" cy="566928"/>
          </a:xfrm>
          <a:prstGeom prst="rect">
            <a:avLst/>
          </a:prstGeom>
          <a:noFill/>
          <a:ln/>
        </p:spPr>
        <p:txBody>
          <a:bodyPr wrap="square" lIns="0" tIns="0" rIns="0" bIns="0" rtlCol="0" anchor="t"/>
          <a:lstStyle/>
          <a:p>
            <a:pPr marL="0" indent="0">
              <a:buNone/>
            </a:pPr>
            <a:r>
              <a:rPr lang="en-US" sz="1400" b="1" dirty="0">
                <a:solidFill>
                  <a:schemeClr val="tx1"/>
                </a:solidFill>
              </a:rPr>
              <a:t>Timing is not causation</a:t>
            </a:r>
            <a:endParaRPr lang="en-US" sz="1400" dirty="0"/>
          </a:p>
          <a:p>
            <a:pPr marL="0" indent="0">
              <a:buNone/>
            </a:pPr>
            <a:r>
              <a:rPr lang="en-US" sz="1200" dirty="0">
                <a:solidFill>
                  <a:schemeClr val="accent2"/>
                </a:solidFill>
              </a:rPr>
              <a:t>Events are linked to patterns by timing, not by measured effects</a:t>
            </a:r>
            <a:endParaRPr lang="en-US" sz="1400" dirty="0"/>
          </a:p>
        </p:txBody>
      </p:sp>
      <p:sp>
        <p:nvSpPr>
          <p:cNvPr id="18" name="Reading file note"/>
          <p:cNvSpPr/>
          <p:nvPr/>
        </p:nvSpPr>
        <p:spPr>
          <a:xfrm>
            <a:off x="457200" y="5715000"/>
            <a:ext cx="8229600" cy="411480"/>
          </a:xfrm>
          <a:prstGeom prst="rect">
            <a:avLst/>
          </a:prstGeom>
          <a:solidFill>
            <a:schemeClr val="bg2"/>
          </a:solidFill>
          <a:ln w="9525">
            <a:solidFill>
              <a:schemeClr val="accent3"/>
            </a:solidFill>
            <a:prstDash val="solid"/>
          </a:ln>
        </p:spPr>
        <p:txBody>
          <a:bodyPr/>
          <a:lstStyle/>
          <a:p>
            <a:endParaRPr lang="pt-PT"/>
          </a:p>
        </p:txBody>
      </p:sp>
      <p:sp>
        <p:nvSpPr>
          <p:cNvPr id="19" name="Reading file note text"/>
          <p:cNvSpPr txBox="1"/>
          <p:nvPr/>
        </p:nvSpPr>
        <p:spPr>
          <a:xfrm>
            <a:off x="548640" y="5715000"/>
            <a:ext cx="8046720" cy="411480"/>
          </a:xfrm>
          <a:prstGeom prst="rect">
            <a:avLst/>
          </a:prstGeom>
          <a:noFill/>
          <a:ln/>
        </p:spPr>
        <p:txBody>
          <a:bodyPr wrap="square" rtlCol="0" anchor="ctr"/>
          <a:lstStyle/>
          <a:p>
            <a:pPr marL="0" indent="0">
              <a:spcAft>
                <a:spcPts val="400"/>
              </a:spcAft>
              <a:buNone/>
            </a:pPr>
            <a:r>
              <a:rPr lang="en-US" sz="1200" dirty="0">
                <a:solidFill>
                  <a:schemeClr val="tx1"/>
                </a:solidFill>
              </a:rPr>
              <a:t>Full explanation: task_05/events_explanation.pdf</a:t>
            </a:r>
            <a:endParaRPr lang="en-US" sz="1200" dirty="0"/>
          </a:p>
        </p:txBody>
      </p:sp>
    </p:spTree>
    <p:extLst>
      <p:ext uri="{BB962C8B-B14F-4D97-AF65-F5344CB8AC3E}">
        <p14:creationId xmlns:p14="http://schemas.microsoft.com/office/powerpoint/2010/main" val="32868239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685800" y="2377440"/>
            <a:ext cx="7772400" cy="1188720"/>
          </a:xfrm>
          <a:prstGeom prst="rect">
            <a:avLst/>
          </a:prstGeom>
          <a:noFill/>
          <a:ln/>
        </p:spPr>
        <p:txBody>
          <a:bodyPr wrap="square" lIns="0" tIns="0" rIns="0" bIns="0" rtlCol="0" anchor="ctr"/>
          <a:lstStyle/>
          <a:p>
            <a:pPr marL="0" indent="0" algn="ctr">
              <a:buNone/>
            </a:pPr>
            <a:r>
              <a:rPr lang="en-US" sz="4400" b="1" dirty="0">
                <a:solidFill>
                  <a:schemeClr val="accent1"/>
                </a:solidFill>
              </a:rPr>
              <a:t>Task 6 – MDX Queries</a:t>
            </a:r>
            <a:endParaRPr lang="en-US" sz="4400" dirty="0"/>
          </a:p>
        </p:txBody>
      </p:sp>
      <p:sp>
        <p:nvSpPr>
          <p:cNvPr id="3" name="Text 0"/>
          <p:cNvSpPr>
            <a:spLocks noGrp="1"/>
          </p:cNvSpPr>
          <p:nvPr>
            <p:ph type="body" idx="102" hasCustomPrompt="1"/>
          </p:nvPr>
        </p:nvSpPr>
        <p:spPr>
          <a:xfrm>
            <a:off x="685800" y="3657600"/>
            <a:ext cx="7772400" cy="731520"/>
          </a:xfrm>
          <a:prstGeom prst="rect">
            <a:avLst/>
          </a:prstGeom>
          <a:noFill/>
          <a:ln/>
        </p:spPr>
        <p:txBody>
          <a:bodyPr wrap="square" lIns="0" tIns="0" rIns="0" bIns="0" rtlCol="0" anchor="t"/>
          <a:lstStyle/>
          <a:p>
            <a:pPr marL="0" indent="0" algn="ctr">
              <a:buNone/>
            </a:pPr>
            <a:r>
              <a:rPr lang="en-US" sz="1800" dirty="0">
                <a:solidFill>
                  <a:schemeClr val="accent2"/>
                </a:solidFill>
              </a:rPr>
              <a:t>Calculated members, tuples and hierarchy functions</a:t>
            </a:r>
            <a:endParaRPr lang="en-US" sz="1800" dirty="0"/>
          </a:p>
        </p:txBody>
      </p:sp>
    </p:spTree>
    <p:extLst>
      <p:ext uri="{BB962C8B-B14F-4D97-AF65-F5344CB8AC3E}">
        <p14:creationId xmlns:p14="http://schemas.microsoft.com/office/powerpoint/2010/main" val="32701793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Query 1 – Portugal vs Spain</a:t>
            </a:r>
            <a:endParaRPr lang="en-US" sz="3000" dirty="0"/>
          </a:p>
        </p:txBody>
      </p:sp>
      <p:sp>
        <p:nvSpPr>
          <p:cNvPr id="3" name="Code: query 1"/>
          <p:cNvSpPr/>
          <p:nvPr/>
        </p:nvSpPr>
        <p:spPr>
          <a:xfrm>
            <a:off x="457200" y="1280160"/>
            <a:ext cx="4846320" cy="3200400"/>
          </a:xfrm>
          <a:prstGeom prst="rect">
            <a:avLst/>
          </a:prstGeom>
          <a:solidFill>
            <a:schemeClr val="bg2"/>
          </a:solidFill>
          <a:ln w="9525">
            <a:solidFill>
              <a:schemeClr val="accent3"/>
            </a:solidFill>
            <a:prstDash val="solid"/>
          </a:ln>
        </p:spPr>
        <p:txBody>
          <a:bodyPr/>
          <a:lstStyle/>
          <a:p>
            <a:endParaRPr lang="pt-PT"/>
          </a:p>
        </p:txBody>
      </p:sp>
      <p:sp>
        <p:nvSpPr>
          <p:cNvPr id="4" name="Code: query 1 text"/>
          <p:cNvSpPr txBox="1"/>
          <p:nvPr/>
        </p:nvSpPr>
        <p:spPr>
          <a:xfrm>
            <a:off x="548640" y="1325880"/>
            <a:ext cx="4663440" cy="3108960"/>
          </a:xfrm>
          <a:prstGeom prst="rect">
            <a:avLst/>
          </a:prstGeom>
          <a:noFill/>
          <a:ln/>
        </p:spPr>
        <p:txBody>
          <a:bodyPr wrap="square" rtlCol="0" anchor="ctr"/>
          <a:lstStyle/>
          <a:p>
            <a:pPr marL="0" indent="0">
              <a:buNone/>
            </a:pPr>
            <a:r>
              <a:rPr lang="en-US" sz="900" dirty="0">
                <a:solidFill>
                  <a:schemeClr val="tx1"/>
                </a:solidFill>
                <a:latin typeface="Courier New" pitchFamily="34" charset="0"/>
                <a:ea typeface="Courier New" pitchFamily="34" charset="-122"/>
                <a:cs typeface="Courier New" pitchFamily="34" charset="-120"/>
              </a:rPr>
              <a:t>WITH</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MEMBER [Measures].[PT GDP per capita] AS</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([Measures].[GDP per capita],</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[Country].[Country Hierarchy].[Country].[Portugal])</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MEMBER [Measures].[ES GDP per capita] AS</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([Measures].[GDP per capita],</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[Country].[Country Hierarchy].[Country].[Spain])</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MEMBER [Measures].[PT to ES ratio] AS</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[Measures].[PT GDP per capita] /</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[Measures].[ES GDP per capita],</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FORMAT_STRING = '0.0%'</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SELECT {[Measures].[PT GDP per capita],</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[Measures].[ES GDP per capita],</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[Measures].[PT to ES ratio]} ON COLUMNS,</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{[Time].[Time Hierarchy].[Decade].[1960] :</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[Time].[Time Hierarchy].[Decade].[2020]} ON ROWS</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FROM [Economy]</a:t>
            </a:r>
            <a:endParaRPr lang="en-US" sz="900" dirty="0"/>
          </a:p>
        </p:txBody>
      </p:sp>
      <p:sp>
        <p:nvSpPr>
          <p:cNvPr id="5" name="Screenshot: query 1 result"/>
          <p:cNvSpPr/>
          <p:nvPr/>
        </p:nvSpPr>
        <p:spPr>
          <a:xfrm>
            <a:off x="5486400" y="1280160"/>
            <a:ext cx="3200400" cy="3200400"/>
          </a:xfrm>
          <a:prstGeom prst="rect">
            <a:avLst/>
          </a:prstGeom>
          <a:solidFill>
            <a:schemeClr val="bg2"/>
          </a:solidFill>
          <a:ln w="12700">
            <a:solidFill>
              <a:schemeClr val="accent1"/>
            </a:solidFill>
            <a:prstDash val="dash"/>
          </a:ln>
        </p:spPr>
        <p:txBody>
          <a:bodyPr/>
          <a:lstStyle/>
          <a:p>
            <a:endParaRPr lang="pt-PT"/>
          </a:p>
        </p:txBody>
      </p:sp>
      <p:sp>
        <p:nvSpPr>
          <p:cNvPr id="6" name="Screenshot: query 1 result label"/>
          <p:cNvSpPr txBox="1"/>
          <p:nvPr/>
        </p:nvSpPr>
        <p:spPr>
          <a:xfrm>
            <a:off x="5669280" y="1280160"/>
            <a:ext cx="2834640" cy="320040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result of query 1</a:t>
            </a:r>
            <a:endParaRPr lang="en-US" sz="1400" dirty="0"/>
          </a:p>
        </p:txBody>
      </p:sp>
      <p:graphicFrame>
        <p:nvGraphicFramePr>
          <p:cNvPr id="14" name="Q1 table"/>
          <p:cNvGraphicFramePr>
            <a:graphicFrameLocks noGrp="1"/>
          </p:cNvGraphicFramePr>
          <p:nvPr>
            <p:extLst>
              <p:ext uri="{D42A27DB-BD31-4B8C-83A1-F6EECF244321}">
                <p14:modId xmlns:p14="http://schemas.microsoft.com/office/powerpoint/2010/main" val="1579011935"/>
              </p:ext>
            </p:extLst>
          </p:nvPr>
        </p:nvGraphicFramePr>
        <p:xfrm>
          <a:off x="457200" y="4617720"/>
          <a:ext cx="2926080" cy="1588008"/>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46888">
                <a:tc>
                  <a:txBody>
                    <a:bodyPr/>
                    <a:lstStyle/>
                    <a:p>
                      <a:pPr marL="0" indent="0">
                        <a:buNone/>
                      </a:pPr>
                      <a:r>
                        <a:rPr lang="en-US" sz="1300" b="1" dirty="0">
                          <a:solidFill>
                            <a:schemeClr val="bg1"/>
                          </a:solidFill>
                        </a:rPr>
                        <a:t>Decade</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PT / ES</a:t>
                      </a:r>
                      <a:endParaRPr lang="en-US" sz="13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46888">
                <a:tc>
                  <a:txBody>
                    <a:bodyPr/>
                    <a:lstStyle/>
                    <a:p>
                      <a:pPr marL="0" indent="0">
                        <a:buNone/>
                      </a:pPr>
                      <a:r>
                        <a:rPr lang="en-US" sz="1200" b="1" dirty="0">
                          <a:solidFill>
                            <a:schemeClr val="accent1"/>
                          </a:solidFill>
                        </a:rPr>
                        <a:t>1960s</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87.0%</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buNone/>
                      </a:pPr>
                      <a:r>
                        <a:rPr lang="en-US" sz="1200" b="1" dirty="0">
                          <a:solidFill>
                            <a:schemeClr val="accent1"/>
                          </a:solidFill>
                        </a:rPr>
                        <a:t>1980s</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91.2%</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buNone/>
                      </a:pPr>
                      <a:r>
                        <a:rPr lang="en-US" sz="1200" b="1" dirty="0">
                          <a:solidFill>
                            <a:schemeClr val="accent1"/>
                          </a:solidFill>
                        </a:rPr>
                        <a:t>2000s</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80.4%</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246888">
                <a:tc>
                  <a:txBody>
                    <a:bodyPr/>
                    <a:lstStyle/>
                    <a:p>
                      <a:pPr marL="0" indent="0">
                        <a:buNone/>
                      </a:pPr>
                      <a:r>
                        <a:rPr lang="en-US" sz="1200" b="1" dirty="0">
                          <a:solidFill>
                            <a:schemeClr val="accent1"/>
                          </a:solidFill>
                        </a:rPr>
                        <a:t>2010s</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79.0%</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buNone/>
                      </a:pPr>
                      <a:r>
                        <a:rPr lang="en-US" sz="1200" b="1" dirty="0">
                          <a:solidFill>
                            <a:schemeClr val="accent1"/>
                          </a:solidFill>
                        </a:rPr>
                        <a:t>2020s</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83.9%</a:t>
                      </a:r>
                      <a:endParaRPr lang="en-US" sz="1200" dirty="0"/>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Q1 note"/>
          <p:cNvSpPr/>
          <p:nvPr/>
        </p:nvSpPr>
        <p:spPr>
          <a:xfrm>
            <a:off x="3566160" y="4617720"/>
            <a:ext cx="5120640" cy="1508760"/>
          </a:xfrm>
          <a:prstGeom prst="rect">
            <a:avLst/>
          </a:prstGeom>
          <a:solidFill>
            <a:schemeClr val="bg2"/>
          </a:solidFill>
          <a:ln w="9525">
            <a:solidFill>
              <a:schemeClr val="accent3"/>
            </a:solidFill>
            <a:prstDash val="solid"/>
          </a:ln>
        </p:spPr>
        <p:txBody>
          <a:bodyPr/>
          <a:lstStyle/>
          <a:p>
            <a:endParaRPr lang="pt-PT"/>
          </a:p>
        </p:txBody>
      </p:sp>
      <p:sp>
        <p:nvSpPr>
          <p:cNvPr id="9" name="Q1 note text"/>
          <p:cNvSpPr txBox="1"/>
          <p:nvPr/>
        </p:nvSpPr>
        <p:spPr>
          <a:xfrm>
            <a:off x="3657600" y="4617720"/>
            <a:ext cx="4937760" cy="1508760"/>
          </a:xfrm>
          <a:prstGeom prst="rect">
            <a:avLst/>
          </a:prstGeom>
          <a:noFill/>
          <a:ln/>
        </p:spPr>
        <p:txBody>
          <a:bodyPr wrap="square" rtlCol="0" anchor="ctr"/>
          <a:lstStyle/>
          <a:p>
            <a:pPr marL="0" indent="0">
              <a:spcAft>
                <a:spcPts val="400"/>
              </a:spcAft>
              <a:buNone/>
            </a:pPr>
            <a:r>
              <a:rPr lang="en-US" sz="1200" dirty="0">
                <a:solidFill>
                  <a:schemeClr val="tx1"/>
                </a:solidFill>
              </a:rPr>
              <a:t>Calculated members built from tuples (measure, country); Decade level of the time hierarchy</a:t>
            </a:r>
            <a:endParaRPr lang="en-US" sz="1200" dirty="0"/>
          </a:p>
          <a:p>
            <a:pPr marL="0" indent="0">
              <a:spcAft>
                <a:spcPts val="400"/>
              </a:spcAft>
              <a:buNone/>
            </a:pPr>
            <a:r>
              <a:rPr lang="en-US" sz="1200" dirty="0">
                <a:solidFill>
                  <a:schemeClr val="tx1"/>
                </a:solidFill>
              </a:rPr>
              <a:t>Portugal converged with Spain until the 1980s (87% → 91%) and diverged after 2000 (79% in the 2010s)</a:t>
            </a:r>
            <a:endParaRPr lang="en-US" sz="1200" dirty="0"/>
          </a:p>
        </p:txBody>
      </p:sp>
    </p:spTree>
    <p:extLst>
      <p:ext uri="{BB962C8B-B14F-4D97-AF65-F5344CB8AC3E}">
        <p14:creationId xmlns:p14="http://schemas.microsoft.com/office/powerpoint/2010/main" val="32265907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457200" y="274320"/>
            <a:ext cx="8229600" cy="868680"/>
          </a:xfrm>
          <a:prstGeom prst="rect">
            <a:avLst/>
          </a:prstGeom>
          <a:noFill/>
          <a:ln/>
        </p:spPr>
        <p:txBody>
          <a:bodyPr wrap="square" lIns="0" tIns="0" rIns="0" bIns="0" rtlCol="0" anchor="ctr"/>
          <a:lstStyle/>
          <a:p>
            <a:pPr marL="0" indent="0" algn="ctr">
              <a:buNone/>
            </a:pPr>
            <a:r>
              <a:rPr lang="en-US" sz="3000" b="1" dirty="0">
                <a:solidFill>
                  <a:schemeClr val="accent1"/>
                </a:solidFill>
              </a:rPr>
              <a:t>Query 2 – sectors in 1995 and 2020</a:t>
            </a:r>
            <a:endParaRPr lang="en-US" sz="3000" dirty="0"/>
          </a:p>
        </p:txBody>
      </p:sp>
      <p:sp>
        <p:nvSpPr>
          <p:cNvPr id="3" name="Code: query 2"/>
          <p:cNvSpPr/>
          <p:nvPr/>
        </p:nvSpPr>
        <p:spPr>
          <a:xfrm>
            <a:off x="457200" y="1280160"/>
            <a:ext cx="4846320" cy="2468880"/>
          </a:xfrm>
          <a:prstGeom prst="rect">
            <a:avLst/>
          </a:prstGeom>
          <a:solidFill>
            <a:schemeClr val="bg2"/>
          </a:solidFill>
          <a:ln w="9525">
            <a:solidFill>
              <a:schemeClr val="accent3"/>
            </a:solidFill>
            <a:prstDash val="solid"/>
          </a:ln>
        </p:spPr>
        <p:txBody>
          <a:bodyPr/>
          <a:lstStyle/>
          <a:p>
            <a:endParaRPr lang="pt-PT"/>
          </a:p>
        </p:txBody>
      </p:sp>
      <p:sp>
        <p:nvSpPr>
          <p:cNvPr id="4" name="Code: query 2 text"/>
          <p:cNvSpPr txBox="1"/>
          <p:nvPr/>
        </p:nvSpPr>
        <p:spPr>
          <a:xfrm>
            <a:off x="548640" y="1325880"/>
            <a:ext cx="4663440" cy="2377440"/>
          </a:xfrm>
          <a:prstGeom prst="rect">
            <a:avLst/>
          </a:prstGeom>
          <a:noFill/>
          <a:ln/>
        </p:spPr>
        <p:txBody>
          <a:bodyPr wrap="square" rtlCol="0" anchor="ctr"/>
          <a:lstStyle/>
          <a:p>
            <a:pPr marL="0" indent="0">
              <a:buNone/>
            </a:pPr>
            <a:r>
              <a:rPr lang="en-US" sz="900" dirty="0">
                <a:solidFill>
                  <a:schemeClr val="tx1"/>
                </a:solidFill>
                <a:latin typeface="Courier New" pitchFamily="34" charset="0"/>
                <a:ea typeface="Courier New" pitchFamily="34" charset="-122"/>
                <a:cs typeface="Courier New" pitchFamily="34" charset="-120"/>
              </a:rPr>
              <a:t>SELECT</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{[Time].[Time Hierarchy].[1990].[1995],</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[Time].[Time Hierarchy].[2020].[2020]} ON COLUMNS,</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Descendants([Sector].[Sector Hierarchy].DefaultMember,</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[Sector].[Sector Hierarchy].[Broad Sector],</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SELF_AND_AFTER) ON ROWS</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FROM [Sector]</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WHERE ([Measures].[Value added pct GDP],</a:t>
            </a:r>
            <a:endParaRPr lang="en-US" sz="900" dirty="0"/>
          </a:p>
          <a:p>
            <a:pPr marL="0" indent="0">
              <a:buNone/>
            </a:pPr>
            <a:r>
              <a:rPr lang="en-US" sz="900" dirty="0">
                <a:solidFill>
                  <a:schemeClr val="tx1"/>
                </a:solidFill>
                <a:latin typeface="Courier New" pitchFamily="34" charset="0"/>
                <a:ea typeface="Courier New" pitchFamily="34" charset="-122"/>
                <a:cs typeface="Courier New" pitchFamily="34" charset="-120"/>
              </a:rPr>
              <a:t>       [Country].[Country Hierarchy].[Country].[Portugal])</a:t>
            </a:r>
            <a:endParaRPr lang="en-US" sz="900" dirty="0"/>
          </a:p>
        </p:txBody>
      </p:sp>
      <p:sp>
        <p:nvSpPr>
          <p:cNvPr id="5" name="Screenshot: query 2 result"/>
          <p:cNvSpPr/>
          <p:nvPr/>
        </p:nvSpPr>
        <p:spPr>
          <a:xfrm>
            <a:off x="5486400" y="1280160"/>
            <a:ext cx="3200400" cy="2468880"/>
          </a:xfrm>
          <a:prstGeom prst="rect">
            <a:avLst/>
          </a:prstGeom>
          <a:solidFill>
            <a:schemeClr val="bg2"/>
          </a:solidFill>
          <a:ln w="12700">
            <a:solidFill>
              <a:schemeClr val="accent1"/>
            </a:solidFill>
            <a:prstDash val="dash"/>
          </a:ln>
        </p:spPr>
        <p:txBody>
          <a:bodyPr/>
          <a:lstStyle/>
          <a:p>
            <a:endParaRPr lang="pt-PT"/>
          </a:p>
        </p:txBody>
      </p:sp>
      <p:sp>
        <p:nvSpPr>
          <p:cNvPr id="6" name="Screenshot: query 2 result label"/>
          <p:cNvSpPr txBox="1"/>
          <p:nvPr/>
        </p:nvSpPr>
        <p:spPr>
          <a:xfrm>
            <a:off x="5669280" y="1280160"/>
            <a:ext cx="2834640" cy="2468880"/>
          </a:xfrm>
          <a:prstGeom prst="rect">
            <a:avLst/>
          </a:prstGeom>
          <a:noFill/>
          <a:ln/>
        </p:spPr>
        <p:txBody>
          <a:bodyPr wrap="square" rtlCol="0" anchor="ctr"/>
          <a:lstStyle/>
          <a:p>
            <a:pPr marL="0" indent="0" algn="ctr">
              <a:buNone/>
            </a:pPr>
            <a:r>
              <a:rPr lang="en-US" sz="1400" b="1" dirty="0">
                <a:solidFill>
                  <a:schemeClr val="accent1"/>
                </a:solidFill>
              </a:rPr>
              <a:t>Screenshot</a:t>
            </a:r>
            <a:endParaRPr lang="en-US" sz="1400" dirty="0"/>
          </a:p>
          <a:p>
            <a:pPr marL="0" indent="0" algn="ctr">
              <a:buNone/>
            </a:pPr>
            <a:r>
              <a:rPr lang="en-US" sz="1200" dirty="0">
                <a:solidFill>
                  <a:schemeClr val="accent2"/>
                </a:solidFill>
              </a:rPr>
              <a:t>Saiku result of query 2</a:t>
            </a:r>
            <a:endParaRPr lang="en-US" sz="1400" dirty="0"/>
          </a:p>
        </p:txBody>
      </p:sp>
      <p:graphicFrame>
        <p:nvGraphicFramePr>
          <p:cNvPr id="15" name="Q2 table"/>
          <p:cNvGraphicFramePr>
            <a:graphicFrameLocks noGrp="1"/>
          </p:cNvGraphicFramePr>
          <p:nvPr>
            <p:extLst>
              <p:ext uri="{D42A27DB-BD31-4B8C-83A1-F6EECF244321}">
                <p14:modId xmlns:p14="http://schemas.microsoft.com/office/powerpoint/2010/main" val="1579011935"/>
              </p:ext>
            </p:extLst>
          </p:nvPr>
        </p:nvGraphicFramePr>
        <p:xfrm>
          <a:off x="457200" y="3931920"/>
          <a:ext cx="3657600" cy="1645920"/>
        </p:xfrm>
        <a:graphic>
          <a:graphicData uri="http://schemas.openxmlformats.org/drawingml/2006/table">
            <a:tbl>
              <a:tblPr/>
              <a:tblGrid>
                <a:gridCol w="18288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29184">
                <a:tc>
                  <a:txBody>
                    <a:bodyPr/>
                    <a:lstStyle/>
                    <a:p>
                      <a:pPr marL="0" indent="0">
                        <a:buNone/>
                      </a:pPr>
                      <a:r>
                        <a:rPr lang="en-US" sz="1300" b="1" dirty="0">
                          <a:solidFill>
                            <a:schemeClr val="bg1"/>
                          </a:solidFill>
                        </a:rPr>
                        <a:t>Sector</a:t>
                      </a:r>
                      <a:endParaRPr lang="en-US" sz="1300" dirty="0"/>
                    </a:p>
                  </a:txBody>
                  <a:tcPr marL="54864" marR="54864"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1995</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tc>
                  <a:txBody>
                    <a:bodyPr/>
                    <a:lstStyle/>
                    <a:p>
                      <a:pPr marL="0" indent="0" algn="r">
                        <a:buNone/>
                      </a:pPr>
                      <a:r>
                        <a:rPr lang="en-US" sz="1300" b="1" dirty="0">
                          <a:solidFill>
                            <a:schemeClr val="bg1"/>
                          </a:solidFill>
                        </a:rPr>
                        <a:t>2020</a:t>
                      </a:r>
                      <a:endParaRPr lang="en-US" sz="13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chemeClr val="accent1"/>
                          </a:solidFill>
                        </a:rPr>
                        <a:t>Agriculture</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4.80</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2.14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200" b="1" dirty="0">
                          <a:solidFill>
                            <a:schemeClr val="accent1"/>
                          </a:solidFill>
                        </a:rPr>
                        <a:t>Industry</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24.81</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19.39</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200" b="1" dirty="0">
                          <a:solidFill>
                            <a:schemeClr val="accent1"/>
                          </a:solidFill>
                        </a:rPr>
                        <a:t>Manufacturing</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15.94</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12.09</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200" b="1" dirty="0">
                          <a:solidFill>
                            <a:schemeClr val="accent1"/>
                          </a:solidFill>
                        </a:rPr>
                        <a:t>Services</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58.51</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r">
                        <a:buNone/>
                      </a:pPr>
                      <a:r>
                        <a:rPr lang="en-US" sz="1200" dirty="0">
                          <a:solidFill>
                            <a:schemeClr val="tx1"/>
                          </a:solidFill>
                        </a:rPr>
                        <a:t>65.57</a:t>
                      </a:r>
                      <a:endParaRPr lang="en-US" sz="1200" dirty="0"/>
                    </a:p>
                  </a:txBody>
                  <a:tcPr marL="45720" marR="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Q2 note"/>
          <p:cNvSpPr/>
          <p:nvPr/>
        </p:nvSpPr>
        <p:spPr>
          <a:xfrm>
            <a:off x="4297680" y="3931920"/>
            <a:ext cx="4389120" cy="2194560"/>
          </a:xfrm>
          <a:prstGeom prst="rect">
            <a:avLst/>
          </a:prstGeom>
          <a:solidFill>
            <a:schemeClr val="bg2"/>
          </a:solidFill>
          <a:ln w="9525">
            <a:solidFill>
              <a:schemeClr val="accent3"/>
            </a:solidFill>
            <a:prstDash val="solid"/>
          </a:ln>
        </p:spPr>
        <p:txBody>
          <a:bodyPr/>
          <a:lstStyle/>
          <a:p>
            <a:endParaRPr lang="pt-PT"/>
          </a:p>
        </p:txBody>
      </p:sp>
      <p:sp>
        <p:nvSpPr>
          <p:cNvPr id="9" name="Q2 note text"/>
          <p:cNvSpPr txBox="1"/>
          <p:nvPr/>
        </p:nvSpPr>
        <p:spPr>
          <a:xfrm>
            <a:off x="4389120" y="3931920"/>
            <a:ext cx="4206240" cy="2194560"/>
          </a:xfrm>
          <a:prstGeom prst="rect">
            <a:avLst/>
          </a:prstGeom>
          <a:noFill/>
          <a:ln/>
        </p:spPr>
        <p:txBody>
          <a:bodyPr wrap="square" rtlCol="0" anchor="ctr"/>
          <a:lstStyle/>
          <a:p>
            <a:pPr marL="0" indent="0">
              <a:spcAft>
                <a:spcPts val="400"/>
              </a:spcAft>
              <a:buNone/>
            </a:pPr>
            <a:r>
              <a:rPr lang="en-US" sz="1200" dirty="0">
                <a:solidFill>
                  <a:schemeClr val="tx1"/>
                </a:solidFill>
              </a:rPr>
              <a:t>Descendants (SELF_AND_AFTER) returns each broad sector followed by its sectors</a:t>
            </a:r>
            <a:endParaRPr lang="en-US" sz="1200" dirty="0"/>
          </a:p>
          <a:p>
            <a:pPr marL="0" indent="0">
              <a:spcAft>
                <a:spcPts val="400"/>
              </a:spcAft>
              <a:buNone/>
            </a:pPr>
            <a:r>
              <a:rPr lang="en-US" sz="1200" dirty="0">
                <a:solidFill>
                  <a:schemeClr val="tx1"/>
                </a:solidFill>
              </a:rPr>
              <a:t>Each cell is the tuple (year, sector, value added, Portugal); the measure is in the slicer because this Saiku version does not render it cross-joined with years on the columns</a:t>
            </a:r>
            <a:endParaRPr lang="en-US" sz="1200" dirty="0"/>
          </a:p>
          <a:p>
            <a:pPr marL="0" indent="0">
              <a:spcAft>
                <a:spcPts val="400"/>
              </a:spcAft>
              <a:buNone/>
            </a:pPr>
            <a:r>
              <a:rPr lang="en-US" sz="1200" dirty="0">
                <a:solidFill>
                  <a:schemeClr val="tx1"/>
                </a:solidFill>
              </a:rPr>
              <a:t>Secondary = average of Industry and Manufacturing</a:t>
            </a:r>
            <a:endParaRPr lang="en-US" sz="1200" dirty="0"/>
          </a:p>
        </p:txBody>
      </p:sp>
    </p:spTree>
    <p:extLst>
      <p:ext uri="{BB962C8B-B14F-4D97-AF65-F5344CB8AC3E}">
        <p14:creationId xmlns:p14="http://schemas.microsoft.com/office/powerpoint/2010/main" val="2638528895"/>
      </p:ext>
    </p:extLst>
  </p:cSld>
  <p:clrMapOvr>
    <a:masterClrMapping/>
  </p:clrMapOvr>
</p:sld>
</file>

<file path=ppt/theme/theme1.xml><?xml version="1.0" encoding="utf-8"?>
<a:theme xmlns:a="http://schemas.openxmlformats.org/drawingml/2006/main" name="AID IST">
  <a:themeElements>
    <a:clrScheme name="AID IST">
      <a:dk1>
        <a:srgbClr val="262626"/>
      </a:dk1>
      <a:lt1>
        <a:srgbClr val="FFFFFF"/>
      </a:lt1>
      <a:dk2>
        <a:srgbClr val="0A6E94"/>
      </a:dk2>
      <a:lt2>
        <a:srgbClr val="F2F2F2"/>
      </a:lt2>
      <a:accent1>
        <a:srgbClr val="00A4D8"/>
      </a:accent1>
      <a:accent2>
        <a:srgbClr val="7F7F7F"/>
      </a:accent2>
      <a:accent3>
        <a:srgbClr val="D9D9D9"/>
      </a:accent3>
      <a:accent4>
        <a:srgbClr val="E8710A"/>
      </a:accent4>
      <a:accent5>
        <a:srgbClr val="2E9E5B"/>
      </a:accent5>
      <a:accent6>
        <a:srgbClr val="005A80"/>
      </a:accent6>
      <a:hlink>
        <a:srgbClr val="00A4D8"/>
      </a:hlink>
      <a:folHlink>
        <a:srgbClr val="7F7F7F"/>
      </a:folHlink>
    </a:clrScheme>
    <a:fontScheme name="AID IST">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843</TotalTime>
  <Words>3666</Words>
  <Application>Microsoft Macintosh PowerPoint</Application>
  <PresentationFormat>Apresentação no Ecrã (4:3)</PresentationFormat>
  <Paragraphs>672</Paragraphs>
  <Slides>44</Slides>
  <Notes>44</Notes>
  <HiddenSlides>0</HiddenSlides>
  <MMClips>0</MMClips>
  <ScaleCrop>false</ScaleCrop>
  <HeadingPairs>
    <vt:vector size="6" baseType="variant">
      <vt:variant>
        <vt:lpstr>Tipos de letra usados</vt:lpstr>
      </vt:variant>
      <vt:variant>
        <vt:i4>4</vt:i4>
      </vt:variant>
      <vt:variant>
        <vt:lpstr>Tema</vt:lpstr>
      </vt:variant>
      <vt:variant>
        <vt:i4>1</vt:i4>
      </vt:variant>
      <vt:variant>
        <vt:lpstr>Títulos dos diapositivos</vt:lpstr>
      </vt:variant>
      <vt:variant>
        <vt:i4>44</vt:i4>
      </vt:variant>
    </vt:vector>
  </HeadingPairs>
  <TitlesOfParts>
    <vt:vector size="49" baseType="lpstr">
      <vt:lpstr>Arial</vt:lpstr>
      <vt:lpstr>Calibri</vt:lpstr>
      <vt:lpstr>Courier New</vt:lpstr>
      <vt:lpstr>Wingdings</vt:lpstr>
      <vt:lpstr>AID IST</vt:lpstr>
      <vt:lpstr>Data Analysis and Integration</vt:lpstr>
      <vt:lpstr>Contents</vt:lpstr>
      <vt:lpstr>Task 1 – Staging and Data Profiling</vt:lpstr>
      <vt:lpstr>Staging schema with precise data types</vt:lpstr>
      <vt:lpstr>Load pipeline (one branch per source)</vt:lpstr>
      <vt:lpstr>Key transform configurations</vt:lpstr>
      <vt:lpstr>An unprotected comma</vt:lpstr>
      <vt:lpstr>All rows loaded into staging</vt:lpstr>
      <vt:lpstr>Profiling - six sections of queries (overview)</vt:lpstr>
      <vt:lpstr>Profiling (some queries)</vt:lpstr>
      <vt:lpstr>Data dictionaries</vt:lpstr>
      <vt:lpstr>Task 2 – Country-Code Reconciliation</vt:lpstr>
      <vt:lpstr>Reconciliation pipeline</vt:lpstr>
      <vt:lpstr>Key transform configurations</vt:lpstr>
      <vt:lpstr>After running the pipeline</vt:lpstr>
      <vt:lpstr>Unified country mapping</vt:lpstr>
      <vt:lpstr>Task 3 – Data Warehouse Design</vt:lpstr>
      <vt:lpstr>Star schema of the data warehouse</vt:lpstr>
      <vt:lpstr>Three fact tables, two grains</vt:lpstr>
      <vt:lpstr>Dimensions with surrogate keys</vt:lpstr>
      <vt:lpstr>Events integrated as a bridge table</vt:lpstr>
      <vt:lpstr>Task 4 – ETL Pipelines</vt:lpstr>
      <vt:lpstr>Load order and workflow</vt:lpstr>
      <vt:lpstr>Dimension pipelines</vt:lpstr>
      <vt:lpstr>Key configurations of the dimensions</vt:lpstr>
      <vt:lpstr>Events pipeline (BRIDGE_EVENT)</vt:lpstr>
      <vt:lpstr>Facts went from long to wide format</vt:lpstr>
      <vt:lpstr>FACT_ECONOMY and FACT_SOCIETY</vt:lpstr>
      <vt:lpstr>FACT_SECTOR pipeline</vt:lpstr>
      <vt:lpstr>Full reload from scratch</vt:lpstr>
      <vt:lpstr>Task 5 – OLAP Cube and Saiku</vt:lpstr>
      <vt:lpstr>Cube structure in Schema Workbench</vt:lpstr>
      <vt:lpstr>Schema XML (schema.xml)</vt:lpstr>
      <vt:lpstr>Saiku environment</vt:lpstr>
      <vt:lpstr>Analysis A – growth since 1900</vt:lpstr>
      <vt:lpstr>Analysis A – convergence by decade</vt:lpstr>
      <vt:lpstr>Analysis B – vs Western Europe</vt:lpstr>
      <vt:lpstr>Analysis B – vs Eastern Europe</vt:lpstr>
      <vt:lpstr>Analysis C – sector drill-down</vt:lpstr>
      <vt:lpstr>Analysis C – sectors by group</vt:lpstr>
      <vt:lpstr>Reading notes</vt:lpstr>
      <vt:lpstr>Task 6 – MDX Queries</vt:lpstr>
      <vt:lpstr>Query 1 – Portugal vs Spain</vt:lpstr>
      <vt:lpstr>Query 2 – sectors in 1995 and 2020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 2026/27 Project - Group 20</dc:title>
  <dc:subject>PptxGenJS Presentation</dc:subject>
  <dc:creator>Group 20</dc:creator>
  <cp:lastModifiedBy>Maximilian Xavier (ITS)</cp:lastModifiedBy>
  <cp:revision>49</cp:revision>
  <dcterms:created xsi:type="dcterms:W3CDTF">2026-10-13T17:35:57Z</dcterms:created>
  <dcterms:modified xsi:type="dcterms:W3CDTF">2026-10-20T18:50:50Z</dcterms:modified>
</cp:coreProperties>
</file>